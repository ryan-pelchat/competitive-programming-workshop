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Gill Sans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tociZlPapkxVxyGgeZVhaiLL1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GillSans-bold.fntdata"/><Relationship Id="rId27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45568222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845568222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845568222e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45568222e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845568222e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15" name="Google Shape;115;g3845568222e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36faffe8e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836faffe8e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30" name="Google Shape;130;g3836faffe8e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45568222e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845568222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Edge List </a:t>
            </a:r>
            <a:endParaRPr/>
          </a:p>
        </p:txBody>
      </p:sp>
      <p:sp>
        <p:nvSpPr>
          <p:cNvPr id="139" name="Google Shape;139;g3845568222e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45568222e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845568222e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46" name="Google Shape;146;g3845568222e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45568222e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845568222e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56" name="Google Shape;156;g3845568222e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45568222e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845568222e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66" name="Google Shape;166;g3845568222e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36faffe8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836faffe8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836faffe8e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36faffe8e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836faffe8e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82" name="Google Shape;182;g3836faffe8e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36faffe8e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836faffe8e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90" name="Google Shape;190;g3836faffe8e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36faffe8e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836faffe8e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99" name="Google Shape;199;g3836faffe8e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36faffe8e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836faffe8e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836faffe8e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45568222e_1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845568222e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13" name="Google Shape;213;g3845568222e_1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45568222e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845568222e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2" name="Google Shape;222;g3845568222e_1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45568222e_1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845568222e_1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31" name="Google Shape;231;g3845568222e_1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45568222e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845568222e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845568222e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16e0e644b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816e0e644b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3816e0e644b_0_1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7c4946a550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7c4946a550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7c4946a550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7e6225694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7e6225694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60" name="Google Shape;260;g37e6225694e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36faffe8e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836faffe8e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68" name="Google Shape;268;g3836faffe8e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2" type="body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3" type="body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4" type="body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1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14"/>
          <p:cNvSpPr txBox="1"/>
          <p:nvPr>
            <p:ph idx="2" type="body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/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/>
          <p:nvPr>
            <p:ph idx="2" type="pic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6" name="Google Shape;26;p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2.xml"/><Relationship Id="rId4" Type="http://schemas.openxmlformats.org/officeDocument/2006/relationships/slide" Target="/ppt/slides/slide9.xml"/><Relationship Id="rId5" Type="http://schemas.openxmlformats.org/officeDocument/2006/relationships/slide" Target="/ppt/slides/slide13.xml"/><Relationship Id="rId6" Type="http://schemas.openxmlformats.org/officeDocument/2006/relationships/slide" Target="/ppt/slides/slide17.xml"/><Relationship Id="rId7" Type="http://schemas.openxmlformats.org/officeDocument/2006/relationships/slide" Target="/ppt/slides/slide18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.png"/><Relationship Id="rId13" Type="http://schemas.openxmlformats.org/officeDocument/2006/relationships/image" Target="../media/image2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n.wikipedia.org/wiki/Tree_(graph_theory)" TargetMode="External"/><Relationship Id="rId4" Type="http://schemas.openxmlformats.org/officeDocument/2006/relationships/hyperlink" Target="https://en.wikipedia.org/wiki/Complete_graph" TargetMode="External"/><Relationship Id="rId9" Type="http://schemas.openxmlformats.org/officeDocument/2006/relationships/image" Target="../media/image7.png"/><Relationship Id="rId15" Type="http://schemas.openxmlformats.org/officeDocument/2006/relationships/image" Target="../media/image3.png"/><Relationship Id="rId14" Type="http://schemas.openxmlformats.org/officeDocument/2006/relationships/image" Target="../media/image10.png"/><Relationship Id="rId5" Type="http://schemas.openxmlformats.org/officeDocument/2006/relationships/hyperlink" Target="https://en.wikipedia.org/wiki/Bipartite_graph" TargetMode="External"/><Relationship Id="rId6" Type="http://schemas.openxmlformats.org/officeDocument/2006/relationships/hyperlink" Target="https://en.wikipedia.org/wiki/Directed_graph" TargetMode="External"/><Relationship Id="rId7" Type="http://schemas.openxmlformats.org/officeDocument/2006/relationships/hyperlink" Target="https://en.wikipedia.org/wiki/Directed_acyclic_graph" TargetMode="External"/><Relationship Id="rId8" Type="http://schemas.openxmlformats.org/officeDocument/2006/relationships/hyperlink" Target="https://en.wikipedia.org/wiki/Multigraph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n.wikipedia.org/wiki/Spanning_tree" TargetMode="External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visualgo.net/en/graphds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pen.kattis.com/problems/islandhopping" TargetMode="External"/><Relationship Id="rId4" Type="http://schemas.openxmlformats.org/officeDocument/2006/relationships/hyperlink" Target="https://open.kattis.com/problems/islandhoppin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stevenhalim/cpbook-code/tree/master/ch4/mst" TargetMode="External"/><Relationship Id="rId4" Type="http://schemas.openxmlformats.org/officeDocument/2006/relationships/hyperlink" Target="https://visualgo.net/en/ms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pen.kattis.com/problems/islandhopping" TargetMode="External"/><Relationship Id="rId4" Type="http://schemas.openxmlformats.org/officeDocument/2006/relationships/hyperlink" Target="https://open.kattis.com/problems/millionairemadness" TargetMode="External"/><Relationship Id="rId5" Type="http://schemas.openxmlformats.org/officeDocument/2006/relationships/hyperlink" Target="https://open.kattis.com/problems/lostmap" TargetMode="External"/><Relationship Id="rId6" Type="http://schemas.openxmlformats.org/officeDocument/2006/relationships/hyperlink" Target="https://open.kattis.com/problems/svemir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WORKSHOP 4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3242390" y="3399885"/>
            <a:ext cx="5707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Char char="•"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.3 Minimum Spanning Tree (MST)</a:t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Char char="•"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4.3.4 Other Applications</a:t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Char char="•"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4.3.5 MST in Programming Contests</a:t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Char char="•"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Suggested Homework</a:t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" name="Google Shape;105;p1"/>
          <p:cNvSpPr txBox="1"/>
          <p:nvPr>
            <p:ph type="ctrTitle"/>
          </p:nvPr>
        </p:nvSpPr>
        <p:spPr>
          <a:xfrm>
            <a:off x="2665725" y="3177275"/>
            <a:ext cx="71850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 fontScale="90000"/>
          </a:bodyPr>
          <a:lstStyle/>
          <a:p>
            <a: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Char char="•"/>
            </a:pPr>
            <a:r>
              <a:rPr lang="en-US" sz="1800" u="sng">
                <a:solidFill>
                  <a:schemeClr val="hlink"/>
                </a:solidFill>
                <a:hlinkClick action="ppaction://hlinksldjump" r:id="rId3"/>
              </a:rPr>
              <a:t>2.4.1 Graph</a:t>
            </a:r>
            <a:r>
              <a:rPr lang="en-US" sz="1800"/>
              <a:t> </a:t>
            </a:r>
            <a:endParaRPr/>
          </a:p>
          <a:p>
            <a: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Char char="•"/>
            </a:pPr>
            <a:r>
              <a:rPr lang="en-US" sz="1800" u="sng">
                <a:solidFill>
                  <a:schemeClr val="hlink"/>
                </a:solidFill>
                <a:hlinkClick action="ppaction://hlinksldjump" r:id="rId4"/>
              </a:rPr>
              <a:t>4.3 Minimum Spanning Tree (MST)</a:t>
            </a:r>
            <a:endParaRPr sz="1800">
              <a:solidFill>
                <a:schemeClr val="dk1"/>
              </a:solidFill>
            </a:endParaRPr>
          </a:p>
          <a:p>
            <a: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Char char="•"/>
            </a:pPr>
            <a:r>
              <a:rPr lang="en-US" sz="1800" u="sng">
                <a:solidFill>
                  <a:schemeClr val="hlink"/>
                </a:solidFill>
                <a:hlinkClick action="ppaction://hlinksldjump" r:id="rId5"/>
              </a:rPr>
              <a:t>4.3.4 Other Applications</a:t>
            </a:r>
            <a:endParaRPr sz="1800">
              <a:solidFill>
                <a:schemeClr val="dk1"/>
              </a:solidFill>
            </a:endParaRPr>
          </a:p>
          <a:p>
            <a: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u="sng">
                <a:solidFill>
                  <a:schemeClr val="hlink"/>
                </a:solidFill>
                <a:hlinkClick action="ppaction://hlinksldjump" r:id="rId6"/>
              </a:rPr>
              <a:t>Questions + Suggested Homework Solution Review</a:t>
            </a:r>
            <a:endParaRPr sz="1800">
              <a:solidFill>
                <a:schemeClr val="dk1"/>
              </a:solidFill>
            </a:endParaRPr>
          </a:p>
          <a:p>
            <a:pPr indent="-3314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Char char="•"/>
            </a:pPr>
            <a:r>
              <a:rPr lang="en-US" sz="1800" u="sng">
                <a:solidFill>
                  <a:schemeClr val="hlink"/>
                </a:solidFill>
                <a:hlinkClick action="ppaction://hlinksldjump" r:id="rId7"/>
              </a:rPr>
              <a:t>Suggested Homework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45568222e_0_7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2.4.1 Graph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5568222e_0_13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2.4.1 Graph – Quick Review Terminology Info Dump</a:t>
            </a:r>
            <a:endParaRPr/>
          </a:p>
        </p:txBody>
      </p:sp>
      <p:sp>
        <p:nvSpPr>
          <p:cNvPr id="118" name="Google Shape;118;g3845568222e_0_13"/>
          <p:cNvSpPr txBox="1"/>
          <p:nvPr>
            <p:ph idx="1" type="body"/>
          </p:nvPr>
        </p:nvSpPr>
        <p:spPr>
          <a:xfrm>
            <a:off x="0" y="1096825"/>
            <a:ext cx="121920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 graph G = (V, E) is a set of vertices (V) and edges (E)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Edges store connectivity information between vertices in V</a:t>
            </a:r>
            <a:endParaRPr sz="2000"/>
          </a:p>
          <a:p>
            <a:pPr indent="-346075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Can be in the form of weight or direction 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Undirected/Directed Graph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 graph that is made up of a set of vertices connected by undirected/directed edges respectively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Directed Acyclic Graph (DAG)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Is a directed graph with no directed cycles (no loop arounds!)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Tree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An undirected graph in which every pair of distinct vertices is connected by exactly one path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Forest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 forest is collection of trees, i.e. an undirected graph where any two vertices are connected by exactly one path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Acyclic, and doesn’t need to connected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Complete Graph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An </a:t>
            </a:r>
            <a:r>
              <a:rPr lang="en-US" sz="2000"/>
              <a:t>undirected graph in which every pair of distinct vertices is connected by a unique edge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Bipartite Graph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 graph whose vertices can be divided into two disjoint and independent sets U and V, that is, every edge connects a vertex in U to one in V</a:t>
            </a:r>
            <a:endParaRPr sz="2000"/>
          </a:p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Multigraph 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 graph which is permitted to have multiple edges, that is, edges that have the same end nodes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9" name="Google Shape;119;g3845568222e_0_13"/>
          <p:cNvSpPr txBox="1"/>
          <p:nvPr/>
        </p:nvSpPr>
        <p:spPr>
          <a:xfrm>
            <a:off x="0" y="5499850"/>
            <a:ext cx="11231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2.4.1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lang="en-US" sz="20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https://en.wikipedia.org/wiki/Tree_(graph_theory)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0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lang="en-US" sz="20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4"/>
              </a:rPr>
              <a:t>https://en.wikipedia.org/wiki/Complete_graph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0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lang="en-US" sz="20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5"/>
              </a:rPr>
              <a:t>https://en.wikipedia.org/wiki/Bipartite_graph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0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lang="en-US" sz="20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6"/>
              </a:rPr>
              <a:t>https://en.wikipedia.org/wiki/Directed_graph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0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lang="en-US" sz="20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7"/>
              </a:rPr>
              <a:t>https://en.wikipedia.org/wiki/Directed_acyclic_graph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0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lang="en-US" sz="20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8"/>
              </a:rPr>
              <a:t>https://en.wikipedia.org/wiki/Multigraph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0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20" name="Google Shape;120;g3845568222e_0_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28850" y="5793500"/>
            <a:ext cx="1013150" cy="67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845568222e_0_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46075" y="5822779"/>
            <a:ext cx="1299000" cy="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845568222e_0_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49141" y="5499851"/>
            <a:ext cx="915934" cy="12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845568222e_0_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69140" y="5663075"/>
            <a:ext cx="868410" cy="101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845568222e_0_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500459" y="5745200"/>
            <a:ext cx="1031716" cy="101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845568222e_0_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584637" y="5911488"/>
            <a:ext cx="1541764" cy="7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845568222e_0_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1178850" y="5785747"/>
            <a:ext cx="1013150" cy="101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36faffe8e_0_42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Spanning Trees</a:t>
            </a:r>
            <a:endParaRPr/>
          </a:p>
        </p:txBody>
      </p:sp>
      <p:sp>
        <p:nvSpPr>
          <p:cNvPr id="133" name="Google Shape;133;g3836faffe8e_0_42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“Spanning tree T of an undirected graph G is a subgraph of a tree which includes all of the vertices of G”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I.E. a tree that has V-1 edges and where all the edges connect all the vertices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There are many possible kinds spanning trees given an undirected graph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Minimum Spanning Tree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Depth First Search Spanning Tree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Breadth First Search Spanning Tree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SSSP (Single-Source Shortest Paths) </a:t>
            </a:r>
            <a:r>
              <a:rPr lang="en-US" sz="2000"/>
              <a:t>Spanning</a:t>
            </a:r>
            <a:r>
              <a:rPr lang="en-US" sz="2000"/>
              <a:t> Tree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and more!</a:t>
            </a:r>
            <a:endParaRPr sz="2000"/>
          </a:p>
        </p:txBody>
      </p:sp>
      <p:sp>
        <p:nvSpPr>
          <p:cNvPr id="134" name="Google Shape;134;g3836faffe8e_0_42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4.3</a:t>
            </a:r>
            <a:endParaRPr sz="20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lang="en-US" sz="20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https://en.wikipedia.org/wiki/Spanning_tree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35" name="Google Shape;135;g3836faffe8e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950" y="2712726"/>
            <a:ext cx="3708775" cy="397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45568222e_1_0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Graph Representation in Code</a:t>
            </a:r>
            <a:endParaRPr/>
          </a:p>
        </p:txBody>
      </p:sp>
      <p:sp>
        <p:nvSpPr>
          <p:cNvPr id="142" name="Google Shape;142;g3845568222e_1_0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How do we represent graphs in code? Any ideas?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45568222e_0_47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2.4.1 Graph - Adjacency Matrix</a:t>
            </a:r>
            <a:endParaRPr/>
          </a:p>
        </p:txBody>
      </p:sp>
      <p:sp>
        <p:nvSpPr>
          <p:cNvPr id="149" name="Google Shape;149;g3845568222e_0_47"/>
          <p:cNvSpPr txBox="1"/>
          <p:nvPr>
            <p:ph idx="1" type="body"/>
          </p:nvPr>
        </p:nvSpPr>
        <p:spPr>
          <a:xfrm>
            <a:off x="494675" y="1096825"/>
            <a:ext cx="11231400" cy="4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2D array storing the connectivity information between 2 vertices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AM[u][v] can store the weight and direction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Languages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Native support in C++ STL and Java API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Python use list of lists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Good to know: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Only use if number of vertices V is small enough (under ~ 5000)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Use if </a:t>
            </a:r>
            <a:r>
              <a:rPr lang="en-US" sz="2000"/>
              <a:t>you need to access the connectivity between two vertices in a small dense graph is frequently required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Cannot store a multigraph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O(V</a:t>
            </a:r>
            <a:r>
              <a:rPr baseline="30000" lang="en-US" sz="2000"/>
              <a:t>2</a:t>
            </a:r>
            <a:r>
              <a:rPr lang="en-US" sz="2000"/>
              <a:t>) space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O(V) to enumerate list of neighbors of a vertex u</a:t>
            </a:r>
            <a:endParaRPr sz="2000"/>
          </a:p>
        </p:txBody>
      </p:sp>
      <p:sp>
        <p:nvSpPr>
          <p:cNvPr id="150" name="Google Shape;150;g3845568222e_0_47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2.4.1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1" name="Google Shape;151;g3845568222e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8100" y="3607200"/>
            <a:ext cx="3306774" cy="11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845568222e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0800" y="4802500"/>
            <a:ext cx="4621200" cy="19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45568222e_0_6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2.4.1 Graph - Adjacency List</a:t>
            </a:r>
            <a:endParaRPr/>
          </a:p>
        </p:txBody>
      </p:sp>
      <p:sp>
        <p:nvSpPr>
          <p:cNvPr id="159" name="Google Shape;159;g3845568222e_0_68"/>
          <p:cNvSpPr txBox="1"/>
          <p:nvPr>
            <p:ph idx="1" type="body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Is a vector of vector of pairs storing the list of neighbors of each vertex u as ‘edge information pairs’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Each pair is</a:t>
            </a:r>
            <a:r>
              <a:rPr lang="en-US" sz="2000"/>
              <a:t>: (index of neighbouring vertex, weight of the edge)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graph is unweighted, you can leave it empty or just don’t implement it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Languages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 C++ STL: vector&lt;vii&gt; AL, with vii defined as in: typedef pair&lt;int, int&gt; ii; typedef vector&lt;ii&gt; vii;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Using the Java API: ArrayList&lt;ArrayList&lt;IntegerPair&gt;&gt; AL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IntegerPair is a simple Java class that contains a pair of integers like pair&lt;int, int&gt;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Python: AL = defaultdict(list), the values in list are grouped by pairs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Good to know: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More space-efficient than Adjacency Matrices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Can store a multigraph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Can easily </a:t>
            </a:r>
            <a:r>
              <a:rPr lang="en-US" sz="2000"/>
              <a:t>enumerate</a:t>
            </a:r>
            <a:r>
              <a:rPr lang="en-US" sz="2000"/>
              <a:t> the list of neighbors of a vertex v efficiently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v has k neighbors, it will take O(k) time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Very common to use this model to store graphs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O(V + E) Space complexity</a:t>
            </a:r>
            <a:endParaRPr sz="2000"/>
          </a:p>
        </p:txBody>
      </p:sp>
      <p:sp>
        <p:nvSpPr>
          <p:cNvPr id="160" name="Google Shape;160;g3845568222e_0_68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2.4.1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61" name="Google Shape;161;g3845568222e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8400" y="4923450"/>
            <a:ext cx="4331100" cy="193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845568222e_0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8600" y="3564000"/>
            <a:ext cx="3760901" cy="13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45568222e_0_85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2.4.1 Graph - Edge List</a:t>
            </a:r>
            <a:endParaRPr/>
          </a:p>
        </p:txBody>
      </p:sp>
      <p:sp>
        <p:nvSpPr>
          <p:cNvPr id="169" name="Google Shape;169;g3845568222e_0_85"/>
          <p:cNvSpPr txBox="1"/>
          <p:nvPr>
            <p:ph idx="1" type="body"/>
          </p:nvPr>
        </p:nvSpPr>
        <p:spPr>
          <a:xfrm>
            <a:off x="494675" y="1096825"/>
            <a:ext cx="11231400" cy="49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Is a vector of triples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Store a list of all E edges, usually in some sorted order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directed graphs, we store a bidirectional edge twice, one for each direction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edges are tuples usually (w, u, v), (weight w plus the two endpoints u and v)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the graph is unweighted, you can drop the w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Languages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 </a:t>
            </a:r>
            <a:r>
              <a:rPr lang="en-US" sz="2000"/>
              <a:t>C++ STL: vector&lt;tuple&lt;int, int, int&gt;&gt; EL</a:t>
            </a:r>
            <a:r>
              <a:rPr lang="en-US" sz="2000"/>
              <a:t>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Java API: Vector&lt;IntegerTriple&gt; EL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IntegerTriple is a class that contains a triple of integers like tuple&lt;int, int, int&gt;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Python: EL = []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Good to know: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Good for Kruskal’s algorithm for MST where the collection of undirected edges need to be sorted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Complicates algorithms that require the enumeration of edges</a:t>
            </a:r>
            <a:r>
              <a:rPr lang="en-US" sz="2000"/>
              <a:t> incident to a vertex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O(E) Space complexity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Take a look at: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https://visualgo.net/en/graphds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170" name="Google Shape;170;g3845568222e_0_85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2.4.1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1" name="Google Shape;171;g3845568222e_0_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5800" y="5326975"/>
            <a:ext cx="3760901" cy="135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845568222e_0_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76400" y="4828975"/>
            <a:ext cx="2115600" cy="20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36faffe8e_0_2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4.3 Minimum Spanning Tree (MST)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36faffe8e_0_11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Case Study - Island Hopping</a:t>
            </a:r>
            <a:endParaRPr/>
          </a:p>
        </p:txBody>
      </p:sp>
      <p:sp>
        <p:nvSpPr>
          <p:cNvPr id="185" name="Google Shape;185;g3836faffe8e_0_11"/>
          <p:cNvSpPr txBox="1"/>
          <p:nvPr>
            <p:ph idx="1" type="body"/>
          </p:nvPr>
        </p:nvSpPr>
        <p:spPr>
          <a:xfrm>
            <a:off x="494675" y="1096825"/>
            <a:ext cx="11231400" cy="46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Let’s read the problem on Kattis: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https://open.kattis.com/problems/islandhopping</a:t>
            </a:r>
            <a:r>
              <a:rPr lang="en-US" sz="2000"/>
              <a:t> 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What have we understood?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have a max of 10 test cases, each with a max of 750 islands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need to return the smallest length of bridge that needs to be built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This is an u</a:t>
            </a:r>
            <a:r>
              <a:rPr lang="en-US" sz="2000"/>
              <a:t>ndirected weighted tree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have 1GB of memory and 3 seconds (300 Million Operations)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How, ideas?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Somehow we need to create a tree that minimally connects each vertex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Minimum Spanning Tree! </a:t>
            </a:r>
            <a:endParaRPr sz="2000"/>
          </a:p>
        </p:txBody>
      </p:sp>
      <p:sp>
        <p:nvSpPr>
          <p:cNvPr id="186" name="Google Shape;186;g3836faffe8e_0_11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lang="en-US" sz="20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4"/>
              </a:rPr>
              <a:t>https://open.kattis.com/problems/islandhopping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36faffe8e_0_34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Minimum Spanning Tree (MST) - Overview</a:t>
            </a:r>
            <a:endParaRPr/>
          </a:p>
        </p:txBody>
      </p:sp>
      <p:sp>
        <p:nvSpPr>
          <p:cNvPr id="193" name="Google Shape;193;g3836faffe8e_0_34"/>
          <p:cNvSpPr txBox="1"/>
          <p:nvPr>
            <p:ph idx="1" type="body"/>
          </p:nvPr>
        </p:nvSpPr>
        <p:spPr>
          <a:xfrm>
            <a:off x="494675" y="1096825"/>
            <a:ext cx="11231400" cy="23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Given a connected, undirected, and weighted graph G = (V, E)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Select a subset of edges E’ ⊆ E such that the graph G’ = (V, E’) is still connected and the total weight of the selected edges E’ is minimal.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I.E. Connect all </a:t>
            </a:r>
            <a:r>
              <a:rPr lang="en-US" sz="2000"/>
              <a:t>vertices with the minimum cost of edge!</a:t>
            </a:r>
            <a:endParaRPr sz="2000"/>
          </a:p>
        </p:txBody>
      </p:sp>
      <p:sp>
        <p:nvSpPr>
          <p:cNvPr id="194" name="Google Shape;194;g3836faffe8e_0_34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4.3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95" name="Google Shape;195;g3836faffe8e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575" y="3457350"/>
            <a:ext cx="6453423" cy="340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36faffe8e_0_51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Minimum Spanning Tree (MST) - Kruskal’s Algorithm</a:t>
            </a:r>
            <a:endParaRPr/>
          </a:p>
        </p:txBody>
      </p:sp>
      <p:sp>
        <p:nvSpPr>
          <p:cNvPr id="202" name="Google Shape;202;g3836faffe8e_0_51"/>
          <p:cNvSpPr txBox="1"/>
          <p:nvPr>
            <p:ph idx="1" type="body"/>
          </p:nvPr>
        </p:nvSpPr>
        <p:spPr>
          <a:xfrm>
            <a:off x="494675" y="1096825"/>
            <a:ext cx="11231400" cy="45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First sorts E edges based on non-decreasing weight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Done by sorting edges in an Edge List data structure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Kruskal then greedily tries to add each edge into the MST as long as such addition does not form a cycle (checked by using Union-Find Disjoint Set)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Greedily means that it tries to make the best choice given the current situation (in this case, the smallest edge)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O(E log V) runtime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See textbook for breakdown on how this was calculated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Textbook implementation: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https://github.com/stevenhalim/cpbook-code/tree/master/ch4/mst</a:t>
            </a:r>
            <a:r>
              <a:rPr lang="en-US" sz="2000"/>
              <a:t> 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Let’s watch it in action!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https://visualgo.net/en/mst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203" name="Google Shape;203;g3836faffe8e_0_51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</a:t>
            </a:r>
            <a:r>
              <a:rPr lang="en-US" sz="2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Section 4.3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36faffe8e_0_18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4.3.4 Other Applications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45568222e_1_15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4.3.4 Other Applications – Variants of basic MST</a:t>
            </a:r>
            <a:endParaRPr/>
          </a:p>
        </p:txBody>
      </p:sp>
      <p:sp>
        <p:nvSpPr>
          <p:cNvPr id="216" name="Google Shape;216;g3845568222e_1_15"/>
          <p:cNvSpPr txBox="1"/>
          <p:nvPr>
            <p:ph idx="1" type="body"/>
          </p:nvPr>
        </p:nvSpPr>
        <p:spPr>
          <a:xfrm>
            <a:off x="494675" y="1096825"/>
            <a:ext cx="11380500" cy="44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These variations are more rare, the trend is to hide that the problem is actually an MST problem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e.g., UVa 01013, 01216, 01234, 01235, 01265, 10457, Kattis - lostmap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Maximum Spanning Tree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want the maximum instead of the minimum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Instead of sorting in a non-decreasing way, sort in a non-increasing way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e.g., UVa 01234, 10842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‘Minimum’ Spanning Subgraph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Some edges in the given graph have already been fixed and must be taken as part of the solution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First take into account the fixed edges, then continue using Kruskal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Result might not be a tree or even an MST, hence ‘Minimum’ in quotes and Subgraph instead of tree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e.g. UVa 10147, 10397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Minimum Spanning Forest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Form a forest of K connected components (K subtrees) in the least cost way where K is given beforehand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Kruskal we run as </a:t>
            </a:r>
            <a:r>
              <a:rPr lang="en-US" sz="2000"/>
              <a:t>normal</a:t>
            </a:r>
            <a:r>
              <a:rPr lang="en-US" sz="2000"/>
              <a:t> BUT as soon as the number of connected components equal to the desired pre-determined K, we can terminate the algorithm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e.g. Kattis - arcticnetwork</a:t>
            </a:r>
            <a:endParaRPr sz="2000"/>
          </a:p>
        </p:txBody>
      </p:sp>
      <p:sp>
        <p:nvSpPr>
          <p:cNvPr id="217" name="Google Shape;217;g3845568222e_1_15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4.3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18" name="Google Shape;218;g3845568222e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5675" y="5079575"/>
            <a:ext cx="4696325" cy="17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45568222e_1_31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4.3.4 Other Applications – Variants of basic MST</a:t>
            </a:r>
            <a:endParaRPr/>
          </a:p>
        </p:txBody>
      </p:sp>
      <p:sp>
        <p:nvSpPr>
          <p:cNvPr id="225" name="Google Shape;225;g3845568222e_1_31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MiniMax (and MaxiMin)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Find the minimum of maximum edge weight among all possible paths between two vertices i to j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Cost for a path from i to j is determined by the maximum edge weight along this path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Among all these possible paths from i to j, pick the one with the minimum max-edge-weight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i.e. you can have a longer path if your max-edge-weight is lower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An MST creates a connected graph with the minimum weight between every vertex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Therefore an MST contains the lowest weight path between any 2 vertex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Therefore, find the biggest weight along path i to j in the MST and that is your answer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e.g. UVa 10048, 00534, 00544, 10048, 10099, Kattis - millionairemadness, muddyhike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O(E log V)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Calculations in the textbook</a:t>
            </a:r>
            <a:endParaRPr sz="2000"/>
          </a:p>
        </p:txBody>
      </p:sp>
      <p:sp>
        <p:nvSpPr>
          <p:cNvPr id="226" name="Google Shape;226;g3845568222e_1_31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4.3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27" name="Google Shape;227;g3845568222e_1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7075" y="4407025"/>
            <a:ext cx="4730424" cy="194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45568222e_1_46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4.3.4 Other Applications – Variants of basic MST</a:t>
            </a:r>
            <a:endParaRPr/>
          </a:p>
        </p:txBody>
      </p:sp>
      <p:sp>
        <p:nvSpPr>
          <p:cNvPr id="234" name="Google Shape;234;g3845568222e_1_46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Second Best Spanning Tree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Chord is an edge is defined as an edge in graph G that is not selected in the MST of 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Goal: You have replace an edge with a chord, but which one?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Solution: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Sort the edges O(E log V)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Find the MST O(E)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each edge in MST, “freeze” that edge and recreate the MST excluding that “frozen” edge (note that you don’t need to re-sort the edges)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best spanning tree after that is the </a:t>
            </a:r>
            <a:r>
              <a:rPr lang="en-US" sz="2000"/>
              <a:t>answer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e.g. UVa 10600 – ACM contest and blackout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O(VE)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Calculations in the textbook</a:t>
            </a:r>
            <a:endParaRPr sz="2000"/>
          </a:p>
        </p:txBody>
      </p:sp>
      <p:sp>
        <p:nvSpPr>
          <p:cNvPr id="235" name="Google Shape;235;g3845568222e_1_46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4.3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36" name="Google Shape;236;g3845568222e_1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900" y="4034225"/>
            <a:ext cx="3946876" cy="210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845568222e_1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7549" y="4272703"/>
            <a:ext cx="3767349" cy="2526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45568222e_1_7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Questions + Suggested Homework Solution Review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16e0e644b_0_173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Suggested Homework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c4946a550_0_55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Suggested Homework</a:t>
            </a:r>
            <a:endParaRPr/>
          </a:p>
        </p:txBody>
      </p:sp>
      <p:sp>
        <p:nvSpPr>
          <p:cNvPr id="256" name="Google Shape;256;g37c4946a550_0_55"/>
          <p:cNvSpPr txBox="1"/>
          <p:nvPr>
            <p:ph idx="1" type="body"/>
          </p:nvPr>
        </p:nvSpPr>
        <p:spPr>
          <a:xfrm>
            <a:off x="282125" y="1147625"/>
            <a:ext cx="11766300" cy="53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Implement YOUR Kruskal!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https://open.kattis.com/problems/islandhopping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https://open.kattis.com/problems/millionairemadness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https://open.kattis.com/problems/lostmap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https://open.kattis.com/problems/svemir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e6225694e_0_2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263" name="Google Shape;263;g37e6225694e_0_2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Template</a:t>
            </a:r>
            <a:endParaRPr sz="2000"/>
          </a:p>
        </p:txBody>
      </p:sp>
      <p:sp>
        <p:nvSpPr>
          <p:cNvPr id="264" name="Google Shape;264;g37e6225694e_0_2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4.3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36faffe8e_0_5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271" name="Google Shape;271;g3836faffe8e_0_58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Template</a:t>
            </a:r>
            <a:endParaRPr sz="2000"/>
          </a:p>
        </p:txBody>
      </p:sp>
      <p:sp>
        <p:nvSpPr>
          <p:cNvPr id="272" name="Google Shape;272;g3836faffe8e_0_58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2025-09-06T15:13:09Z</dcterms:created>
  <dc:creator>Ryan Pelchat</dc:creator>
</cp:coreProperties>
</file>