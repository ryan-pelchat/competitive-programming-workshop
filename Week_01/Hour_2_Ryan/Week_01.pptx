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Gill Sans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hCbHl1sEi9KRobsZw3rJ6HVjc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GillSans-bold.fntdata"/><Relationship Id="rId10" Type="http://schemas.openxmlformats.org/officeDocument/2006/relationships/slide" Target="slides/slide5.xml"/><Relationship Id="rId21" Type="http://schemas.openxmlformats.org/officeDocument/2006/relationships/font" Target="fonts/GillSans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freecodecamp.org/news/big-o-cheat-sheet-time-complexity-chart/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am Ryan Pelchat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4th year Computer Science Student with a Specialization in Software Development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am taking EECS 4070 which is a self directed course. The direction that I chose is to conduct a workshops on competitive programming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Last year I was on the ICPC team and we competed at the University of Windsor, it was a lot of fun! Challenging problems, a fun train ride, and free food.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 my free time I like to read and tinker with software and hardware.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host a Jellyfin server on an old laptop on my local network and I remote access it using a Wireguard VPN that I host on a raspberry pi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 am on the 6th book of The Expanse series.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Problem Reviews with Ben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Workshop with me</a:t>
            </a:r>
            <a:endParaRPr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Focused on theory, most of the code libraries will be up to you (I will give tips from time to time)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Suggested practice problems relating to the workshop given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If you have a question, raise your hand anytime!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7c4946a550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0" name="Google Shape;130;g37c4946a550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I'll be using and referring to the following textbook, please scan the QR code as the link will expire this Friday.</a:t>
            </a:r>
            <a:endParaRPr/>
          </a:p>
        </p:txBody>
      </p:sp>
      <p:sp>
        <p:nvSpPr>
          <p:cNvPr id="131" name="Google Shape;131;g37c4946a550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c4946a550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g37c4946a550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If you are new to programming and/or Python, here is my favourite Python book of all time. This link will also expire on Friday</a:t>
            </a:r>
            <a:endParaRPr/>
          </a:p>
        </p:txBody>
      </p:sp>
      <p:sp>
        <p:nvSpPr>
          <p:cNvPr id="140" name="Google Shape;140;g37c4946a550_0_12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c4946a550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37c4946a550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2"/>
              </a:rPr>
              <a:t>https://www.freecodecamp.org/news/big-o-cheat-sheet-time-complexity-chart/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7c4946a550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c4946a550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7c4946a550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58" name="Google Shape;158;g37c4946a550_0_10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c4946a550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g37c4946a550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65" name="Google Shape;165;g37c4946a550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c4946a550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7c4946a550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73" name="Google Shape;173;g37c4946a550_0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c4946a550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7c4946a550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81" name="Google Shape;181;g37c4946a550_0_1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c4946a550_0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7c4946a550_0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89" name="Google Shape;189;g37c4946a550_0_1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c4946a550_0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7c4946a550_0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198" name="Google Shape;198;g37c4946a550_0_1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7c4946a550_0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g37c4946a550_0_1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07" name="Google Shape;207;g37c4946a550_0_1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7c4946a550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37c4946a550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7c4946a550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c4946a550_0_1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g37c4946a550_0_19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https://wiki.python.org/moin/TimeComplexity</a:t>
            </a:r>
            <a:endParaRPr/>
          </a:p>
        </p:txBody>
      </p:sp>
      <p:sp>
        <p:nvSpPr>
          <p:cNvPr id="223" name="Google Shape;223;g37c4946a550_0_19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8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8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8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2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ctr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subTitle"/>
          </p:nvPr>
        </p:nvSpPr>
        <p:spPr>
          <a:xfrm>
            <a:off x="2695194" y="4352544"/>
            <a:ext cx="6801612" cy="12398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FEFEFE"/>
                </a:solidFill>
              </a:defRPr>
            </a:lvl1pPr>
            <a:lvl2pPr lvl="1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36" name="Google Shape;36;p6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>
            <p:ph type="title"/>
          </p:nvPr>
        </p:nvSpPr>
        <p:spPr>
          <a:xfrm>
            <a:off x="1600200" y="2386744"/>
            <a:ext cx="8991600" cy="164592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  <a:defRPr sz="38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2695194" y="4352465"/>
            <a:ext cx="6801612" cy="1265082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9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1581912" y="2638044"/>
            <a:ext cx="4271771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idx="2" type="body"/>
          </p:nvPr>
        </p:nvSpPr>
        <p:spPr>
          <a:xfrm>
            <a:off x="6338315" y="2638044"/>
            <a:ext cx="4270247" cy="31019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0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0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idx="1" type="body"/>
          </p:nvPr>
        </p:nvSpPr>
        <p:spPr>
          <a:xfrm>
            <a:off x="158343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11"/>
          <p:cNvSpPr txBox="1"/>
          <p:nvPr>
            <p:ph idx="2" type="body"/>
          </p:nvPr>
        </p:nvSpPr>
        <p:spPr>
          <a:xfrm>
            <a:off x="1583436" y="3143250"/>
            <a:ext cx="4270248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3" type="body"/>
          </p:nvPr>
        </p:nvSpPr>
        <p:spPr>
          <a:xfrm>
            <a:off x="6338316" y="3143250"/>
            <a:ext cx="4253484" cy="2596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4" type="body"/>
          </p:nvPr>
        </p:nvSpPr>
        <p:spPr>
          <a:xfrm>
            <a:off x="6338316" y="2313433"/>
            <a:ext cx="4270248" cy="704087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0" sz="1900" cap="none">
                <a:solidFill>
                  <a:srgbClr val="6B8890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None/>
              <a:defRPr b="1" sz="19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1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" name="Google Shape;60;p11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2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3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 txBox="1"/>
          <p:nvPr>
            <p:ph type="title"/>
          </p:nvPr>
        </p:nvSpPr>
        <p:spPr>
          <a:xfrm>
            <a:off x="804672" y="2243828"/>
            <a:ext cx="4486656" cy="1141497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4"/>
          <p:cNvSpPr txBox="1"/>
          <p:nvPr>
            <p:ph idx="1" type="body"/>
          </p:nvPr>
        </p:nvSpPr>
        <p:spPr>
          <a:xfrm>
            <a:off x="6736080" y="804672"/>
            <a:ext cx="4815840" cy="5248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925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900"/>
              <a:buChar char="•"/>
              <a:defRPr sz="1900">
                <a:solidFill>
                  <a:schemeClr val="dk1"/>
                </a:solidFill>
              </a:defRPr>
            </a:lvl1pPr>
            <a:lvl2pPr indent="-3302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2pPr>
            <a:lvl3pPr indent="-3302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3pPr>
            <a:lvl4pPr indent="-3302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>
                <a:solidFill>
                  <a:schemeClr val="dk1"/>
                </a:solidFill>
              </a:defRPr>
            </a:lvl5pPr>
            <a:lvl6pPr indent="-3302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600"/>
              <a:buChar char="•"/>
              <a:defRPr sz="1600"/>
            </a:lvl9pPr>
          </a:lstStyle>
          <a:p/>
        </p:txBody>
      </p:sp>
      <p:sp>
        <p:nvSpPr>
          <p:cNvPr id="74" name="Google Shape;74;p14"/>
          <p:cNvSpPr txBox="1"/>
          <p:nvPr>
            <p:ph idx="2" type="body"/>
          </p:nvPr>
        </p:nvSpPr>
        <p:spPr>
          <a:xfrm>
            <a:off x="1115568" y="3549918"/>
            <a:ext cx="3794760" cy="2194036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4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>
            <p:ph type="title"/>
          </p:nvPr>
        </p:nvSpPr>
        <p:spPr>
          <a:xfrm>
            <a:off x="808523" y="2243828"/>
            <a:ext cx="4494998" cy="11346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182875" spcFirstLastPara="1" rIns="182875" wrap="square" tIns="1828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200"/>
              <a:buFont typeface="Gill Sans"/>
              <a:buNone/>
              <a:defRPr sz="22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5"/>
          <p:cNvSpPr/>
          <p:nvPr>
            <p:ph idx="2" type="pic"/>
          </p:nvPr>
        </p:nvSpPr>
        <p:spPr>
          <a:xfrm>
            <a:off x="6095999" y="0"/>
            <a:ext cx="6102097" cy="6858000"/>
          </a:xfrm>
          <a:prstGeom prst="rect">
            <a:avLst/>
          </a:prstGeom>
          <a:solidFill>
            <a:srgbClr val="BFBFBF"/>
          </a:solidFill>
          <a:ln>
            <a:noFill/>
          </a:ln>
        </p:spPr>
      </p:sp>
      <p:sp>
        <p:nvSpPr>
          <p:cNvPr id="82" name="Google Shape;82;p15"/>
          <p:cNvSpPr txBox="1"/>
          <p:nvPr>
            <p:ph idx="1" type="body"/>
          </p:nvPr>
        </p:nvSpPr>
        <p:spPr>
          <a:xfrm>
            <a:off x="1115568" y="3549918"/>
            <a:ext cx="3794760" cy="219403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1" type="ftr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 rot="5400000">
            <a:off x="4545009" y="324172"/>
            <a:ext cx="3101983" cy="772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6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6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 rot="5400000">
            <a:off x="6810676" y="2779696"/>
            <a:ext cx="4983480" cy="1298608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 rot="5400000">
            <a:off x="2838641" y="329756"/>
            <a:ext cx="4983480" cy="61984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17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7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/>
            </a:lvl1pPr>
            <a:lvl2pPr indent="0" lvl="1" marL="0" algn="ctr">
              <a:spcBef>
                <a:spcPts val="0"/>
              </a:spcBef>
              <a:buNone/>
              <a:defRPr/>
            </a:lvl2pPr>
            <a:lvl3pPr indent="0" lvl="2" marL="0" algn="ctr">
              <a:spcBef>
                <a:spcPts val="0"/>
              </a:spcBef>
              <a:buNone/>
              <a:defRPr/>
            </a:lvl3pPr>
            <a:lvl4pPr indent="0" lvl="3" marL="0" algn="ctr">
              <a:spcBef>
                <a:spcPts val="0"/>
              </a:spcBef>
              <a:buNone/>
              <a:defRPr/>
            </a:lvl4pPr>
            <a:lvl5pPr indent="0" lvl="4" marL="0" algn="ctr">
              <a:spcBef>
                <a:spcPts val="0"/>
              </a:spcBef>
              <a:buNone/>
              <a:defRPr/>
            </a:lvl5pPr>
            <a:lvl6pPr indent="0" lvl="5" marL="0" algn="ctr">
              <a:spcBef>
                <a:spcPts val="0"/>
              </a:spcBef>
              <a:buNone/>
              <a:defRPr/>
            </a:lvl6pPr>
            <a:lvl7pPr indent="0" lvl="6" marL="0" algn="ctr">
              <a:spcBef>
                <a:spcPts val="0"/>
              </a:spcBef>
              <a:buNone/>
              <a:defRPr/>
            </a:lvl7pPr>
            <a:lvl8pPr indent="0" lvl="7" marL="0" algn="ctr">
              <a:spcBef>
                <a:spcPts val="0"/>
              </a:spcBef>
              <a:buNone/>
              <a:defRPr/>
            </a:lvl8pPr>
            <a:lvl9pPr indent="0" lvl="8" marL="0" algn="ctr">
              <a:spcBef>
                <a:spcPts val="0"/>
              </a:spcBef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1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FEFEF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2" name="Google Shape;12;p5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3" name="Google Shape;13;p5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14" name="Google Shape;14;p5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2F2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800"/>
              <a:buFont typeface="Gill Sans"/>
              <a:buNone/>
              <a:defRPr b="0" i="0" sz="2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30200" lvl="5" marL="2743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30200" lvl="6" marL="32004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30200" lvl="7" marL="36576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30200" lvl="8" marL="41148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26" name="Google Shape;26;p4"/>
          <p:cNvSpPr/>
          <p:nvPr>
            <p:ph idx="12" type="sldNum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69803"/>
            </a:srgbClr>
          </a:solidFill>
          <a:ln>
            <a:noFill/>
          </a:ln>
        </p:spPr>
        <p:txBody>
          <a:bodyPr anchorCtr="0" anchor="ctr" bIns="45700" lIns="18275" spcFirstLastPara="1" rIns="1827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100" u="none" cap="none" strike="noStrike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5.jpg"/><Relationship Id="rId10" Type="http://schemas.openxmlformats.org/officeDocument/2006/relationships/image" Target="../media/image2.jpg"/><Relationship Id="rId9" Type="http://schemas.openxmlformats.org/officeDocument/2006/relationships/image" Target="../media/image4.jpg"/><Relationship Id="rId5" Type="http://schemas.openxmlformats.org/officeDocument/2006/relationships/image" Target="../media/image1.jp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ryan-pelchat/competitive-programming-workshop" TargetMode="External"/><Relationship Id="rId4" Type="http://schemas.openxmlformats.org/officeDocument/2006/relationships/hyperlink" Target="https://open.kattis.com/" TargetMode="External"/><Relationship Id="rId5" Type="http://schemas.openxmlformats.org/officeDocument/2006/relationships/hyperlink" Target="https://onlinejudge.org/" TargetMode="External"/><Relationship Id="rId6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hyperlink" Target="https://www.freecodecamp.org/news/big-o-cheat-sheet-time-complexity-chart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iki.python.org/moin/TimeComplexity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visualgo.net/en/array" TargetMode="External"/><Relationship Id="rId4" Type="http://schemas.openxmlformats.org/officeDocument/2006/relationships/hyperlink" Target="https://wiki.python.org/moin/TimeComplexity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iki.python.org/moin/TimeComplexity" TargetMode="External"/><Relationship Id="rId4" Type="http://schemas.openxmlformats.org/officeDocument/2006/relationships/hyperlink" Target="https://visualgo.net/en/list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visualgo.net/en/heap" TargetMode="External"/><Relationship Id="rId4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hyperlink" Target="https://visualgo.net/en/hashtable" TargetMode="External"/><Relationship Id="rId5" Type="http://schemas.openxmlformats.org/officeDocument/2006/relationships/hyperlink" Target="https://wiki.python.org/moin/TimeComplexity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open.kattis.com/problems/jollyjumpers" TargetMode="External"/><Relationship Id="rId4" Type="http://schemas.openxmlformats.org/officeDocument/2006/relationships/hyperlink" Target="https://open.kattis.com/problems/epigdanceoff" TargetMode="External"/><Relationship Id="rId11" Type="http://schemas.openxmlformats.org/officeDocument/2006/relationships/hyperlink" Target="https://open.kattis.com/problems/bracketmatching" TargetMode="External"/><Relationship Id="rId10" Type="http://schemas.openxmlformats.org/officeDocument/2006/relationships/hyperlink" Target="https://open.kattis.com/problems/recount" TargetMode="External"/><Relationship Id="rId9" Type="http://schemas.openxmlformats.org/officeDocument/2006/relationships/hyperlink" Target="https://open.kattis.com/problems/shiritori" TargetMode="External"/><Relationship Id="rId5" Type="http://schemas.openxmlformats.org/officeDocument/2006/relationships/hyperlink" Target="https://open.kattis.com/problems/pairingsocks" TargetMode="External"/><Relationship Id="rId6" Type="http://schemas.openxmlformats.org/officeDocument/2006/relationships/hyperlink" Target="https://open.kattis.com/problems/integerlists" TargetMode="External"/><Relationship Id="rId7" Type="http://schemas.openxmlformats.org/officeDocument/2006/relationships/hyperlink" Target="https://open.kattis.com/problems/stockprices" TargetMode="External"/><Relationship Id="rId8" Type="http://schemas.openxmlformats.org/officeDocument/2006/relationships/hyperlink" Target="https://open.kattis.com/problems/esej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type="ctrTitle"/>
          </p:nvPr>
        </p:nvSpPr>
        <p:spPr>
          <a:xfrm>
            <a:off x="1600200" y="1124869"/>
            <a:ext cx="8991600" cy="1645800"/>
          </a:xfrm>
          <a:prstGeom prst="rect">
            <a:avLst/>
          </a:prstGeom>
          <a:solidFill>
            <a:srgbClr val="FFFFFF"/>
          </a:solidFill>
          <a:ln cap="flat" cmpd="sng" w="38100">
            <a:solidFill>
              <a:srgbClr val="4040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182875" lIns="274300" spcFirstLastPara="1" rIns="274300" wrap="square" tIns="1828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Gill Sans"/>
              <a:buNone/>
            </a:pPr>
            <a:r>
              <a:rPr lang="en-US"/>
              <a:t>WORKSHOP 1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3242390" y="3399885"/>
            <a:ext cx="57072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Introduction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Workshop Format</a:t>
            </a:r>
            <a:endParaRPr sz="1800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Resources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1.3.3 Introduction to Algorithm Analysis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2.2.1 Array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2.2.5 Linked Data Structures (overview)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2.2.6 Special Stack-based Problems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2.3.1 Binary Heap (Priority Queue)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rPr>
              <a:t>2.3.2 Hash Table 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2231136" y="347175"/>
            <a:ext cx="7729728" cy="662227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Ryan Pelchat</a:t>
            </a:r>
            <a:endParaRPr/>
          </a:p>
        </p:txBody>
      </p:sp>
      <p:pic>
        <p:nvPicPr>
          <p:cNvPr id="111" name="Google Shape;111;p2" title="team 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3700" y="1094600"/>
            <a:ext cx="3970227" cy="2977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 title="IMG_2091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4200" y="1259200"/>
            <a:ext cx="1802876" cy="240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" title="IMG_2082.jpeg"/>
          <p:cNvPicPr preferRelativeResize="0"/>
          <p:nvPr/>
        </p:nvPicPr>
        <p:blipFill rotWithShape="1">
          <a:blip r:embed="rId5">
            <a:alphaModFix/>
          </a:blip>
          <a:srcRect b="23096" l="0" r="0" t="22082"/>
          <a:stretch/>
        </p:blipFill>
        <p:spPr>
          <a:xfrm>
            <a:off x="141725" y="3748250"/>
            <a:ext cx="3970222" cy="2902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606687" y="3748262"/>
            <a:ext cx="1400349" cy="1400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36588" y="5309873"/>
            <a:ext cx="1340525" cy="1340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1317" y="4473431"/>
            <a:ext cx="3237837" cy="20125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" title="IMG_8343.jpeg"/>
          <p:cNvPicPr preferRelativeResize="0"/>
          <p:nvPr/>
        </p:nvPicPr>
        <p:blipFill rotWithShape="1">
          <a:blip r:embed="rId9">
            <a:alphaModFix/>
          </a:blip>
          <a:srcRect b="8235" l="0" r="0" t="21436"/>
          <a:stretch/>
        </p:blipFill>
        <p:spPr>
          <a:xfrm>
            <a:off x="8933889" y="5279963"/>
            <a:ext cx="1493311" cy="1400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" title="IMG_8344.jpe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055319" y="4389422"/>
            <a:ext cx="2482775" cy="5734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 txBox="1"/>
          <p:nvPr>
            <p:ph type="title"/>
          </p:nvPr>
        </p:nvSpPr>
        <p:spPr>
          <a:xfrm>
            <a:off x="2231136" y="228421"/>
            <a:ext cx="7729728" cy="662227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FORMAT</a:t>
            </a:r>
            <a:endParaRPr/>
          </a:p>
        </p:txBody>
      </p:sp>
      <p:sp>
        <p:nvSpPr>
          <p:cNvPr id="125" name="Google Shape;125;p3"/>
          <p:cNvSpPr txBox="1"/>
          <p:nvPr>
            <p:ph idx="1" type="body"/>
          </p:nvPr>
        </p:nvSpPr>
        <p:spPr>
          <a:xfrm>
            <a:off x="754350" y="1202275"/>
            <a:ext cx="10683300" cy="47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Problem Reviews with Ben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Workshop with me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Focused on theory using Python, most of the code libraries will be up to you (I will give tips from time to time)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Suggested practice problems relating to the workshop given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Next week Ben will review the solution to one of the problems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Next week I will release my personal solutions to the problems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All course files will be </a:t>
            </a:r>
            <a:r>
              <a:rPr lang="en-US" sz="2000"/>
              <a:t>at</a:t>
            </a:r>
            <a:r>
              <a:rPr lang="en-US" sz="2000"/>
              <a:t> this link: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https://github.com/ryan-pelchat/competitive-programming-workshop</a:t>
            </a:r>
            <a:r>
              <a:rPr lang="en-US" sz="2000"/>
              <a:t> 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will be using Kattis and UVa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Sign up for Kattis (</a:t>
            </a:r>
            <a:r>
              <a:rPr lang="en-US" sz="2000" u="sng">
                <a:solidFill>
                  <a:schemeClr val="hlink"/>
                </a:solidFill>
                <a:hlinkClick r:id="rId4"/>
              </a:rPr>
              <a:t>https://open.kattis.com/</a:t>
            </a:r>
            <a:r>
              <a:rPr lang="en-US" sz="2000"/>
              <a:t>) 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Sign up for UVa online judge (</a:t>
            </a:r>
            <a:r>
              <a:rPr lang="en-US" sz="2000" u="sng">
                <a:solidFill>
                  <a:schemeClr val="hlink"/>
                </a:solidFill>
                <a:hlinkClick r:id="rId5"/>
              </a:rPr>
              <a:t>https://onlinejudge.org/</a:t>
            </a:r>
            <a:r>
              <a:rPr lang="en-US" sz="2000"/>
              <a:t>)</a:t>
            </a:r>
            <a:endParaRPr sz="2000"/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6" name="Google Shape;126;p3"/>
          <p:cNvSpPr txBox="1"/>
          <p:nvPr>
            <p:ph idx="1" type="body"/>
          </p:nvPr>
        </p:nvSpPr>
        <p:spPr>
          <a:xfrm>
            <a:off x="2231100" y="5920100"/>
            <a:ext cx="77298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If you have a question, raise your hand anytime!</a:t>
            </a:r>
            <a:endParaRPr sz="2700"/>
          </a:p>
        </p:txBody>
      </p:sp>
      <p:pic>
        <p:nvPicPr>
          <p:cNvPr id="127" name="Google Shape;127;p3" title="frame(2)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942500" y="2201750"/>
            <a:ext cx="2126175" cy="212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c4946a550_0_9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134" name="Google Shape;134;g37c4946a550_0_9"/>
          <p:cNvSpPr txBox="1"/>
          <p:nvPr>
            <p:ph idx="1" type="body"/>
          </p:nvPr>
        </p:nvSpPr>
        <p:spPr>
          <a:xfrm>
            <a:off x="2231125" y="1431046"/>
            <a:ext cx="7729800" cy="10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Competitive Programming 4 -- Steven Halim, Felix Halim, Suhendry Effendy -- Competitive Programming, 1 &amp; 2, 4th Edition</a:t>
            </a:r>
            <a:endParaRPr sz="2000"/>
          </a:p>
        </p:txBody>
      </p:sp>
      <p:pic>
        <p:nvPicPr>
          <p:cNvPr id="135" name="Google Shape;135;g37c4946a550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1125" y="2738200"/>
            <a:ext cx="2703166" cy="3461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7c4946a550_0_9" title="fram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83475" y="3200950"/>
            <a:ext cx="2535925" cy="253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c4946a550_0_123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Resources</a:t>
            </a:r>
            <a:endParaRPr/>
          </a:p>
        </p:txBody>
      </p:sp>
      <p:sp>
        <p:nvSpPr>
          <p:cNvPr id="143" name="Google Shape;143;g37c4946a550_0_123"/>
          <p:cNvSpPr txBox="1"/>
          <p:nvPr>
            <p:ph idx="1" type="body"/>
          </p:nvPr>
        </p:nvSpPr>
        <p:spPr>
          <a:xfrm>
            <a:off x="786975" y="1431050"/>
            <a:ext cx="10365600" cy="10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/>
              <a:t>Zelle J. - Python Programming An Introduction to Computer Science, 3rd Edition - 2017</a:t>
            </a:r>
            <a:endParaRPr sz="2000"/>
          </a:p>
        </p:txBody>
      </p:sp>
      <p:pic>
        <p:nvPicPr>
          <p:cNvPr id="144" name="Google Shape;144;g37c4946a550_0_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7350" y="2316850"/>
            <a:ext cx="3067800" cy="37827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g37c4946a550_0_123" title="frame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3025" y="2655800"/>
            <a:ext cx="2857500" cy="28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c4946a550_0_1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1.3.3 Introduction to Algorithm Analysis</a:t>
            </a:r>
            <a:endParaRPr/>
          </a:p>
        </p:txBody>
      </p:sp>
      <p:sp>
        <p:nvSpPr>
          <p:cNvPr id="152" name="Google Shape;152;g37c4946a550_0_18"/>
          <p:cNvSpPr txBox="1"/>
          <p:nvPr>
            <p:ph idx="1" type="body"/>
          </p:nvPr>
        </p:nvSpPr>
        <p:spPr>
          <a:xfrm>
            <a:off x="494675" y="1096825"/>
            <a:ext cx="11231400" cy="26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What is time complexity?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Denoted by t</a:t>
            </a:r>
            <a:r>
              <a:rPr lang="en-US" sz="2000"/>
              <a:t>he Big-Oh, ex: O(n), O(n^2), O(nlogn) etc…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Time complexity measures how the number of operations grows with input size as n→∞.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What is space complexity?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Big-Oh notation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Space complexity measures how the memory required grows with input size as n→∞.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highlight>
                  <a:srgbClr val="FFFF00"/>
                </a:highlight>
              </a:rPr>
              <a:t>bit level chapter?</a:t>
            </a:r>
            <a:endParaRPr sz="2000">
              <a:highlight>
                <a:srgbClr val="FFFF00"/>
              </a:highlight>
            </a:endParaRPr>
          </a:p>
        </p:txBody>
      </p:sp>
      <p:pic>
        <p:nvPicPr>
          <p:cNvPr id="153" name="Google Shape;153;g37c4946a550_0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1225" y="3479575"/>
            <a:ext cx="5152251" cy="315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7c4946a550_0_18"/>
          <p:cNvSpPr txBox="1"/>
          <p:nvPr>
            <p:ph idx="1" type="body"/>
          </p:nvPr>
        </p:nvSpPr>
        <p:spPr>
          <a:xfrm>
            <a:off x="480300" y="5847450"/>
            <a:ext cx="112314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Sources: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1200" u="sng">
                <a:solidFill>
                  <a:srgbClr val="467886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https://www.freecodecamp.org/news/big-o-cheat-sheet-time-complexity-chart/</a:t>
            </a:r>
            <a:r>
              <a:rPr lang="en-US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c4946a550_0_105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1.3.3 Introduction to Algorithm Analysis</a:t>
            </a:r>
            <a:endParaRPr/>
          </a:p>
        </p:txBody>
      </p:sp>
      <p:sp>
        <p:nvSpPr>
          <p:cNvPr id="161" name="Google Shape;161;g37c4946a550_0_105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Why is time and space complexity important?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Understanding complexity helps you quickly decide whether an approach will run fast enough and fit in memory, so you don’t waste submissions and time.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What makes the best solution?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Meets the constraints for time and space complexity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Simple for </a:t>
            </a:r>
            <a:r>
              <a:rPr lang="en-US" sz="2000"/>
              <a:t>you to implement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c4946a550_0_78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1.3.3 Introduction to Algorithm Analysis</a:t>
            </a:r>
            <a:endParaRPr/>
          </a:p>
        </p:txBody>
      </p:sp>
      <p:sp>
        <p:nvSpPr>
          <p:cNvPr id="168" name="Google Shape;168;g37c4946a550_0_78"/>
          <p:cNvSpPr txBox="1"/>
          <p:nvPr>
            <p:ph idx="1" type="body"/>
          </p:nvPr>
        </p:nvSpPr>
        <p:spPr>
          <a:xfrm>
            <a:off x="494675" y="1096825"/>
            <a:ext cx="11231400" cy="48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Activity!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“simple operation” can be considered something done in constant time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When we say ‘simple operation’ = O(1), we’re ignoring real-world machine details and just focusing on asymptotic growth.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Disk I/O not always constant time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Hash table lookup is </a:t>
            </a:r>
            <a:r>
              <a:rPr lang="en-US" sz="2000"/>
              <a:t>expected</a:t>
            </a:r>
            <a:r>
              <a:rPr lang="en-US" sz="2000"/>
              <a:t> O(1), but worst-case O(n)</a:t>
            </a:r>
            <a:endParaRPr sz="2000"/>
          </a:p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modern computer can calculate about 10^8 or 100 Million operations per second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Gives you a rule of thumb when estimating if you will fit the constraints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Just like time complexity measures how runtime grows with input size, space complexity measures how memory usage grows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Keep in mind how many objects/data structures you create and how large they become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Try to re-use structures instead of making new ones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Keep track of how large your stack frame and associated objects inside becomes when you use a recursive solution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Every recursive call stores local variables on the stack, too much recursion can blow your memory cap even if each call is cheap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 will expand on recursion in a later workshop</a:t>
            </a:r>
            <a:endParaRPr sz="2000"/>
          </a:p>
        </p:txBody>
      </p:sp>
      <p:sp>
        <p:nvSpPr>
          <p:cNvPr id="169" name="Google Shape;169;g37c4946a550_0_78"/>
          <p:cNvSpPr txBox="1"/>
          <p:nvPr>
            <p:ph idx="1" type="body"/>
          </p:nvPr>
        </p:nvSpPr>
        <p:spPr>
          <a:xfrm>
            <a:off x="480300" y="5847450"/>
            <a:ext cx="112314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Sources: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https://wiki.python.org/moin/TimeComplexity</a:t>
            </a:r>
            <a:r>
              <a:rPr lang="en-US" sz="2000"/>
              <a:t> 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Competitive Programming 4 section 1.3.3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7c4946a550_0_116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2.2.1 Array</a:t>
            </a:r>
            <a:endParaRPr/>
          </a:p>
        </p:txBody>
      </p:sp>
      <p:sp>
        <p:nvSpPr>
          <p:cNvPr id="176" name="Google Shape;176;g37c4946a550_0_116"/>
          <p:cNvSpPr txBox="1"/>
          <p:nvPr>
            <p:ph idx="1" type="body"/>
          </p:nvPr>
        </p:nvSpPr>
        <p:spPr>
          <a:xfrm>
            <a:off x="494675" y="1096825"/>
            <a:ext cx="11231400" cy="47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What is an array?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Is a collection of homogenous sequential data to be stored and later accessed using their indices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Native support in C/C++ and Java.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No built-in support for static array in Python.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Not resizeable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Dynamic (Resizeable) Array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C++ STL vector.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Java ArrayList (preferred in Competitive Programming, as it is faster) or Vector.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Python list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Resizable, the computer will take care of increasing or decreasing the size of the array for you.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Sorting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Python: O(nlogn)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Searching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Python Unsorted Array: O(n)</a:t>
            </a:r>
            <a:endParaRPr sz="2000"/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Python Sorted Array: O(logn) using binary search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https://visualgo.net/en/array</a:t>
            </a:r>
            <a:r>
              <a:rPr lang="en-US" sz="2000"/>
              <a:t> </a:t>
            </a:r>
            <a:endParaRPr sz="2000"/>
          </a:p>
        </p:txBody>
      </p:sp>
      <p:sp>
        <p:nvSpPr>
          <p:cNvPr id="177" name="Google Shape;177;g37c4946a550_0_116"/>
          <p:cNvSpPr txBox="1"/>
          <p:nvPr>
            <p:ph idx="1" type="body"/>
          </p:nvPr>
        </p:nvSpPr>
        <p:spPr>
          <a:xfrm>
            <a:off x="480300" y="5847450"/>
            <a:ext cx="11231400" cy="7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6075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Sources: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4"/>
              </a:rPr>
              <a:t>https://wiki.python.org/moin/TimeComplexity</a:t>
            </a:r>
            <a:r>
              <a:rPr lang="en-US" sz="2000"/>
              <a:t> </a:t>
            </a:r>
            <a:endParaRPr sz="2000"/>
          </a:p>
          <a:p>
            <a:pPr indent="-346075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Competitive Programming 4 section 2.2.1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c4946a550_0_141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2.2.5 Linked Data Structures (overview)</a:t>
            </a:r>
            <a:endParaRPr/>
          </a:p>
        </p:txBody>
      </p:sp>
      <p:sp>
        <p:nvSpPr>
          <p:cNvPr id="184" name="Google Shape;184;g37c4946a550_0_141"/>
          <p:cNvSpPr txBox="1"/>
          <p:nvPr>
            <p:ph idx="1" type="body"/>
          </p:nvPr>
        </p:nvSpPr>
        <p:spPr>
          <a:xfrm>
            <a:off x="494675" y="1096825"/>
            <a:ext cx="11231400" cy="48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What is a Linked List?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linked list is a linear data structure where each element (node) stores a value and a pointer to the next node, forming a chain of connected elements.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Inefficient, we won’t be using this in the competition.</a:t>
            </a:r>
            <a:endParaRPr sz="2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What is a Stack?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stack is a linear data structure that stores elements in a last-in, first-out (LIFO) order, where insertions and removals occur only at the top.</a:t>
            </a:r>
            <a:endParaRPr sz="2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What is a Queue?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queue is a linear data structure that stores elements in a first-in, first-out (FIFO) order, where insertions happen at the rear and removals happen at the front.</a:t>
            </a:r>
            <a:endParaRPr sz="2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What happens if you need to add to the front of a queue as well as the back?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Double-ended Queue (Deque)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Is a linear data structure that allows insertions and removals from both the front and the rear.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But even looking at the middle is slow, and adding to or removing from the middle is slower still. </a:t>
            </a:r>
            <a:endParaRPr sz="2000"/>
          </a:p>
        </p:txBody>
      </p:sp>
      <p:sp>
        <p:nvSpPr>
          <p:cNvPr id="185" name="Google Shape;185;g37c4946a550_0_141"/>
          <p:cNvSpPr txBox="1"/>
          <p:nvPr>
            <p:ph idx="1" type="body"/>
          </p:nvPr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Sources:</a:t>
            </a:r>
            <a:endParaRPr sz="20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https://wiki.python.org/moin/TimeComplexity</a:t>
            </a:r>
            <a:r>
              <a:rPr lang="en-US" sz="2000"/>
              <a:t> </a:t>
            </a:r>
            <a:endParaRPr sz="20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Competitive Programming 4 section 2.2.5</a:t>
            </a:r>
            <a:endParaRPr sz="20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4"/>
              </a:rPr>
              <a:t>https://visualgo.net/en/list</a:t>
            </a:r>
            <a:r>
              <a:rPr lang="en-US" sz="2000"/>
              <a:t> 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c4946a550_0_147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2.2.6 Special Stack-based Problems</a:t>
            </a:r>
            <a:endParaRPr/>
          </a:p>
        </p:txBody>
      </p:sp>
      <p:sp>
        <p:nvSpPr>
          <p:cNvPr id="192" name="Google Shape;192;g37c4946a550_0_147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Parentheses Matching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Given a string containing brackets, return True if all the parentheses inside the string are properly closed, False otherwise.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How can we solve this? What can we use?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We can use a stack! Using the LIFO strategy!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Push open brackets, pop matching closing ones.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If at the end of the string, the stack is empty then it is all okay! If not, then it is not okay.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What is the runtime?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O(n)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93" name="Google Shape;193;g37c4946a550_0_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5799" y="3637450"/>
            <a:ext cx="8400049" cy="260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7c4946a550_0_147"/>
          <p:cNvSpPr txBox="1"/>
          <p:nvPr>
            <p:ph idx="1" type="body"/>
          </p:nvPr>
        </p:nvSpPr>
        <p:spPr>
          <a:xfrm>
            <a:off x="480300" y="5976025"/>
            <a:ext cx="112314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Sources: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Competitive Programming 4 section 2.2.6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c4946a550_0_166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2.3.1 Binary Heap (Priority Queue) </a:t>
            </a:r>
            <a:endParaRPr/>
          </a:p>
        </p:txBody>
      </p:sp>
      <p:sp>
        <p:nvSpPr>
          <p:cNvPr id="201" name="Google Shape;201;g37c4946a550_0_166"/>
          <p:cNvSpPr txBox="1"/>
          <p:nvPr>
            <p:ph idx="1" type="body"/>
          </p:nvPr>
        </p:nvSpPr>
        <p:spPr>
          <a:xfrm>
            <a:off x="494675" y="1096825"/>
            <a:ext cx="11231400" cy="44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What is a heap?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Data structure that satisfies 2 properties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Shape property</a:t>
            </a:r>
            <a:r>
              <a:rPr lang="en-US" sz="2000"/>
              <a:t>: it is a complete binary tree (all levels are fully filled except possibly the last, which is filled from left to right).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1" lang="en-US" sz="2000"/>
              <a:t>Heap property</a:t>
            </a:r>
            <a:r>
              <a:rPr lang="en-US" sz="2000"/>
              <a:t>: every parent node compares in a consistent way with its children</a:t>
            </a:r>
            <a:endParaRPr sz="2000"/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a </a:t>
            </a:r>
            <a:r>
              <a:rPr b="1" lang="en-US" sz="2000"/>
              <a:t>min-heap</a:t>
            </a:r>
            <a:r>
              <a:rPr lang="en-US" sz="2000"/>
              <a:t>, each parent is less than or equal to its children → the smallest element is always at the root.</a:t>
            </a:r>
            <a:endParaRPr sz="2000"/>
          </a:p>
          <a:p>
            <a:pPr indent="-355600" lvl="3" marL="18288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In a </a:t>
            </a:r>
            <a:r>
              <a:rPr b="1" lang="en-US" sz="2000"/>
              <a:t>max-heap</a:t>
            </a:r>
            <a:r>
              <a:rPr lang="en-US" sz="2000"/>
              <a:t>, each parent is greater than or equal to its children → the largest element is always at the root.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Binary Heap is what heapq in Python uses and it is a specific implementation of a Heap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Why is this useful?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Binary Heap (Priority Queues) Lets you always grab the largest/smallest item in O(logn) time instead of inserting and sorting which can be O(nlogn) time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You have a problem with incoming tasks with various levels of priority, you can always get the most important one any time</a:t>
            </a:r>
            <a:endParaRPr sz="2000"/>
          </a:p>
        </p:txBody>
      </p:sp>
      <p:sp>
        <p:nvSpPr>
          <p:cNvPr id="202" name="Google Shape;202;g37c4946a550_0_166"/>
          <p:cNvSpPr txBox="1"/>
          <p:nvPr>
            <p:ph idx="1" type="body"/>
          </p:nvPr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Sources: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Competitive Programming 4 section 2.3.1</a:t>
            </a:r>
            <a:endParaRPr sz="2000"/>
          </a:p>
          <a:p>
            <a:pPr indent="-3556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https://visualgo.net/en/heap</a:t>
            </a:r>
            <a:r>
              <a:rPr lang="en-US" sz="2000"/>
              <a:t> </a:t>
            </a:r>
            <a:endParaRPr sz="2000"/>
          </a:p>
        </p:txBody>
      </p:sp>
      <p:pic>
        <p:nvPicPr>
          <p:cNvPr id="203" name="Google Shape;203;g37c4946a550_0_16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1425" y="5048000"/>
            <a:ext cx="6112075" cy="175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c4946a550_0_183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2.3.2 Hash Table</a:t>
            </a:r>
            <a:endParaRPr/>
          </a:p>
        </p:txBody>
      </p:sp>
      <p:sp>
        <p:nvSpPr>
          <p:cNvPr id="210" name="Google Shape;210;g37c4946a550_0_183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What are Hash Tables?</a:t>
            </a:r>
            <a:endParaRPr sz="20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Hash Table is a non-linear data structure that requires very fast (expected) O(1) insertion, search/retrieval/update, or removal of keys if the keys do not have to be sorted.</a:t>
            </a:r>
            <a:endParaRPr sz="20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A hash table stores key–value pairs in an array by running each key through a hash function (turns it into an index), then places the value at that index.</a:t>
            </a:r>
            <a:endParaRPr sz="20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If two keys land on the same index (collision), the table resolves it by a few ways but a common way is by using linked lists.</a:t>
            </a:r>
            <a:endParaRPr sz="20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Worst case can be O(n), but is O(1) on average.</a:t>
            </a:r>
            <a:endParaRPr sz="20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In python they are dict/set</a:t>
            </a:r>
            <a:endParaRPr sz="20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Why is this useful?</a:t>
            </a:r>
            <a:endParaRPr sz="20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Near instant lookup tool! Insertion, search/retrieval/update is super duper fast</a:t>
            </a:r>
            <a:endParaRPr sz="20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Good for ex:</a:t>
            </a:r>
            <a:endParaRPr sz="2000"/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Frequency counting (how many times does a number/letter appear?).</a:t>
            </a:r>
            <a:endParaRPr sz="2000"/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Membership tests (has this state/word/number been seen before?).</a:t>
            </a:r>
            <a:endParaRPr sz="2000"/>
          </a:p>
          <a:p>
            <a:pPr indent="-336550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Mapping (store extra info keyed by a string or ID).</a:t>
            </a:r>
            <a:endParaRPr sz="2000"/>
          </a:p>
        </p:txBody>
      </p:sp>
      <p:pic>
        <p:nvPicPr>
          <p:cNvPr id="211" name="Google Shape;211;g37c4946a550_0_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42500" y="4364725"/>
            <a:ext cx="6781875" cy="194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7c4946a550_0_183"/>
          <p:cNvSpPr txBox="1"/>
          <p:nvPr>
            <p:ph idx="1" type="body"/>
          </p:nvPr>
        </p:nvSpPr>
        <p:spPr>
          <a:xfrm>
            <a:off x="480300" y="5809275"/>
            <a:ext cx="11231400" cy="9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Sources:</a:t>
            </a:r>
            <a:endParaRPr sz="20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/>
              <a:t>Competitive Programming 4 section 2.3.2</a:t>
            </a:r>
            <a:endParaRPr sz="20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4"/>
              </a:rPr>
              <a:t>https://visualgo.net/en/hashtable</a:t>
            </a:r>
            <a:r>
              <a:rPr lang="en-US" sz="2000"/>
              <a:t> </a:t>
            </a:r>
            <a:endParaRPr sz="2000"/>
          </a:p>
          <a:p>
            <a:pPr indent="-3365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5"/>
              </a:rPr>
              <a:t>https://wiki.python.org/moin/TimeComplexity</a:t>
            </a:r>
            <a:r>
              <a:rPr lang="en-US" sz="2000"/>
              <a:t> </a:t>
            </a:r>
            <a:r>
              <a:rPr lang="en-US" sz="2000"/>
              <a:t>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c4946a550_0_55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Suggested Homework</a:t>
            </a:r>
            <a:endParaRPr/>
          </a:p>
        </p:txBody>
      </p:sp>
      <p:sp>
        <p:nvSpPr>
          <p:cNvPr id="219" name="Google Shape;219;g37c4946a550_0_55"/>
          <p:cNvSpPr txBox="1"/>
          <p:nvPr>
            <p:ph idx="1" type="body"/>
          </p:nvPr>
        </p:nvSpPr>
        <p:spPr>
          <a:xfrm>
            <a:off x="282125" y="1147625"/>
            <a:ext cx="11766300" cy="53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2.2</a:t>
            </a:r>
            <a:endParaRPr/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SzPts val="2200"/>
              <a:buChar char="•"/>
            </a:pPr>
            <a:r>
              <a:rPr lang="en-US" sz="2000"/>
              <a:t>a. 1D Array Manipulation, Medium</a:t>
            </a:r>
            <a:endParaRPr sz="24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3"/>
              </a:rPr>
              <a:t>https://open.kattis.com/problems/jollyjumpers</a:t>
            </a:r>
            <a:r>
              <a:rPr lang="en-US" sz="2000"/>
              <a:t>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b. 2D Array Manipulation, Easier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4"/>
              </a:rPr>
              <a:t>https://open.kattis.com/problems/epigdanceoff</a:t>
            </a:r>
            <a:r>
              <a:rPr lang="en-US" sz="2000"/>
              <a:t>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j. Stack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5"/>
              </a:rPr>
              <a:t>https://open.kattis.com/problems/pairingsocks</a:t>
            </a:r>
            <a:r>
              <a:rPr lang="en-US" sz="2000"/>
              <a:t>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l. List/Queue/Deque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6"/>
              </a:rPr>
              <a:t>https://open.kattis.com/problems/integerlists</a:t>
            </a:r>
            <a:r>
              <a:rPr lang="en-US" sz="2000"/>
              <a:t>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2.3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a Priority Queue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7"/>
              </a:rPr>
              <a:t>https://open.kattis.com/problems/stockprices</a:t>
            </a:r>
            <a:r>
              <a:rPr lang="en-US" sz="2000"/>
              <a:t>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d. Hash Table (set)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8"/>
              </a:rPr>
              <a:t>https://open.kattis.com/problems/esej</a:t>
            </a:r>
            <a:r>
              <a:rPr lang="en-US" sz="2000"/>
              <a:t> 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9"/>
              </a:rPr>
              <a:t>https://open.kattis.com/problems/shiritori</a:t>
            </a:r>
            <a:r>
              <a:rPr lang="en-US" sz="2000"/>
              <a:t>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e. Hash Table (map), Easier</a:t>
            </a:r>
            <a:endParaRPr sz="2000"/>
          </a:p>
          <a:p>
            <a:pPr indent="-355600" lvl="2" marL="13716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10"/>
              </a:rPr>
              <a:t>https://open.kattis.com/problems/recount</a:t>
            </a:r>
            <a:r>
              <a:rPr lang="en-US" sz="2000"/>
              <a:t> 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Other Special Stack-Based Problem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 u="sng">
                <a:solidFill>
                  <a:schemeClr val="hlink"/>
                </a:solidFill>
                <a:hlinkClick r:id="rId11"/>
              </a:rPr>
              <a:t>https://open.kattis.com/problems/bracketmatching</a:t>
            </a:r>
            <a:r>
              <a:rPr lang="en-US" sz="2000"/>
              <a:t> </a:t>
            </a:r>
            <a:endParaRPr sz="2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c4946a550_0_194"/>
          <p:cNvSpPr txBox="1"/>
          <p:nvPr>
            <p:ph type="title"/>
          </p:nvPr>
        </p:nvSpPr>
        <p:spPr>
          <a:xfrm>
            <a:off x="2231136" y="228421"/>
            <a:ext cx="7729800" cy="662100"/>
          </a:xfrm>
          <a:prstGeom prst="rect">
            <a:avLst/>
          </a:prstGeom>
          <a:solidFill>
            <a:srgbClr val="FFFFFF"/>
          </a:solidFill>
          <a:ln cap="sq" cmpd="sng" w="31750">
            <a:solidFill>
              <a:srgbClr val="40404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182875" lIns="182875" spcFirstLastPara="1" rIns="182875" wrap="square" tIns="1828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ct val="100000"/>
              <a:buFont typeface="Gill Sans"/>
              <a:buNone/>
            </a:pPr>
            <a:r>
              <a:rPr lang="en-US"/>
              <a:t>Template</a:t>
            </a:r>
            <a:endParaRPr/>
          </a:p>
        </p:txBody>
      </p:sp>
      <p:sp>
        <p:nvSpPr>
          <p:cNvPr id="226" name="Google Shape;226;g37c4946a550_0_194"/>
          <p:cNvSpPr txBox="1"/>
          <p:nvPr>
            <p:ph idx="1" type="body"/>
          </p:nvPr>
        </p:nvSpPr>
        <p:spPr>
          <a:xfrm>
            <a:off x="494675" y="1096825"/>
            <a:ext cx="11231400" cy="33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Template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2025-09-06T15:13:09Z</dcterms:created>
  <dc:creator>Ryan Pelchat</dc:creator>
</cp:coreProperties>
</file>