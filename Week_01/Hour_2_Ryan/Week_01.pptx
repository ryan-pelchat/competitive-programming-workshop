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  <p:sldMasterId id="214748365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6858000" cx="12192000"/>
  <p:notesSz cx="6858000" cy="9144000"/>
  <p:embeddedFontLst>
    <p:embeddedFont>
      <p:font typeface="Gill Sans"/>
      <p:regular r:id="rId21"/>
      <p:bold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3" roundtripDataSignature="AMtx7mi14jFXTrCmS0u2hXQXGuC3zsnMB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font" Target="fonts/GillSans-bold.fntdata"/><Relationship Id="rId10" Type="http://schemas.openxmlformats.org/officeDocument/2006/relationships/slide" Target="slides/slide5.xml"/><Relationship Id="rId21" Type="http://schemas.openxmlformats.org/officeDocument/2006/relationships/font" Target="fonts/GillSans-regular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23" Type="http://customschemas.google.com/relationships/presentationmetadata" Target="meta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freecodecamp.org/news/big-o-cheat-sheet-time-complexity-chart/" TargetMode="Externa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7" name="Google Shape;10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 am Ryan Pelchat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4th year Computer Science Student with a Specialization in Software Development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 am taking EECS 4070 which is a self directed course. The direction that I chose is to conduct a workshops on competitive programming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Last year I was on the ICPC team and we competed at the University of Windsor, it was a lot of fun! Challenging problems, a fun train ride, and free food.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 my free time I like to read and tinker with software and hardware.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 host a Jellyfin server on an old laptop on my local network and I remote access it using a Wireguard VPN that I host on a raspberry pi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 am on the 6th book of The Expanse series.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Problem Reviews with Ben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Workshop with me</a:t>
            </a:r>
            <a:endParaRPr/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Focused on theory, most of the code libraries will be up to you (I will give tips from time to time)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Suggested practice problems relating to the workshop given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If you have a question, raise your hand anytime!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7c4946a550_0_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0" name="Google Shape;130;g37c4946a550_0_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g37c4946a550_0_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7c4946a550_0_1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g37c4946a550_0_12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39" name="Google Shape;139;g37c4946a550_0_12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7c4946a550_0_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6" name="Google Shape;146;g37c4946a550_0_1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u="sng">
                <a:solidFill>
                  <a:schemeClr val="hlink"/>
                </a:solidFill>
                <a:hlinkClick r:id="rId2"/>
              </a:rPr>
              <a:t>https://www.freecodecamp.org/news/big-o-cheat-sheet-time-complexity-chart/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g37c4946a550_0_1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7c4946a550_0_10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7c4946a550_0_10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156" name="Google Shape;156;g37c4946a550_0_10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7c4946a550_0_7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2" name="Google Shape;162;g37c4946a550_0_7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163" name="Google Shape;163;g37c4946a550_0_7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7c4946a550_0_1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0" name="Google Shape;170;g37c4946a550_0_11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171" name="Google Shape;171;g37c4946a550_0_11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7c4946a550_0_14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8" name="Google Shape;178;g37c4946a550_0_14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179" name="Google Shape;179;g37c4946a550_0_14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7c4946a550_0_14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6" name="Google Shape;186;g37c4946a550_0_14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187" name="Google Shape;187;g37c4946a550_0_14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7c4946a550_0_16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5" name="Google Shape;195;g37c4946a550_0_16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196" name="Google Shape;196;g37c4946a550_0_16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7c4946a550_0_18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" name="Google Shape;204;g37c4946a550_0_18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05" name="Google Shape;205;g37c4946a550_0_18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7c4946a550_0_5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3" name="Google Shape;213;g37c4946a550_0_5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g37c4946a550_0_5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0" name="Google Shape;220;g37c4946a550_0_19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accent2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7"/>
          <p:cNvSpPr txBox="1"/>
          <p:nvPr>
            <p:ph type="ctrTitle"/>
          </p:nvPr>
        </p:nvSpPr>
        <p:spPr>
          <a:xfrm>
            <a:off x="1600200" y="2386744"/>
            <a:ext cx="8991600" cy="1645920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4040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1" anchor="ctr" bIns="182875" lIns="274300" spcFirstLastPara="1" rIns="274300" wrap="square" tIns="1828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  <a:defRPr sz="38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7"/>
          <p:cNvSpPr txBox="1"/>
          <p:nvPr>
            <p:ph idx="1" type="subTitle"/>
          </p:nvPr>
        </p:nvSpPr>
        <p:spPr>
          <a:xfrm>
            <a:off x="2695194" y="4352544"/>
            <a:ext cx="6801612" cy="12398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FEFEFE"/>
                </a:solidFill>
              </a:defRPr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7"/>
          <p:cNvSpPr txBox="1"/>
          <p:nvPr>
            <p:ph idx="10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7"/>
          <p:cNvSpPr txBox="1"/>
          <p:nvPr>
            <p:ph idx="11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7"/>
          <p:cNvSpPr/>
          <p:nvPr>
            <p:ph idx="12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/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8"/>
          <p:cNvSpPr txBox="1"/>
          <p:nvPr>
            <p:ph idx="1" type="body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0" name="Google Shape;30;p8"/>
          <p:cNvSpPr txBox="1"/>
          <p:nvPr>
            <p:ph idx="10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8"/>
          <p:cNvSpPr txBox="1"/>
          <p:nvPr>
            <p:ph idx="11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8"/>
          <p:cNvSpPr/>
          <p:nvPr>
            <p:ph idx="12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accent2"/>
        </a:solid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ctrTitle"/>
          </p:nvPr>
        </p:nvSpPr>
        <p:spPr>
          <a:xfrm>
            <a:off x="1600200" y="2386744"/>
            <a:ext cx="8991600" cy="1645920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4040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1" anchor="ctr" bIns="182875" lIns="274300" spcFirstLastPara="1" rIns="274300" wrap="square" tIns="1828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  <a:defRPr sz="38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subTitle"/>
          </p:nvPr>
        </p:nvSpPr>
        <p:spPr>
          <a:xfrm>
            <a:off x="2695194" y="4352544"/>
            <a:ext cx="6801612" cy="12398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FEFEFE"/>
                </a:solidFill>
              </a:defRPr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36" name="Google Shape;36;p6"/>
          <p:cNvSpPr txBox="1"/>
          <p:nvPr>
            <p:ph idx="10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6"/>
          <p:cNvSpPr txBox="1"/>
          <p:nvPr>
            <p:ph idx="11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/>
          <p:nvPr>
            <p:ph idx="12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1"/>
        </a:solid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type="title"/>
          </p:nvPr>
        </p:nvSpPr>
        <p:spPr>
          <a:xfrm>
            <a:off x="1600200" y="2386744"/>
            <a:ext cx="8991600" cy="1645920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4040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1" anchor="ctr" bIns="182875" lIns="274300" spcFirstLastPara="1" rIns="274300" wrap="square" tIns="1828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  <a:defRPr sz="38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9"/>
          <p:cNvSpPr txBox="1"/>
          <p:nvPr>
            <p:ph idx="1" type="body"/>
          </p:nvPr>
        </p:nvSpPr>
        <p:spPr>
          <a:xfrm>
            <a:off x="2695194" y="4352465"/>
            <a:ext cx="6801612" cy="1265082"/>
          </a:xfrm>
          <a:prstGeom prst="rect">
            <a:avLst/>
          </a:prstGeom>
          <a:noFill/>
          <a:ln>
            <a:noFill/>
          </a:ln>
        </p:spPr>
        <p:txBody>
          <a:bodyPr anchorCtr="1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idx="10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9"/>
          <p:cNvSpPr txBox="1"/>
          <p:nvPr>
            <p:ph idx="11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9"/>
          <p:cNvSpPr/>
          <p:nvPr>
            <p:ph idx="12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0"/>
          <p:cNvSpPr txBox="1"/>
          <p:nvPr>
            <p:ph idx="1" type="body"/>
          </p:nvPr>
        </p:nvSpPr>
        <p:spPr>
          <a:xfrm>
            <a:off x="1581912" y="2638044"/>
            <a:ext cx="4271771" cy="31019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10"/>
          <p:cNvSpPr txBox="1"/>
          <p:nvPr>
            <p:ph idx="2" type="body"/>
          </p:nvPr>
        </p:nvSpPr>
        <p:spPr>
          <a:xfrm>
            <a:off x="6338315" y="2638044"/>
            <a:ext cx="4270247" cy="31019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9" name="Google Shape;49;p10"/>
          <p:cNvSpPr txBox="1"/>
          <p:nvPr>
            <p:ph idx="10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10"/>
          <p:cNvSpPr txBox="1"/>
          <p:nvPr>
            <p:ph idx="11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0"/>
          <p:cNvSpPr/>
          <p:nvPr>
            <p:ph idx="12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/>
          <p:nvPr>
            <p:ph idx="1" type="body"/>
          </p:nvPr>
        </p:nvSpPr>
        <p:spPr>
          <a:xfrm>
            <a:off x="1583436" y="2313433"/>
            <a:ext cx="4270248" cy="704087"/>
          </a:xfrm>
          <a:prstGeom prst="rect">
            <a:avLst/>
          </a:prstGeom>
          <a:noFill/>
          <a:ln>
            <a:noFill/>
          </a:ln>
        </p:spPr>
        <p:txBody>
          <a:bodyPr anchorCtr="1" anchor="b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b="0" sz="1900" cap="none">
                <a:solidFill>
                  <a:srgbClr val="6B8890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b="1" sz="1900"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11"/>
          <p:cNvSpPr txBox="1"/>
          <p:nvPr>
            <p:ph idx="2" type="body"/>
          </p:nvPr>
        </p:nvSpPr>
        <p:spPr>
          <a:xfrm>
            <a:off x="1583436" y="3143250"/>
            <a:ext cx="4270248" cy="25967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55" name="Google Shape;55;p11"/>
          <p:cNvSpPr txBox="1"/>
          <p:nvPr>
            <p:ph idx="3" type="body"/>
          </p:nvPr>
        </p:nvSpPr>
        <p:spPr>
          <a:xfrm>
            <a:off x="6338316" y="3143250"/>
            <a:ext cx="4253484" cy="25967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indent="-3302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/>
            </a:lvl5pPr>
            <a:lvl6pPr indent="-3429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56" name="Google Shape;56;p11"/>
          <p:cNvSpPr txBox="1"/>
          <p:nvPr>
            <p:ph idx="4" type="body"/>
          </p:nvPr>
        </p:nvSpPr>
        <p:spPr>
          <a:xfrm>
            <a:off x="6338316" y="2313433"/>
            <a:ext cx="4270248" cy="704087"/>
          </a:xfrm>
          <a:prstGeom prst="rect">
            <a:avLst/>
          </a:prstGeom>
          <a:noFill/>
          <a:ln>
            <a:noFill/>
          </a:ln>
        </p:spPr>
        <p:txBody>
          <a:bodyPr anchorCtr="1" anchor="b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b="0" sz="1900" cap="none">
                <a:solidFill>
                  <a:srgbClr val="6B8890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b="1" sz="1900"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11"/>
          <p:cNvSpPr txBox="1"/>
          <p:nvPr>
            <p:ph idx="10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11"/>
          <p:cNvSpPr txBox="1"/>
          <p:nvPr>
            <p:ph idx="11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1"/>
          <p:cNvSpPr/>
          <p:nvPr>
            <p:ph idx="12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0" name="Google Shape;60;p11"/>
          <p:cNvSpPr txBox="1"/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2"/>
          <p:cNvSpPr txBox="1"/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2"/>
          <p:cNvSpPr txBox="1"/>
          <p:nvPr>
            <p:ph idx="10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2"/>
          <p:cNvSpPr txBox="1"/>
          <p:nvPr>
            <p:ph idx="11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12"/>
          <p:cNvSpPr/>
          <p:nvPr>
            <p:ph idx="12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idx="10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13"/>
          <p:cNvSpPr txBox="1"/>
          <p:nvPr>
            <p:ph idx="11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3"/>
          <p:cNvSpPr/>
          <p:nvPr>
            <p:ph idx="12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14"/>
          <p:cNvSpPr txBox="1"/>
          <p:nvPr>
            <p:ph type="title"/>
          </p:nvPr>
        </p:nvSpPr>
        <p:spPr>
          <a:xfrm>
            <a:off x="804672" y="2243828"/>
            <a:ext cx="4486656" cy="114149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4040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1" anchor="ctr" bIns="182875" lIns="182875" spcFirstLastPara="1" rIns="182875" wrap="square" tIns="1828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200"/>
              <a:buFont typeface="Gill Sans"/>
              <a:buNone/>
              <a:defRPr sz="22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6736080" y="804672"/>
            <a:ext cx="4815840" cy="52486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925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Char char="•"/>
              <a:defRPr sz="1900">
                <a:solidFill>
                  <a:schemeClr val="dk1"/>
                </a:solidFill>
              </a:defRPr>
            </a:lvl1pPr>
            <a:lvl2pPr indent="-3302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2pPr>
            <a:lvl3pPr indent="-3302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3pPr>
            <a:lvl4pPr indent="-3302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4pPr>
            <a:lvl5pPr indent="-3302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5pPr>
            <a:lvl6pPr indent="-3302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9pPr>
          </a:lstStyle>
          <a:p/>
        </p:txBody>
      </p:sp>
      <p:sp>
        <p:nvSpPr>
          <p:cNvPr id="74" name="Google Shape;74;p14"/>
          <p:cNvSpPr txBox="1"/>
          <p:nvPr>
            <p:ph idx="2" type="body"/>
          </p:nvPr>
        </p:nvSpPr>
        <p:spPr>
          <a:xfrm>
            <a:off x="1115568" y="3549918"/>
            <a:ext cx="3794760" cy="2194036"/>
          </a:xfrm>
          <a:prstGeom prst="rect">
            <a:avLst/>
          </a:prstGeom>
          <a:noFill/>
          <a:ln>
            <a:noFill/>
          </a:ln>
        </p:spPr>
        <p:txBody>
          <a:bodyPr anchorCtr="1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FFFFF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5" name="Google Shape;75;p14"/>
          <p:cNvSpPr txBox="1"/>
          <p:nvPr>
            <p:ph idx="10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4"/>
          <p:cNvSpPr txBox="1"/>
          <p:nvPr>
            <p:ph idx="11" type="ftr"/>
          </p:nvPr>
        </p:nvSpPr>
        <p:spPr>
          <a:xfrm>
            <a:off x="804672" y="6236208"/>
            <a:ext cx="5124797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4"/>
          <p:cNvSpPr/>
          <p:nvPr>
            <p:ph idx="12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15"/>
          <p:cNvSpPr txBox="1"/>
          <p:nvPr>
            <p:ph type="title"/>
          </p:nvPr>
        </p:nvSpPr>
        <p:spPr>
          <a:xfrm>
            <a:off x="808523" y="2243828"/>
            <a:ext cx="4494998" cy="113464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4040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1" anchor="ctr" bIns="182875" lIns="182875" spcFirstLastPara="1" rIns="182875" wrap="square" tIns="1828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200"/>
              <a:buFont typeface="Gill Sans"/>
              <a:buNone/>
              <a:defRPr sz="22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5"/>
          <p:cNvSpPr/>
          <p:nvPr>
            <p:ph idx="2" type="pic"/>
          </p:nvPr>
        </p:nvSpPr>
        <p:spPr>
          <a:xfrm>
            <a:off x="6095999" y="0"/>
            <a:ext cx="6102097" cy="6858000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82" name="Google Shape;82;p15"/>
          <p:cNvSpPr txBox="1"/>
          <p:nvPr>
            <p:ph idx="1" type="body"/>
          </p:nvPr>
        </p:nvSpPr>
        <p:spPr>
          <a:xfrm>
            <a:off x="1115568" y="3549918"/>
            <a:ext cx="3794760" cy="2194037"/>
          </a:xfrm>
          <a:prstGeom prst="rect">
            <a:avLst/>
          </a:prstGeom>
          <a:noFill/>
          <a:ln>
            <a:noFill/>
          </a:ln>
        </p:spPr>
        <p:txBody>
          <a:bodyPr anchorCtr="1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FFFFF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3" name="Google Shape;83;p15"/>
          <p:cNvSpPr txBox="1"/>
          <p:nvPr>
            <p:ph idx="10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15"/>
          <p:cNvSpPr txBox="1"/>
          <p:nvPr>
            <p:ph idx="11" type="ftr"/>
          </p:nvPr>
        </p:nvSpPr>
        <p:spPr>
          <a:xfrm>
            <a:off x="804672" y="6236208"/>
            <a:ext cx="5124797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15"/>
          <p:cNvSpPr/>
          <p:nvPr>
            <p:ph idx="12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6"/>
          <p:cNvSpPr txBox="1"/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6"/>
          <p:cNvSpPr txBox="1"/>
          <p:nvPr>
            <p:ph idx="1" type="body"/>
          </p:nvPr>
        </p:nvSpPr>
        <p:spPr>
          <a:xfrm rot="5400000">
            <a:off x="4545009" y="324172"/>
            <a:ext cx="3101983" cy="77297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89" name="Google Shape;89;p16"/>
          <p:cNvSpPr txBox="1"/>
          <p:nvPr>
            <p:ph idx="10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6"/>
          <p:cNvSpPr txBox="1"/>
          <p:nvPr>
            <p:ph idx="11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16"/>
          <p:cNvSpPr/>
          <p:nvPr>
            <p:ph idx="12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7"/>
          <p:cNvSpPr txBox="1"/>
          <p:nvPr>
            <p:ph type="title"/>
          </p:nvPr>
        </p:nvSpPr>
        <p:spPr>
          <a:xfrm rot="5400000">
            <a:off x="6810676" y="2779696"/>
            <a:ext cx="4983480" cy="1298608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" name="Google Shape;94;p17"/>
          <p:cNvSpPr txBox="1"/>
          <p:nvPr>
            <p:ph idx="1" type="body"/>
          </p:nvPr>
        </p:nvSpPr>
        <p:spPr>
          <a:xfrm rot="5400000">
            <a:off x="2838641" y="329756"/>
            <a:ext cx="4983480" cy="619848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95" name="Google Shape;95;p17"/>
          <p:cNvSpPr txBox="1"/>
          <p:nvPr>
            <p:ph idx="10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7"/>
          <p:cNvSpPr txBox="1"/>
          <p:nvPr>
            <p:ph idx="11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p17"/>
          <p:cNvSpPr/>
          <p:nvPr>
            <p:ph idx="12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11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10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5"/>
          <p:cNvSpPr txBox="1"/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Gill Sans"/>
              <a:buNone/>
              <a:defRPr b="0" i="0" sz="28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5"/>
          <p:cNvSpPr txBox="1"/>
          <p:nvPr>
            <p:ph idx="1" type="body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302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30200" lvl="5" marL="2743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30200" lvl="6" marL="3200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30200" lvl="7" marL="36576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30200" lvl="8" marL="41148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sp>
        <p:nvSpPr>
          <p:cNvPr id="12" name="Google Shape;12;p5"/>
          <p:cNvSpPr txBox="1"/>
          <p:nvPr>
            <p:ph idx="10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5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sp>
        <p:nvSpPr>
          <p:cNvPr id="13" name="Google Shape;13;p5"/>
          <p:cNvSpPr txBox="1"/>
          <p:nvPr>
            <p:ph idx="11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5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sp>
        <p:nvSpPr>
          <p:cNvPr id="14" name="Google Shape;14;p5"/>
          <p:cNvSpPr/>
          <p:nvPr>
            <p:ph idx="12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marR="0" rtl="0" algn="ctr">
              <a:spcBef>
                <a:spcPts val="0"/>
              </a:spcBef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ctr">
              <a:spcBef>
                <a:spcPts val="0"/>
              </a:spcBef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ctr">
              <a:spcBef>
                <a:spcPts val="0"/>
              </a:spcBef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ctr">
              <a:spcBef>
                <a:spcPts val="0"/>
              </a:spcBef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ctr">
              <a:spcBef>
                <a:spcPts val="0"/>
              </a:spcBef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ctr">
              <a:spcBef>
                <a:spcPts val="0"/>
              </a:spcBef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ctr">
              <a:spcBef>
                <a:spcPts val="0"/>
              </a:spcBef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ctr">
              <a:spcBef>
                <a:spcPts val="0"/>
              </a:spcBef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ctr">
              <a:spcBef>
                <a:spcPts val="0"/>
              </a:spcBef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F2F2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Gill Sans"/>
              <a:buNone/>
              <a:defRPr b="0" i="0" sz="28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302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30200" lvl="5" marL="2743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30200" lvl="6" marL="3200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30200" lvl="7" marL="36576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30200" lvl="8" marL="41148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5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5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sp>
        <p:nvSpPr>
          <p:cNvPr id="26" name="Google Shape;26;p4"/>
          <p:cNvSpPr/>
          <p:nvPr>
            <p:ph idx="12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marR="0" rtl="0" algn="ctr">
              <a:spcBef>
                <a:spcPts val="0"/>
              </a:spcBef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ctr">
              <a:spcBef>
                <a:spcPts val="0"/>
              </a:spcBef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ctr">
              <a:spcBef>
                <a:spcPts val="0"/>
              </a:spcBef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ctr">
              <a:spcBef>
                <a:spcPts val="0"/>
              </a:spcBef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ctr">
              <a:spcBef>
                <a:spcPts val="0"/>
              </a:spcBef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ctr">
              <a:spcBef>
                <a:spcPts val="0"/>
              </a:spcBef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ctr">
              <a:spcBef>
                <a:spcPts val="0"/>
              </a:spcBef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ctr">
              <a:spcBef>
                <a:spcPts val="0"/>
              </a:spcBef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ctr">
              <a:spcBef>
                <a:spcPts val="0"/>
              </a:spcBef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g"/><Relationship Id="rId4" Type="http://schemas.openxmlformats.org/officeDocument/2006/relationships/image" Target="../media/image9.jpg"/><Relationship Id="rId10" Type="http://schemas.openxmlformats.org/officeDocument/2006/relationships/image" Target="../media/image1.jpg"/><Relationship Id="rId9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png"/><Relationship Id="rId7" Type="http://schemas.openxmlformats.org/officeDocument/2006/relationships/image" Target="../media/image12.png"/><Relationship Id="rId8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github.com/ryan-pelchat/competitive-programming-workshop" TargetMode="External"/><Relationship Id="rId4" Type="http://schemas.openxmlformats.org/officeDocument/2006/relationships/hyperlink" Target="https://open.kattis.com/" TargetMode="External"/><Relationship Id="rId5" Type="http://schemas.openxmlformats.org/officeDocument/2006/relationships/hyperlink" Target="https://onlinejudge.org/" TargetMode="External"/><Relationship Id="rId6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png"/><Relationship Id="rId4" Type="http://schemas.openxmlformats.org/officeDocument/2006/relationships/hyperlink" Target="https://www.freecodecamp.org/news/big-o-cheat-sheet-time-complexity-chart/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wiki.python.org/moin/TimeComplexity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visualgo.net/en/array" TargetMode="External"/><Relationship Id="rId4" Type="http://schemas.openxmlformats.org/officeDocument/2006/relationships/hyperlink" Target="https://wiki.python.org/moin/TimeComplexity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wiki.python.org/moin/TimeComplexity" TargetMode="External"/><Relationship Id="rId4" Type="http://schemas.openxmlformats.org/officeDocument/2006/relationships/hyperlink" Target="https://visualgo.net/en/list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visualgo.net/en/heap" TargetMode="External"/><Relationship Id="rId4" Type="http://schemas.openxmlformats.org/officeDocument/2006/relationships/image" Target="../media/image10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Relationship Id="rId4" Type="http://schemas.openxmlformats.org/officeDocument/2006/relationships/hyperlink" Target="https://visualgo.net/en/hashtable" TargetMode="External"/><Relationship Id="rId5" Type="http://schemas.openxmlformats.org/officeDocument/2006/relationships/hyperlink" Target="https://wiki.python.org/moin/TimeComplexity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open.kattis.com/problems/jollyjumpers" TargetMode="External"/><Relationship Id="rId4" Type="http://schemas.openxmlformats.org/officeDocument/2006/relationships/hyperlink" Target="https://open.kattis.com/problems/epigdanceoff" TargetMode="External"/><Relationship Id="rId11" Type="http://schemas.openxmlformats.org/officeDocument/2006/relationships/hyperlink" Target="https://open.kattis.com/problems/bracketmatching" TargetMode="External"/><Relationship Id="rId10" Type="http://schemas.openxmlformats.org/officeDocument/2006/relationships/hyperlink" Target="https://open.kattis.com/problems/recount" TargetMode="External"/><Relationship Id="rId9" Type="http://schemas.openxmlformats.org/officeDocument/2006/relationships/hyperlink" Target="https://open.kattis.com/problems/shiritori" TargetMode="External"/><Relationship Id="rId5" Type="http://schemas.openxmlformats.org/officeDocument/2006/relationships/hyperlink" Target="https://open.kattis.com/problems/pairingsocks" TargetMode="External"/><Relationship Id="rId6" Type="http://schemas.openxmlformats.org/officeDocument/2006/relationships/hyperlink" Target="https://open.kattis.com/problems/integerlists" TargetMode="External"/><Relationship Id="rId7" Type="http://schemas.openxmlformats.org/officeDocument/2006/relationships/hyperlink" Target="https://open.kattis.com/problems/stockprices" TargetMode="External"/><Relationship Id="rId8" Type="http://schemas.openxmlformats.org/officeDocument/2006/relationships/hyperlink" Target="https://open.kattis.com/problems/esej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"/>
          <p:cNvSpPr txBox="1"/>
          <p:nvPr>
            <p:ph type="ctrTitle"/>
          </p:nvPr>
        </p:nvSpPr>
        <p:spPr>
          <a:xfrm>
            <a:off x="1600200" y="1124869"/>
            <a:ext cx="8991600" cy="1645800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4040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1" anchor="ctr" bIns="182875" lIns="274300" spcFirstLastPara="1" rIns="274300" wrap="square" tIns="1828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</a:pPr>
            <a:r>
              <a:rPr lang="en-US"/>
              <a:t>WORKSHOP 1</a:t>
            </a:r>
            <a:endParaRPr/>
          </a:p>
        </p:txBody>
      </p:sp>
      <p:sp>
        <p:nvSpPr>
          <p:cNvPr id="104" name="Google Shape;104;p1"/>
          <p:cNvSpPr txBox="1"/>
          <p:nvPr/>
        </p:nvSpPr>
        <p:spPr>
          <a:xfrm>
            <a:off x="3242390" y="3399885"/>
            <a:ext cx="5707200" cy="25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Introduction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Workshop Format</a:t>
            </a:r>
            <a:endParaRPr sz="18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Resources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1.3.3 Introduction to Algorithm Analysis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2.2.1 Array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2.2.5 Linked Data Structures (overview)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2.2.6 Special Stack-based Problems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2.3.1 Binary Heap (Priority Queue)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2.3.2 Hash Table 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"/>
          <p:cNvSpPr txBox="1"/>
          <p:nvPr>
            <p:ph type="title"/>
          </p:nvPr>
        </p:nvSpPr>
        <p:spPr>
          <a:xfrm>
            <a:off x="2231136" y="347175"/>
            <a:ext cx="7729728" cy="662227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Ryan Pelchat</a:t>
            </a:r>
            <a:endParaRPr/>
          </a:p>
        </p:txBody>
      </p:sp>
      <p:pic>
        <p:nvPicPr>
          <p:cNvPr id="111" name="Google Shape;111;p2" title="team 2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3700" y="1094600"/>
            <a:ext cx="3970227" cy="297767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2" title="IMG_2091.jpe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34200" y="1259200"/>
            <a:ext cx="1802876" cy="240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2" title="IMG_2082.jpeg"/>
          <p:cNvPicPr preferRelativeResize="0"/>
          <p:nvPr/>
        </p:nvPicPr>
        <p:blipFill rotWithShape="1">
          <a:blip r:embed="rId5">
            <a:alphaModFix/>
          </a:blip>
          <a:srcRect b="23096" l="0" r="0" t="22082"/>
          <a:stretch/>
        </p:blipFill>
        <p:spPr>
          <a:xfrm>
            <a:off x="141725" y="3748250"/>
            <a:ext cx="3970222" cy="29021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606687" y="3748262"/>
            <a:ext cx="1400349" cy="1400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2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636588" y="5309873"/>
            <a:ext cx="1340525" cy="1340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2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681317" y="4473431"/>
            <a:ext cx="3237837" cy="20125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" title="IMG_8343.jpeg"/>
          <p:cNvPicPr preferRelativeResize="0"/>
          <p:nvPr/>
        </p:nvPicPr>
        <p:blipFill rotWithShape="1">
          <a:blip r:embed="rId9">
            <a:alphaModFix/>
          </a:blip>
          <a:srcRect b="8235" l="0" r="0" t="21436"/>
          <a:stretch/>
        </p:blipFill>
        <p:spPr>
          <a:xfrm>
            <a:off x="8933889" y="5279963"/>
            <a:ext cx="1493311" cy="14003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" title="IMG_8344.jpe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8055319" y="4389422"/>
            <a:ext cx="2482775" cy="5734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3"/>
          <p:cNvSpPr txBox="1"/>
          <p:nvPr>
            <p:ph type="title"/>
          </p:nvPr>
        </p:nvSpPr>
        <p:spPr>
          <a:xfrm>
            <a:off x="2231136" y="228421"/>
            <a:ext cx="7729728" cy="662227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FORMAT</a:t>
            </a:r>
            <a:endParaRPr/>
          </a:p>
        </p:txBody>
      </p:sp>
      <p:sp>
        <p:nvSpPr>
          <p:cNvPr id="125" name="Google Shape;125;p3"/>
          <p:cNvSpPr txBox="1"/>
          <p:nvPr>
            <p:ph idx="1" type="body"/>
          </p:nvPr>
        </p:nvSpPr>
        <p:spPr>
          <a:xfrm>
            <a:off x="754350" y="1202275"/>
            <a:ext cx="10683300" cy="471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Problem Reviews with Ben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Workshop with me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Focused on theory using Python, most of the code libraries will be up to you (I will give tips from time to time)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Suggested practice problems relating to the workshop given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Next week Ben will review the solution to one of the problems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Next week I will release my personal solutions to the problems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All course files will be </a:t>
            </a:r>
            <a:r>
              <a:rPr lang="en-US" sz="2000"/>
              <a:t>at</a:t>
            </a:r>
            <a:r>
              <a:rPr lang="en-US" sz="2000"/>
              <a:t> this link: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3"/>
              </a:rPr>
              <a:t>https://github.com/ryan-pelchat/competitive-programming-workshop</a:t>
            </a:r>
            <a:r>
              <a:rPr lang="en-US" sz="2000"/>
              <a:t> 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We will be using Kattis and UVa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Sign up for Kattis (</a:t>
            </a:r>
            <a:r>
              <a:rPr lang="en-US" sz="2000" u="sng">
                <a:solidFill>
                  <a:schemeClr val="hlink"/>
                </a:solidFill>
                <a:hlinkClick r:id="rId4"/>
              </a:rPr>
              <a:t>https://open.kattis.com/</a:t>
            </a:r>
            <a:r>
              <a:rPr lang="en-US" sz="2000"/>
              <a:t>) 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Sign up for UVa online judge (</a:t>
            </a:r>
            <a:r>
              <a:rPr lang="en-US" sz="2000" u="sng">
                <a:solidFill>
                  <a:schemeClr val="hlink"/>
                </a:solidFill>
                <a:hlinkClick r:id="rId5"/>
              </a:rPr>
              <a:t>https://onlinejudge.org/</a:t>
            </a:r>
            <a:r>
              <a:rPr lang="en-US" sz="2000"/>
              <a:t>)</a:t>
            </a:r>
            <a:endParaRPr sz="2000"/>
          </a:p>
          <a:p>
            <a:pPr indent="0" lvl="0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</p:txBody>
      </p:sp>
      <p:sp>
        <p:nvSpPr>
          <p:cNvPr id="126" name="Google Shape;126;p3"/>
          <p:cNvSpPr txBox="1"/>
          <p:nvPr>
            <p:ph idx="1" type="body"/>
          </p:nvPr>
        </p:nvSpPr>
        <p:spPr>
          <a:xfrm>
            <a:off x="2231100" y="5920100"/>
            <a:ext cx="77298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/>
              <a:t>If you have a question, raise your hand anytime!</a:t>
            </a:r>
            <a:endParaRPr sz="2700"/>
          </a:p>
        </p:txBody>
      </p:sp>
      <p:pic>
        <p:nvPicPr>
          <p:cNvPr id="127" name="Google Shape;127;p3" title="frame(2)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942500" y="2201750"/>
            <a:ext cx="2126175" cy="2126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7c4946a550_0_9"/>
          <p:cNvSpPr txBox="1"/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Resources</a:t>
            </a:r>
            <a:endParaRPr/>
          </a:p>
        </p:txBody>
      </p:sp>
      <p:sp>
        <p:nvSpPr>
          <p:cNvPr id="134" name="Google Shape;134;g37c4946a550_0_9"/>
          <p:cNvSpPr txBox="1"/>
          <p:nvPr>
            <p:ph idx="1" type="body"/>
          </p:nvPr>
        </p:nvSpPr>
        <p:spPr>
          <a:xfrm>
            <a:off x="2231125" y="1431046"/>
            <a:ext cx="7729800" cy="10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/>
              <a:t>Competitive Programming 4 -- Steven Halim, Felix Halim, Suhendry Effendy -- Competitive Programming, 1 &amp; 2, 4th Edition</a:t>
            </a:r>
            <a:endParaRPr sz="2000"/>
          </a:p>
        </p:txBody>
      </p:sp>
      <p:pic>
        <p:nvPicPr>
          <p:cNvPr id="135" name="Google Shape;135;g37c4946a550_0_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31125" y="2738200"/>
            <a:ext cx="2703166" cy="34614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7c4946a550_0_123"/>
          <p:cNvSpPr txBox="1"/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Resources</a:t>
            </a:r>
            <a:endParaRPr/>
          </a:p>
        </p:txBody>
      </p:sp>
      <p:sp>
        <p:nvSpPr>
          <p:cNvPr id="142" name="Google Shape;142;g37c4946a550_0_123"/>
          <p:cNvSpPr txBox="1"/>
          <p:nvPr>
            <p:ph idx="1" type="body"/>
          </p:nvPr>
        </p:nvSpPr>
        <p:spPr>
          <a:xfrm>
            <a:off x="786975" y="1431050"/>
            <a:ext cx="10365600" cy="10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/>
              <a:t>Zelle J. - Python Programming An Introduction to Computer Science, 3rd Edition - 2017</a:t>
            </a:r>
            <a:endParaRPr sz="2000"/>
          </a:p>
        </p:txBody>
      </p:sp>
      <p:pic>
        <p:nvPicPr>
          <p:cNvPr id="143" name="Google Shape;143;g37c4946a550_0_1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17350" y="2316850"/>
            <a:ext cx="3067800" cy="37827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7c4946a550_0_18"/>
          <p:cNvSpPr txBox="1"/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1.3.3 Introduction to Algorithm Analysis</a:t>
            </a:r>
            <a:endParaRPr/>
          </a:p>
        </p:txBody>
      </p:sp>
      <p:sp>
        <p:nvSpPr>
          <p:cNvPr id="150" name="Google Shape;150;g37c4946a550_0_18"/>
          <p:cNvSpPr txBox="1"/>
          <p:nvPr>
            <p:ph idx="1" type="body"/>
          </p:nvPr>
        </p:nvSpPr>
        <p:spPr>
          <a:xfrm>
            <a:off x="494675" y="1096825"/>
            <a:ext cx="11231400" cy="26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What is time complexity?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Denoted by t</a:t>
            </a:r>
            <a:r>
              <a:rPr lang="en-US" sz="2000"/>
              <a:t>he Big-Oh, ex: O(n), O(n^2), O(nlogn) etc…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Time complexity measures how the number of operations grows with input size as n→∞.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What is space complexity?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Big-Oh notation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Space complexity measures how the memory required grows with input size as n→∞.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>
                <a:highlight>
                  <a:srgbClr val="FFFF00"/>
                </a:highlight>
              </a:rPr>
              <a:t>bit level chapter?</a:t>
            </a:r>
            <a:endParaRPr sz="2000">
              <a:highlight>
                <a:srgbClr val="FFFF00"/>
              </a:highlight>
            </a:endParaRPr>
          </a:p>
        </p:txBody>
      </p:sp>
      <p:pic>
        <p:nvPicPr>
          <p:cNvPr id="151" name="Google Shape;151;g37c4946a550_0_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31225" y="3479575"/>
            <a:ext cx="5152251" cy="3153575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g37c4946a550_0_18"/>
          <p:cNvSpPr txBox="1"/>
          <p:nvPr>
            <p:ph idx="1" type="body"/>
          </p:nvPr>
        </p:nvSpPr>
        <p:spPr>
          <a:xfrm>
            <a:off x="480300" y="5847450"/>
            <a:ext cx="11231400" cy="7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Sources: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1200" u="sng">
                <a:solidFill>
                  <a:srgbClr val="467886"/>
                </a:solidFill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https://www.freecodecamp.org/news/big-o-cheat-sheet-time-complexity-chart/</a:t>
            </a:r>
            <a:r>
              <a:rPr lang="en-US" sz="2000"/>
              <a:t> </a:t>
            </a:r>
            <a:endParaRPr sz="2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7c4946a550_0_105"/>
          <p:cNvSpPr txBox="1"/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1.3.3 Introduction to Algorithm Analysis</a:t>
            </a:r>
            <a:endParaRPr/>
          </a:p>
        </p:txBody>
      </p:sp>
      <p:sp>
        <p:nvSpPr>
          <p:cNvPr id="159" name="Google Shape;159;g37c4946a550_0_105"/>
          <p:cNvSpPr txBox="1"/>
          <p:nvPr>
            <p:ph idx="1" type="body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Why is time and space complexity important?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Understanding complexity helps you quickly decide whether an approach will run fast enough and fit in memory, so you don’t waste submissions and time.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What makes the best solution?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Meets the constraints for time and space complexity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Simple for </a:t>
            </a:r>
            <a:r>
              <a:rPr lang="en-US" sz="2000"/>
              <a:t>you to implement </a:t>
            </a:r>
            <a:endParaRPr sz="2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7c4946a550_0_78"/>
          <p:cNvSpPr txBox="1"/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1.3.3 Introduction to Algorithm Analysis</a:t>
            </a:r>
            <a:endParaRPr/>
          </a:p>
        </p:txBody>
      </p:sp>
      <p:sp>
        <p:nvSpPr>
          <p:cNvPr id="166" name="Google Shape;166;g37c4946a550_0_78"/>
          <p:cNvSpPr txBox="1"/>
          <p:nvPr>
            <p:ph idx="1" type="body"/>
          </p:nvPr>
        </p:nvSpPr>
        <p:spPr>
          <a:xfrm>
            <a:off x="494675" y="1096825"/>
            <a:ext cx="11231400" cy="486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Activity!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A “simple operation” can be considered something done in constant time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When we say ‘simple operation’ = O(1), we’re ignoring real-world machine details and just focusing on asymptotic growth.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Disk I/O not always constant time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Hash table lookup is </a:t>
            </a:r>
            <a:r>
              <a:rPr lang="en-US" sz="2000"/>
              <a:t>expected</a:t>
            </a:r>
            <a:r>
              <a:rPr lang="en-US" sz="2000"/>
              <a:t> O(1), but worst-case O(n)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A modern computer can calculate about 10^8 or 100 Million operations per second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Gives you a rule of thumb when estimating if you will fit the constraints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Just like time complexity measures how runtime grows with input size, space complexity measures how memory usage grows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Keep in mind how many objects/data structures you create and how large they become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Try to re-use structures instead of making new ones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Keep track of how large your stack frame and associated objects inside becomes when you use a recursive solution</a:t>
            </a:r>
            <a:endParaRPr sz="2000"/>
          </a:p>
          <a:p>
            <a:pPr indent="-355600" lvl="2" marL="13716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Every recursive call stores local variables on the stack, too much recursion can blow your memory cap even if each call is cheap</a:t>
            </a:r>
            <a:endParaRPr sz="2000"/>
          </a:p>
          <a:p>
            <a:pPr indent="-355600" lvl="2" marL="13716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 will expand on recursion in a later workshop</a:t>
            </a:r>
            <a:endParaRPr sz="2000"/>
          </a:p>
        </p:txBody>
      </p:sp>
      <p:sp>
        <p:nvSpPr>
          <p:cNvPr id="167" name="Google Shape;167;g37c4946a550_0_78"/>
          <p:cNvSpPr txBox="1"/>
          <p:nvPr>
            <p:ph idx="1" type="body"/>
          </p:nvPr>
        </p:nvSpPr>
        <p:spPr>
          <a:xfrm>
            <a:off x="480300" y="5847450"/>
            <a:ext cx="11231400" cy="7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20000"/>
          </a:bodyPr>
          <a:lstStyle/>
          <a:p>
            <a:pPr indent="-346075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Sources:</a:t>
            </a:r>
            <a:endParaRPr sz="2000"/>
          </a:p>
          <a:p>
            <a:pPr indent="-346075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3"/>
              </a:rPr>
              <a:t>https://wiki.python.org/moin/TimeComplexity</a:t>
            </a:r>
            <a:r>
              <a:rPr lang="en-US" sz="2000"/>
              <a:t> </a:t>
            </a:r>
            <a:endParaRPr sz="2000"/>
          </a:p>
          <a:p>
            <a:pPr indent="-346075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Competitive Programming 4 section 1.3.3</a:t>
            </a:r>
            <a:endParaRPr sz="2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7c4946a550_0_116"/>
          <p:cNvSpPr txBox="1"/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2.2.1 Array</a:t>
            </a:r>
            <a:endParaRPr/>
          </a:p>
        </p:txBody>
      </p:sp>
      <p:sp>
        <p:nvSpPr>
          <p:cNvPr id="174" name="Google Shape;174;g37c4946a550_0_116"/>
          <p:cNvSpPr txBox="1"/>
          <p:nvPr>
            <p:ph idx="1" type="body"/>
          </p:nvPr>
        </p:nvSpPr>
        <p:spPr>
          <a:xfrm>
            <a:off x="494675" y="1096825"/>
            <a:ext cx="11231400" cy="4750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20000"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What is an array?</a:t>
            </a:r>
            <a:endParaRPr sz="2000"/>
          </a:p>
          <a:p>
            <a:pPr indent="-3556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Is a collection of homogenous sequential data to be stored and later accessed using their indices</a:t>
            </a:r>
            <a:endParaRPr sz="2000"/>
          </a:p>
          <a:p>
            <a:pPr indent="-3556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Native support in C/C++ and Java.</a:t>
            </a:r>
            <a:endParaRPr sz="2000"/>
          </a:p>
          <a:p>
            <a:pPr indent="-3556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No built-in support for static array in Python.</a:t>
            </a:r>
            <a:endParaRPr sz="2000"/>
          </a:p>
          <a:p>
            <a:pPr indent="-3556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Not resizeable</a:t>
            </a:r>
            <a:endParaRPr sz="2000"/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Dynamic (Resizeable) Array</a:t>
            </a:r>
            <a:endParaRPr sz="2000"/>
          </a:p>
          <a:p>
            <a:pPr indent="-3556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C++ STL vector.</a:t>
            </a:r>
            <a:endParaRPr sz="2000"/>
          </a:p>
          <a:p>
            <a:pPr indent="-3556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Java ArrayList (preferred in Competitive Programming, as it is faster) or Vector.</a:t>
            </a:r>
            <a:endParaRPr sz="2000"/>
          </a:p>
          <a:p>
            <a:pPr indent="-3556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Python list</a:t>
            </a:r>
            <a:endParaRPr sz="2000"/>
          </a:p>
          <a:p>
            <a:pPr indent="-3556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Resizable, the computer will take care of increasing or decreasing the size of the array for you.</a:t>
            </a:r>
            <a:endParaRPr sz="2000"/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Sorting</a:t>
            </a:r>
            <a:endParaRPr sz="2000"/>
          </a:p>
          <a:p>
            <a:pPr indent="-3556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Python: O(nlogn)</a:t>
            </a:r>
            <a:endParaRPr sz="2000"/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Searching</a:t>
            </a:r>
            <a:endParaRPr sz="2000"/>
          </a:p>
          <a:p>
            <a:pPr indent="-3556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Python Unsorted Array: O(n)</a:t>
            </a:r>
            <a:endParaRPr sz="2000"/>
          </a:p>
          <a:p>
            <a:pPr indent="-3556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Python Sorted Array: O(logn) using binary search</a:t>
            </a:r>
            <a:endParaRPr sz="2000"/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3"/>
              </a:rPr>
              <a:t>https://visualgo.net/en/array</a:t>
            </a:r>
            <a:r>
              <a:rPr lang="en-US" sz="2000"/>
              <a:t> </a:t>
            </a:r>
            <a:endParaRPr sz="2000"/>
          </a:p>
        </p:txBody>
      </p:sp>
      <p:sp>
        <p:nvSpPr>
          <p:cNvPr id="175" name="Google Shape;175;g37c4946a550_0_116"/>
          <p:cNvSpPr txBox="1"/>
          <p:nvPr>
            <p:ph idx="1" type="body"/>
          </p:nvPr>
        </p:nvSpPr>
        <p:spPr>
          <a:xfrm>
            <a:off x="480300" y="5847450"/>
            <a:ext cx="11231400" cy="7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20000"/>
          </a:bodyPr>
          <a:lstStyle/>
          <a:p>
            <a:pPr indent="-346075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Sources:</a:t>
            </a:r>
            <a:endParaRPr sz="2000"/>
          </a:p>
          <a:p>
            <a:pPr indent="-346075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4"/>
              </a:rPr>
              <a:t>https://wiki.python.org/moin/TimeComplexity</a:t>
            </a:r>
            <a:r>
              <a:rPr lang="en-US" sz="2000"/>
              <a:t> </a:t>
            </a:r>
            <a:endParaRPr sz="2000"/>
          </a:p>
          <a:p>
            <a:pPr indent="-346075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Competitive Programming 4 section 2.2.1</a:t>
            </a:r>
            <a:endParaRPr sz="2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end="14" st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end="15" st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7c4946a550_0_141"/>
          <p:cNvSpPr txBox="1"/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2.2.5 Linked Data Structures (overview)</a:t>
            </a:r>
            <a:endParaRPr/>
          </a:p>
        </p:txBody>
      </p:sp>
      <p:sp>
        <p:nvSpPr>
          <p:cNvPr id="182" name="Google Shape;182;g37c4946a550_0_141"/>
          <p:cNvSpPr txBox="1"/>
          <p:nvPr>
            <p:ph idx="1" type="body"/>
          </p:nvPr>
        </p:nvSpPr>
        <p:spPr>
          <a:xfrm>
            <a:off x="494675" y="1096825"/>
            <a:ext cx="11231400" cy="48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What is a Linked List?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A linked list is a linear data structure where each element (node) stores a value and a pointer to the next node, forming a chain of connected elements.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Inefficient, we won’t be using this in the competition.</a:t>
            </a:r>
            <a:endParaRPr sz="2000"/>
          </a:p>
          <a:p>
            <a:pPr indent="0" lvl="0" marL="9144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What is a Stack?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A stack is a linear data structure that stores elements in a last-in, first-out (LIFO) order, where insertions and removals occur only at the top.</a:t>
            </a:r>
            <a:endParaRPr sz="2000"/>
          </a:p>
          <a:p>
            <a:pPr indent="0" lvl="0" marL="9144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What is a Queue?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A queue is a linear data structure that stores elements in a first-in, first-out (FIFO) order, where insertions happen at the rear and removals happen at the front.</a:t>
            </a:r>
            <a:endParaRPr sz="2000"/>
          </a:p>
          <a:p>
            <a:pPr indent="0" lvl="0" marL="9144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What happens if you need to add to the front of a queue as well as the back?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Double-ended Queue (Deque)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Is a linear data structure that allows insertions and removals from both the front and the rear.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But even looking at the middle is slow, and adding to or removing from the middle is slower still. </a:t>
            </a:r>
            <a:endParaRPr sz="2000"/>
          </a:p>
        </p:txBody>
      </p:sp>
      <p:sp>
        <p:nvSpPr>
          <p:cNvPr id="183" name="Google Shape;183;g37c4946a550_0_141"/>
          <p:cNvSpPr txBox="1"/>
          <p:nvPr>
            <p:ph idx="1" type="body"/>
          </p:nvPr>
        </p:nvSpPr>
        <p:spPr>
          <a:xfrm>
            <a:off x="480300" y="5809275"/>
            <a:ext cx="11231400" cy="98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85000" lnSpcReduction="20000"/>
          </a:bodyPr>
          <a:lstStyle/>
          <a:p>
            <a:pPr indent="-3365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Sources:</a:t>
            </a:r>
            <a:endParaRPr sz="2000"/>
          </a:p>
          <a:p>
            <a:pPr indent="-3365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3"/>
              </a:rPr>
              <a:t>https://wiki.python.org/moin/TimeComplexity</a:t>
            </a:r>
            <a:r>
              <a:rPr lang="en-US" sz="2000"/>
              <a:t> </a:t>
            </a:r>
            <a:endParaRPr sz="2000"/>
          </a:p>
          <a:p>
            <a:pPr indent="-3365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Competitive Programming 4 section 2.2.5</a:t>
            </a:r>
            <a:endParaRPr sz="2000"/>
          </a:p>
          <a:p>
            <a:pPr indent="-3365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4"/>
              </a:rPr>
              <a:t>https://visualgo.net/en/list</a:t>
            </a:r>
            <a:r>
              <a:rPr lang="en-US" sz="2000"/>
              <a:t>  </a:t>
            </a:r>
            <a:endParaRPr sz="2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7c4946a550_0_147"/>
          <p:cNvSpPr txBox="1"/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2.2.6 Special Stack-based Problems</a:t>
            </a:r>
            <a:endParaRPr/>
          </a:p>
        </p:txBody>
      </p:sp>
      <p:sp>
        <p:nvSpPr>
          <p:cNvPr id="190" name="Google Shape;190;g37c4946a550_0_147"/>
          <p:cNvSpPr txBox="1"/>
          <p:nvPr>
            <p:ph idx="1" type="body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Parentheses Matching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Given a string containing brackets, return True if all the parentheses inside the string are properly closed, False otherwise. 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How can we solve this? What can we use?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We can use a stack! Using the LIFO strategy! 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Push open brackets, pop matching closing ones.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If at the end of the string, the stack is empty then it is all okay! If not, then it is not okay.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What is the runtime?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O(n)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</p:txBody>
      </p:sp>
      <p:pic>
        <p:nvPicPr>
          <p:cNvPr id="191" name="Google Shape;191;g37c4946a550_0_1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65799" y="3637450"/>
            <a:ext cx="8400049" cy="260740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g37c4946a550_0_147"/>
          <p:cNvSpPr txBox="1"/>
          <p:nvPr>
            <p:ph idx="1" type="body"/>
          </p:nvPr>
        </p:nvSpPr>
        <p:spPr>
          <a:xfrm>
            <a:off x="480300" y="5976025"/>
            <a:ext cx="11231400" cy="75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Sources: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Competitive Programming 4 section 2.2.6</a:t>
            </a:r>
            <a:endParaRPr sz="2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7c4946a550_0_166"/>
          <p:cNvSpPr txBox="1"/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2.3.1 Binary Heap (Priority Queue) </a:t>
            </a:r>
            <a:endParaRPr/>
          </a:p>
        </p:txBody>
      </p:sp>
      <p:sp>
        <p:nvSpPr>
          <p:cNvPr id="199" name="Google Shape;199;g37c4946a550_0_166"/>
          <p:cNvSpPr txBox="1"/>
          <p:nvPr>
            <p:ph idx="1" type="body"/>
          </p:nvPr>
        </p:nvSpPr>
        <p:spPr>
          <a:xfrm>
            <a:off x="494675" y="1096825"/>
            <a:ext cx="11231400" cy="44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What is a heap?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Data structure that satisfies 2 properties</a:t>
            </a:r>
            <a:endParaRPr sz="2000"/>
          </a:p>
          <a:p>
            <a:pPr indent="-355600" lvl="2" marL="13716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b="1" lang="en-US" sz="2000"/>
              <a:t>Shape property</a:t>
            </a:r>
            <a:r>
              <a:rPr lang="en-US" sz="2000"/>
              <a:t>: it is a complete binary tree (all levels are fully filled except possibly the last, which is filled from left to right).</a:t>
            </a:r>
            <a:endParaRPr sz="2000"/>
          </a:p>
          <a:p>
            <a:pPr indent="-355600" lvl="2" marL="13716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b="1" lang="en-US" sz="2000"/>
              <a:t>Heap property</a:t>
            </a:r>
            <a:r>
              <a:rPr lang="en-US" sz="2000"/>
              <a:t>: every parent node compares in a consistent way with its children</a:t>
            </a:r>
            <a:endParaRPr sz="2000"/>
          </a:p>
          <a:p>
            <a:pPr indent="-355600" lvl="3" marL="18288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In a </a:t>
            </a:r>
            <a:r>
              <a:rPr b="1" lang="en-US" sz="2000"/>
              <a:t>min-heap</a:t>
            </a:r>
            <a:r>
              <a:rPr lang="en-US" sz="2000"/>
              <a:t>, each parent is less than or equal to its children → the smallest element is always at the root.</a:t>
            </a:r>
            <a:endParaRPr sz="2000"/>
          </a:p>
          <a:p>
            <a:pPr indent="-355600" lvl="3" marL="18288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In a </a:t>
            </a:r>
            <a:r>
              <a:rPr b="1" lang="en-US" sz="2000"/>
              <a:t>max-heap</a:t>
            </a:r>
            <a:r>
              <a:rPr lang="en-US" sz="2000"/>
              <a:t>, each parent is greater than or equal to its children → the largest element is always at the root.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Binary Heap is what heapq in Python uses and it is a specific implementation of a Heap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Why is this useful?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Binary Heap (Priority Queues) Lets you always grab the largest/smallest item in O(logn) time instead of inserting and sorting which can be O(nlogn) time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You have a problem with incoming tasks with various levels of priority, you can always get the most important one any time</a:t>
            </a:r>
            <a:endParaRPr sz="2000"/>
          </a:p>
        </p:txBody>
      </p:sp>
      <p:sp>
        <p:nvSpPr>
          <p:cNvPr id="200" name="Google Shape;200;g37c4946a550_0_166"/>
          <p:cNvSpPr txBox="1"/>
          <p:nvPr>
            <p:ph idx="1" type="body"/>
          </p:nvPr>
        </p:nvSpPr>
        <p:spPr>
          <a:xfrm>
            <a:off x="480300" y="5809275"/>
            <a:ext cx="11231400" cy="98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Sources: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Competitive Programming 4 section 2.3.1</a:t>
            </a:r>
            <a:endParaRPr sz="2000"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3"/>
              </a:rPr>
              <a:t>https://visualgo.net/en/heap</a:t>
            </a:r>
            <a:r>
              <a:rPr lang="en-US" sz="2000"/>
              <a:t> </a:t>
            </a:r>
            <a:endParaRPr sz="2000"/>
          </a:p>
        </p:txBody>
      </p:sp>
      <p:pic>
        <p:nvPicPr>
          <p:cNvPr id="201" name="Google Shape;201;g37c4946a550_0_16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91425" y="5048000"/>
            <a:ext cx="6112075" cy="175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7c4946a550_0_183"/>
          <p:cNvSpPr txBox="1"/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2.3.2 Hash Table</a:t>
            </a:r>
            <a:endParaRPr/>
          </a:p>
        </p:txBody>
      </p:sp>
      <p:sp>
        <p:nvSpPr>
          <p:cNvPr id="208" name="Google Shape;208;g37c4946a550_0_183"/>
          <p:cNvSpPr txBox="1"/>
          <p:nvPr>
            <p:ph idx="1" type="body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85000" lnSpcReduction="20000"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What are Hash Tables?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Hash Table is a non-linear data structure that requires very fast (expected) O(1) insertion, search/retrieval/update, or removal of keys if the keys do not have to be sorted.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A hash table stores key–value pairs in an array by running each key through a hash function (turns it into an index), then places the value at that index.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If two keys land on the same index (collision), the table resolves it by a few ways but a common way is by using linked lists.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Worst case can be O(n), but is O(1) on average.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In python they are dict/set</a:t>
            </a:r>
            <a:endParaRPr sz="20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Why is this useful?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Near instant lookup tool! Insertion, search/retrieval/update is super duper fast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Good for ex:</a:t>
            </a:r>
            <a:endParaRPr sz="2000"/>
          </a:p>
          <a:p>
            <a:pPr indent="-336550" lvl="2" marL="1371600" rtl="0" algn="l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Frequency counting (how many times does a number/letter appear?).</a:t>
            </a:r>
            <a:endParaRPr sz="2000"/>
          </a:p>
          <a:p>
            <a:pPr indent="-336550" lvl="2" marL="1371600" rtl="0" algn="l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Membership tests (has this state/word/number been seen before?).</a:t>
            </a:r>
            <a:endParaRPr sz="2000"/>
          </a:p>
          <a:p>
            <a:pPr indent="-336550" lvl="2" marL="1371600" rtl="0" algn="l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Mapping (store extra info keyed by a string or ID).</a:t>
            </a:r>
            <a:endParaRPr sz="2000"/>
          </a:p>
        </p:txBody>
      </p:sp>
      <p:pic>
        <p:nvPicPr>
          <p:cNvPr id="209" name="Google Shape;209;g37c4946a550_0_1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42500" y="4364725"/>
            <a:ext cx="6781875" cy="194480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g37c4946a550_0_183"/>
          <p:cNvSpPr txBox="1"/>
          <p:nvPr>
            <p:ph idx="1" type="body"/>
          </p:nvPr>
        </p:nvSpPr>
        <p:spPr>
          <a:xfrm>
            <a:off x="480300" y="5809275"/>
            <a:ext cx="11231400" cy="98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85000" lnSpcReduction="20000"/>
          </a:bodyPr>
          <a:lstStyle/>
          <a:p>
            <a:pPr indent="-3365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Sources:</a:t>
            </a:r>
            <a:endParaRPr sz="2000"/>
          </a:p>
          <a:p>
            <a:pPr indent="-3365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Competitive Programming 4 section 2.3.2</a:t>
            </a:r>
            <a:endParaRPr sz="2000"/>
          </a:p>
          <a:p>
            <a:pPr indent="-3365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4"/>
              </a:rPr>
              <a:t>https://visualgo.net/en/hashtable</a:t>
            </a:r>
            <a:r>
              <a:rPr lang="en-US" sz="2000"/>
              <a:t> </a:t>
            </a:r>
            <a:endParaRPr sz="2000"/>
          </a:p>
          <a:p>
            <a:pPr indent="-3365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5"/>
              </a:rPr>
              <a:t>https://wiki.python.org/moin/TimeComplexity</a:t>
            </a:r>
            <a:r>
              <a:rPr lang="en-US" sz="2000"/>
              <a:t> </a:t>
            </a:r>
            <a:r>
              <a:rPr lang="en-US" sz="2000"/>
              <a:t> </a:t>
            </a:r>
            <a:endParaRPr sz="2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7c4946a550_0_55"/>
          <p:cNvSpPr txBox="1"/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Suggested Homework</a:t>
            </a:r>
            <a:endParaRPr/>
          </a:p>
        </p:txBody>
      </p:sp>
      <p:sp>
        <p:nvSpPr>
          <p:cNvPr id="217" name="Google Shape;217;g37c4946a550_0_55"/>
          <p:cNvSpPr txBox="1"/>
          <p:nvPr>
            <p:ph idx="1" type="body"/>
          </p:nvPr>
        </p:nvSpPr>
        <p:spPr>
          <a:xfrm>
            <a:off x="282125" y="1147625"/>
            <a:ext cx="11766300" cy="5355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/>
              <a:t>2.2</a:t>
            </a:r>
            <a:endParaRPr/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SzPts val="2200"/>
              <a:buChar char="•"/>
            </a:pPr>
            <a:r>
              <a:rPr lang="en-US" sz="2000"/>
              <a:t>a. 1D Array Manipulation, Medium</a:t>
            </a:r>
            <a:endParaRPr sz="2400"/>
          </a:p>
          <a:p>
            <a:pPr indent="-355600" lvl="2" marL="13716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3"/>
              </a:rPr>
              <a:t>https://open.kattis.com/problems/jollyjumpers</a:t>
            </a:r>
            <a:r>
              <a:rPr lang="en-US" sz="2000"/>
              <a:t> 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b. 2D Array Manipulation, Easier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4"/>
              </a:rPr>
              <a:t>https://open.kattis.com/problems/epigdanceoff</a:t>
            </a:r>
            <a:r>
              <a:rPr lang="en-US" sz="2000"/>
              <a:t> 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j. Stack</a:t>
            </a:r>
            <a:endParaRPr sz="2000"/>
          </a:p>
          <a:p>
            <a:pPr indent="-355600" lvl="2" marL="13716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5"/>
              </a:rPr>
              <a:t>https://open.kattis.com/problems/pairingsocks</a:t>
            </a:r>
            <a:r>
              <a:rPr lang="en-US" sz="2000"/>
              <a:t> 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l. List/Queue/Deque</a:t>
            </a:r>
            <a:endParaRPr sz="2000"/>
          </a:p>
          <a:p>
            <a:pPr indent="-355600" lvl="2" marL="13716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6"/>
              </a:rPr>
              <a:t>https://open.kattis.com/problems/integerlists</a:t>
            </a:r>
            <a:r>
              <a:rPr lang="en-US" sz="2000"/>
              <a:t> 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2.3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a Priority Queue</a:t>
            </a:r>
            <a:endParaRPr sz="2000"/>
          </a:p>
          <a:p>
            <a:pPr indent="-355600" lvl="2" marL="13716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7"/>
              </a:rPr>
              <a:t>https://open.kattis.com/problems/stockprices</a:t>
            </a:r>
            <a:r>
              <a:rPr lang="en-US" sz="2000"/>
              <a:t> 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d. Hash Table (set)</a:t>
            </a:r>
            <a:endParaRPr sz="2000"/>
          </a:p>
          <a:p>
            <a:pPr indent="-355600" lvl="2" marL="13716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8"/>
              </a:rPr>
              <a:t>https://open.kattis.com/problems/esej</a:t>
            </a:r>
            <a:r>
              <a:rPr lang="en-US" sz="2000"/>
              <a:t> </a:t>
            </a:r>
            <a:endParaRPr sz="2000"/>
          </a:p>
          <a:p>
            <a:pPr indent="-355600" lvl="2" marL="13716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9"/>
              </a:rPr>
              <a:t>https://open.kattis.com/problems/shiritori</a:t>
            </a:r>
            <a:r>
              <a:rPr lang="en-US" sz="2000"/>
              <a:t> 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e. Hash Table (map), Easier</a:t>
            </a:r>
            <a:endParaRPr sz="2000"/>
          </a:p>
          <a:p>
            <a:pPr indent="-355600" lvl="2" marL="13716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10"/>
              </a:rPr>
              <a:t>https://open.kattis.com/problems/recount</a:t>
            </a:r>
            <a:r>
              <a:rPr lang="en-US" sz="2000"/>
              <a:t> 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Other Special Stack-Based Problem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11"/>
              </a:rPr>
              <a:t>https://open.kattis.com/problems/bracketmatching</a:t>
            </a:r>
            <a:r>
              <a:rPr lang="en-US" sz="2000"/>
              <a:t> </a:t>
            </a:r>
            <a:endParaRPr sz="2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/>
          <p:cNvSpPr txBox="1"/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Template</a:t>
            </a:r>
            <a:endParaRPr/>
          </a:p>
        </p:txBody>
      </p:sp>
      <p:sp>
        <p:nvSpPr>
          <p:cNvPr id="224" name="Google Shape;224;g37c4946a550_0_194"/>
          <p:cNvSpPr txBox="1"/>
          <p:nvPr>
            <p:ph idx="1" type="body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Template</a:t>
            </a:r>
            <a:endParaRPr sz="2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2025-09-06T15:13:09Z</dcterms:created>
  <dc:creator>Ryan Pelchat</dc:creator>
</cp:coreProperties>
</file>