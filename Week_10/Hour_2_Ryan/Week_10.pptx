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  <p:sldMasterId id="2147483650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</p:sldIdLst>
  <p:sldSz cy="6858000" cx="12192000"/>
  <p:notesSz cx="6858000" cy="9144000"/>
  <p:embeddedFontLst>
    <p:embeddedFont>
      <p:font typeface="Gill Sans"/>
      <p:regular r:id="rId37"/>
      <p:bold r:id="rId3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39" roundtripDataSignature="AMtx7mjNsKjRJhs0GNw6HTswNlBvMBZzf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1B80F226-4A29-48A7-9A73-AE6D4CBD48A4}">
  <a:tblStyle styleId="{1B80F226-4A29-48A7-9A73-AE6D4CBD48A4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3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slide" Target="slides/slide27.xml"/><Relationship Id="rId10" Type="http://schemas.openxmlformats.org/officeDocument/2006/relationships/slide" Target="slides/slide4.xml"/><Relationship Id="rId32" Type="http://schemas.openxmlformats.org/officeDocument/2006/relationships/slide" Target="slides/slide26.xml"/><Relationship Id="rId13" Type="http://schemas.openxmlformats.org/officeDocument/2006/relationships/slide" Target="slides/slide7.xml"/><Relationship Id="rId35" Type="http://schemas.openxmlformats.org/officeDocument/2006/relationships/slide" Target="slides/slide29.xml"/><Relationship Id="rId12" Type="http://schemas.openxmlformats.org/officeDocument/2006/relationships/slide" Target="slides/slide6.xml"/><Relationship Id="rId34" Type="http://schemas.openxmlformats.org/officeDocument/2006/relationships/slide" Target="slides/slide28.xml"/><Relationship Id="rId15" Type="http://schemas.openxmlformats.org/officeDocument/2006/relationships/slide" Target="slides/slide9.xml"/><Relationship Id="rId37" Type="http://schemas.openxmlformats.org/officeDocument/2006/relationships/font" Target="fonts/GillSans-regular.fntdata"/><Relationship Id="rId14" Type="http://schemas.openxmlformats.org/officeDocument/2006/relationships/slide" Target="slides/slide8.xml"/><Relationship Id="rId36" Type="http://schemas.openxmlformats.org/officeDocument/2006/relationships/slide" Target="slides/slide30.xml"/><Relationship Id="rId17" Type="http://schemas.openxmlformats.org/officeDocument/2006/relationships/slide" Target="slides/slide11.xml"/><Relationship Id="rId39" Type="http://customschemas.google.com/relationships/presentationmetadata" Target="metadata"/><Relationship Id="rId16" Type="http://schemas.openxmlformats.org/officeDocument/2006/relationships/slide" Target="slides/slide10.xml"/><Relationship Id="rId38" Type="http://schemas.openxmlformats.org/officeDocument/2006/relationships/font" Target="fonts/GillSans-bold.fntdata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0" name="Google Shape;100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1" name="Google Shape;101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a5494f4a8f_0_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7" name="Google Shape;107;g3a5494f4a8f_0_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8" name="Google Shape;108;g3a5494f4a8f_0_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3" name="Google Shape;113;p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https://wiki.python.org/moin/TimeComplexity</a:t>
            </a:r>
            <a:endParaRPr/>
          </a:p>
        </p:txBody>
      </p:sp>
      <p:sp>
        <p:nvSpPr>
          <p:cNvPr id="114" name="Google Shape;114;p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1" name="Google Shape;121;p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https://wiki.python.org/moin/TimeComplexity</a:t>
            </a:r>
            <a:endParaRPr/>
          </a:p>
        </p:txBody>
      </p:sp>
      <p:sp>
        <p:nvSpPr>
          <p:cNvPr id="122" name="Google Shape;122;p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845568222e_1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9" name="Google Shape;129;g3845568222e_1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In class, show example of each on the board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IF Class is new to bit operations, draw Truth Tables on the board!</a:t>
            </a:r>
            <a:endParaRPr/>
          </a:p>
        </p:txBody>
      </p:sp>
      <p:sp>
        <p:nvSpPr>
          <p:cNvPr id="130" name="Google Shape;130;g3845568222e_1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7" name="Google Shape;137;p1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https://wiki.python.org/moin/TimeComplexity</a:t>
            </a:r>
            <a:endParaRPr/>
          </a:p>
        </p:txBody>
      </p:sp>
      <p:sp>
        <p:nvSpPr>
          <p:cNvPr id="138" name="Google Shape;138;p1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6" name="Google Shape;146;p1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https://wiki.python.org/moin/TimeComplexity</a:t>
            </a:r>
            <a:endParaRPr/>
          </a:p>
        </p:txBody>
      </p:sp>
      <p:sp>
        <p:nvSpPr>
          <p:cNvPr id="147" name="Google Shape;147;p1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5" name="Google Shape;155;p2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https://wiki.python.org/moin/TimeComplexity</a:t>
            </a:r>
            <a:endParaRPr/>
          </a:p>
        </p:txBody>
      </p:sp>
      <p:sp>
        <p:nvSpPr>
          <p:cNvPr id="156" name="Google Shape;156;p2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4" name="Google Shape;164;p2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https://wiki.python.org/moin/TimeComplexity</a:t>
            </a:r>
            <a:endParaRPr/>
          </a:p>
        </p:txBody>
      </p:sp>
      <p:sp>
        <p:nvSpPr>
          <p:cNvPr id="165" name="Google Shape;165;p2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3" name="Google Shape;173;p2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https://wiki.python.org/moin/TimeComplexity</a:t>
            </a:r>
            <a:endParaRPr/>
          </a:p>
        </p:txBody>
      </p:sp>
      <p:sp>
        <p:nvSpPr>
          <p:cNvPr id="174" name="Google Shape;174;p2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2" name="Google Shape;182;p2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https://wiki.python.org/moin/TimeComplexity</a:t>
            </a:r>
            <a:endParaRPr/>
          </a:p>
        </p:txBody>
      </p:sp>
      <p:sp>
        <p:nvSpPr>
          <p:cNvPr id="183" name="Google Shape;183;p2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1" name="Google Shape;191;p2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https://wiki.python.org/moin/TimeComplexity</a:t>
            </a:r>
            <a:endParaRPr/>
          </a:p>
        </p:txBody>
      </p:sp>
      <p:sp>
        <p:nvSpPr>
          <p:cNvPr id="192" name="Google Shape;192;p2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0" name="Google Shape;200;p2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https://wiki.python.org/moin/TimeComplexity</a:t>
            </a:r>
            <a:endParaRPr/>
          </a:p>
        </p:txBody>
      </p:sp>
      <p:sp>
        <p:nvSpPr>
          <p:cNvPr id="201" name="Google Shape;201;p2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3845568222e_0_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5" name="Google Shape;215;g3845568222e_0_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6" name="Google Shape;216;g3845568222e_0_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3845568222e_0_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1" name="Google Shape;221;g3845568222e_0_1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71450" lvl="0" marL="1714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-"/>
            </a:pPr>
            <a:r>
              <a:rPr lang="en-US"/>
              <a:t>Quickly go through, can skip after the first 3 bullet points</a:t>
            </a:r>
            <a:br>
              <a:rPr lang="en-US"/>
            </a:br>
            <a:r>
              <a:rPr lang="en-US"/>
              <a:t>Graph represents nodes and paths</a:t>
            </a:r>
            <a:endParaRPr/>
          </a:p>
          <a:p>
            <a:pPr indent="-171450" lvl="0" marL="1714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-"/>
            </a:pPr>
            <a:r>
              <a:rPr lang="en-US"/>
              <a:t>Undirected/Directed</a:t>
            </a:r>
            <a:endParaRPr/>
          </a:p>
          <a:p>
            <a:pPr indent="-171450" lvl="0" marL="1714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-"/>
            </a:pPr>
            <a:r>
              <a:rPr lang="en-US"/>
              <a:t>Directed Acyclic</a:t>
            </a:r>
            <a:endParaRPr/>
          </a:p>
          <a:p>
            <a:pPr indent="-171450" lvl="0" marL="1714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-"/>
            </a:pPr>
            <a:r>
              <a:rPr lang="en-US"/>
              <a:t>Tree: pick any 2 points, there is only 1 path between them</a:t>
            </a:r>
            <a:endParaRPr/>
          </a:p>
          <a:p>
            <a:pPr indent="-171450" lvl="0" marL="1714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-"/>
            </a:pPr>
            <a:r>
              <a:rPr lang="en-US"/>
              <a:t>Forest: a bunch of trees</a:t>
            </a:r>
            <a:endParaRPr/>
          </a:p>
          <a:p>
            <a:pPr indent="-171450" lvl="0" marL="1714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-"/>
            </a:pPr>
            <a:r>
              <a:rPr lang="en-US"/>
              <a:t>Complete Graph: every point directly connects to every other point</a:t>
            </a:r>
            <a:endParaRPr/>
          </a:p>
          <a:p>
            <a:pPr indent="-171450" lvl="0" marL="1714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-"/>
            </a:pPr>
            <a:r>
              <a:rPr lang="en-US"/>
              <a:t>Bipartite graph: you can split the vertices in such a way that they only connect to the other group</a:t>
            </a:r>
            <a:endParaRPr/>
          </a:p>
          <a:p>
            <a:pPr indent="-171450" lvl="0" marL="1714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-"/>
            </a:pPr>
            <a:r>
              <a:rPr lang="en-US"/>
              <a:t>Multigraph: You can have an edge that starts and terminates on itself</a:t>
            </a:r>
            <a:endParaRPr/>
          </a:p>
        </p:txBody>
      </p:sp>
      <p:sp>
        <p:nvSpPr>
          <p:cNvPr id="222" name="Google Shape;222;g3845568222e_0_1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3836faffe8e_0_4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6" name="Google Shape;236;g3836faffe8e_0_4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Skip this slide</a:t>
            </a:r>
            <a:br>
              <a:rPr lang="en-US"/>
            </a:br>
            <a:r>
              <a:rPr lang="en-US"/>
              <a:t>Spanning Tree: The minimum amount of edges such that every vertex is connected to each other, in a way, a ”minimum” tree</a:t>
            </a:r>
            <a:endParaRPr/>
          </a:p>
        </p:txBody>
      </p:sp>
      <p:sp>
        <p:nvSpPr>
          <p:cNvPr id="237" name="Google Shape;237;g3836faffe8e_0_4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3845568222e_0_4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5" name="Google Shape;245;g3845568222e_0_4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https://wiki.python.org/moin/TimeComplexity</a:t>
            </a:r>
            <a:endParaRPr/>
          </a:p>
        </p:txBody>
      </p:sp>
      <p:sp>
        <p:nvSpPr>
          <p:cNvPr id="246" name="Google Shape;246;g3845568222e_0_4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g3845568222e_0_6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5" name="Google Shape;255;g3845568222e_0_6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https://wiki.python.org/moin/TimeComplexity</a:t>
            </a:r>
            <a:endParaRPr/>
          </a:p>
        </p:txBody>
      </p:sp>
      <p:sp>
        <p:nvSpPr>
          <p:cNvPr id="256" name="Google Shape;256;g3845568222e_0_6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g3845568222e_0_8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5" name="Google Shape;265;g3845568222e_0_8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https://wiki.python.org/moin/TimeComplexity</a:t>
            </a:r>
            <a:endParaRPr/>
          </a:p>
        </p:txBody>
      </p:sp>
      <p:sp>
        <p:nvSpPr>
          <p:cNvPr id="266" name="Google Shape;266;g3845568222e_0_8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3836faffe8e_0_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5" name="Google Shape;275;g3836faffe8e_0_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6" name="Google Shape;276;g3836faffe8e_0_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3a5494f4a8f_0_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1" name="Google Shape;281;g3a5494f4a8f_0_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https://wiki.python.org/moin/TimeComplexity</a:t>
            </a:r>
            <a:endParaRPr/>
          </a:p>
        </p:txBody>
      </p:sp>
      <p:sp>
        <p:nvSpPr>
          <p:cNvPr id="282" name="Google Shape;282;g3a5494f4a8f_0_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3a5494f4a8f_0_4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9" name="Google Shape;289;g3a5494f4a8f_0_4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https://wiki.python.org/moin/TimeComplexity</a:t>
            </a:r>
            <a:endParaRPr/>
          </a:p>
        </p:txBody>
      </p:sp>
      <p:sp>
        <p:nvSpPr>
          <p:cNvPr id="290" name="Google Shape;290;g3a5494f4a8f_0_4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9" name="Google Shape;299;p2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Let’s introduce the Range Query Sum!</a:t>
            </a:r>
            <a:endParaRPr/>
          </a:p>
        </p:txBody>
      </p:sp>
      <p:sp>
        <p:nvSpPr>
          <p:cNvPr id="300" name="Google Shape;300;p2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g3a5494f4a8f_0_6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9" name="Google Shape;309;g3a5494f4a8f_0_6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Let’s introduce the Range Query Sum!</a:t>
            </a:r>
            <a:endParaRPr/>
          </a:p>
        </p:txBody>
      </p:sp>
      <p:sp>
        <p:nvSpPr>
          <p:cNvPr id="310" name="Google Shape;310;g3a5494f4a8f_0_6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1" name="Google Shape;321;p2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https://wiki.python.org/moin/TimeComplexity</a:t>
            </a:r>
            <a:endParaRPr/>
          </a:p>
        </p:txBody>
      </p:sp>
      <p:sp>
        <p:nvSpPr>
          <p:cNvPr id="322" name="Google Shape;322;p2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g3a5494f4a8f_0_8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9" name="Google Shape;329;g3a5494f4a8f_0_8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https://wiki.python.org/moin/TimeComplexity</a:t>
            </a:r>
            <a:endParaRPr/>
          </a:p>
        </p:txBody>
      </p:sp>
      <p:sp>
        <p:nvSpPr>
          <p:cNvPr id="330" name="Google Shape;330;g3a5494f4a8f_0_8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g3a5494f4a8f_0_10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7" name="Google Shape;337;g3a5494f4a8f_0_10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https://wiki.python.org/moin/TimeComplexity</a:t>
            </a:r>
            <a:endParaRPr/>
          </a:p>
        </p:txBody>
      </p:sp>
      <p:sp>
        <p:nvSpPr>
          <p:cNvPr id="338" name="Google Shape;338;g3a5494f4a8f_0_10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g3816e0e644b_0_17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5" name="Google Shape;345;g3816e0e644b_0_17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46" name="Google Shape;346;g3816e0e644b_0_17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g37c4946a550_0_5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1" name="Google Shape;351;g37c4946a550_0_5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52" name="Google Shape;352;g37c4946a550_0_5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g37e6225694e_0_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8" name="Google Shape;358;g37e6225694e_0_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https://wiki.python.org/moin/TimeComplexity</a:t>
            </a:r>
            <a:endParaRPr/>
          </a:p>
        </p:txBody>
      </p:sp>
      <p:sp>
        <p:nvSpPr>
          <p:cNvPr id="359" name="Google Shape;359;g37e6225694e_0_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accent2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7"/>
          <p:cNvSpPr txBox="1"/>
          <p:nvPr>
            <p:ph type="ctrTitle"/>
          </p:nvPr>
        </p:nvSpPr>
        <p:spPr>
          <a:xfrm>
            <a:off x="1600200" y="2386744"/>
            <a:ext cx="8991600" cy="1645920"/>
          </a:xfrm>
          <a:prstGeom prst="rect">
            <a:avLst/>
          </a:prstGeom>
          <a:solidFill>
            <a:srgbClr val="FFFFFF"/>
          </a:solidFill>
          <a:ln cap="flat" cmpd="sng" w="38100">
            <a:solidFill>
              <a:srgbClr val="4040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182875" lIns="274300" spcFirstLastPara="1" rIns="274300" wrap="square" tIns="1828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800"/>
              <a:buFont typeface="Gill Sans"/>
              <a:buNone/>
              <a:defRPr sz="3800">
                <a:solidFill>
                  <a:srgbClr val="262626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7"/>
          <p:cNvSpPr txBox="1"/>
          <p:nvPr>
            <p:ph idx="1" type="subTitle"/>
          </p:nvPr>
        </p:nvSpPr>
        <p:spPr>
          <a:xfrm>
            <a:off x="2695194" y="4352544"/>
            <a:ext cx="6801612" cy="123989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>
                <a:solidFill>
                  <a:srgbClr val="FEFEFE"/>
                </a:solidFill>
              </a:defRPr>
            </a:lvl1pPr>
            <a:lvl2pPr lvl="1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8" name="Google Shape;18;p7"/>
          <p:cNvSpPr txBox="1"/>
          <p:nvPr>
            <p:ph idx="10" type="dt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7"/>
          <p:cNvSpPr txBox="1"/>
          <p:nvPr>
            <p:ph idx="11" type="ftr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7"/>
          <p:cNvSpPr/>
          <p:nvPr>
            <p:ph idx="12" type="sldNum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68627"/>
            </a:srgbClr>
          </a:solidFill>
          <a:ln>
            <a:noFill/>
          </a:ln>
        </p:spPr>
        <p:txBody>
          <a:bodyPr anchorCtr="0" anchor="ctr" bIns="45700" lIns="18275" spcFirstLastPara="1" rIns="1827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8"/>
          <p:cNvSpPr txBox="1"/>
          <p:nvPr>
            <p:ph type="title"/>
          </p:nvPr>
        </p:nvSpPr>
        <p:spPr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cap="sq" cmpd="sng" w="31750">
            <a:solidFill>
              <a:srgbClr val="40404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82875" lIns="182875" spcFirstLastPara="1" rIns="182875" wrap="square" tIns="1828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8"/>
          <p:cNvSpPr txBox="1"/>
          <p:nvPr>
            <p:ph idx="1" type="body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30" name="Google Shape;30;p8"/>
          <p:cNvSpPr txBox="1"/>
          <p:nvPr>
            <p:ph idx="10" type="dt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8"/>
          <p:cNvSpPr txBox="1"/>
          <p:nvPr>
            <p:ph idx="11" type="ftr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8"/>
          <p:cNvSpPr/>
          <p:nvPr>
            <p:ph idx="12" type="sldNum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68627"/>
            </a:srgbClr>
          </a:solidFill>
          <a:ln>
            <a:noFill/>
          </a:ln>
        </p:spPr>
        <p:txBody>
          <a:bodyPr anchorCtr="0" anchor="ctr" bIns="45700" lIns="18275" spcFirstLastPara="1" rIns="1827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accent2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ctrTitle"/>
          </p:nvPr>
        </p:nvSpPr>
        <p:spPr>
          <a:xfrm>
            <a:off x="1600200" y="2386744"/>
            <a:ext cx="8991600" cy="1645920"/>
          </a:xfrm>
          <a:prstGeom prst="rect">
            <a:avLst/>
          </a:prstGeom>
          <a:solidFill>
            <a:srgbClr val="FFFFFF"/>
          </a:solidFill>
          <a:ln cap="flat" cmpd="sng" w="38100">
            <a:solidFill>
              <a:srgbClr val="4040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182875" lIns="274300" spcFirstLastPara="1" rIns="274300" wrap="square" tIns="1828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800"/>
              <a:buFont typeface="Gill Sans"/>
              <a:buNone/>
              <a:defRPr sz="3800">
                <a:solidFill>
                  <a:srgbClr val="262626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subTitle"/>
          </p:nvPr>
        </p:nvSpPr>
        <p:spPr>
          <a:xfrm>
            <a:off x="2695194" y="4352544"/>
            <a:ext cx="6801612" cy="123989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>
                <a:solidFill>
                  <a:srgbClr val="FEFEFE"/>
                </a:solidFill>
              </a:defRPr>
            </a:lvl1pPr>
            <a:lvl2pPr lvl="1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36" name="Google Shape;36;p6"/>
          <p:cNvSpPr txBox="1"/>
          <p:nvPr>
            <p:ph idx="10" type="dt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6"/>
          <p:cNvSpPr txBox="1"/>
          <p:nvPr>
            <p:ph idx="11" type="ftr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/>
          <p:nvPr>
            <p:ph idx="12" type="sldNum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68627"/>
            </a:srgbClr>
          </a:solidFill>
          <a:ln>
            <a:noFill/>
          </a:ln>
        </p:spPr>
        <p:txBody>
          <a:bodyPr anchorCtr="0" anchor="ctr" bIns="45700" lIns="18275" spcFirstLastPara="1" rIns="1827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accent1"/>
        </a:solidFill>
      </p:bgPr>
    </p:bg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9"/>
          <p:cNvSpPr txBox="1"/>
          <p:nvPr>
            <p:ph type="title"/>
          </p:nvPr>
        </p:nvSpPr>
        <p:spPr>
          <a:xfrm>
            <a:off x="1600200" y="2386744"/>
            <a:ext cx="8991600" cy="1645920"/>
          </a:xfrm>
          <a:prstGeom prst="rect">
            <a:avLst/>
          </a:prstGeom>
          <a:solidFill>
            <a:srgbClr val="FFFFFF"/>
          </a:solidFill>
          <a:ln cap="flat" cmpd="sng" w="38100">
            <a:solidFill>
              <a:srgbClr val="4040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182875" lIns="274300" spcFirstLastPara="1" rIns="274300" wrap="square" tIns="1828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800"/>
              <a:buFont typeface="Gill Sans"/>
              <a:buNone/>
              <a:defRPr sz="3800">
                <a:solidFill>
                  <a:srgbClr val="262626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2695194" y="4352465"/>
            <a:ext cx="6801612" cy="1265082"/>
          </a:xfrm>
          <a:prstGeom prst="rect">
            <a:avLst/>
          </a:prstGeom>
          <a:noFill/>
          <a:ln>
            <a:noFill/>
          </a:ln>
        </p:spPr>
        <p:txBody>
          <a:bodyPr anchorCtr="1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>
                <a:solidFill>
                  <a:schemeClr val="lt1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lt1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2" name="Google Shape;42;p9"/>
          <p:cNvSpPr txBox="1"/>
          <p:nvPr>
            <p:ph idx="10" type="dt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9"/>
          <p:cNvSpPr txBox="1"/>
          <p:nvPr>
            <p:ph idx="11" type="ftr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9"/>
          <p:cNvSpPr/>
          <p:nvPr>
            <p:ph idx="12" type="sldNum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68627"/>
            </a:srgbClr>
          </a:solidFill>
          <a:ln>
            <a:noFill/>
          </a:ln>
        </p:spPr>
        <p:txBody>
          <a:bodyPr anchorCtr="0" anchor="ctr" bIns="45700" lIns="18275" spcFirstLastPara="1" rIns="1827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0"/>
          <p:cNvSpPr txBox="1"/>
          <p:nvPr>
            <p:ph type="title"/>
          </p:nvPr>
        </p:nvSpPr>
        <p:spPr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cap="sq" cmpd="sng" w="31750">
            <a:solidFill>
              <a:srgbClr val="40404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82875" lIns="182875" spcFirstLastPara="1" rIns="182875" wrap="square" tIns="1828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1581912" y="2638044"/>
            <a:ext cx="4271771" cy="31019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48" name="Google Shape;48;p10"/>
          <p:cNvSpPr txBox="1"/>
          <p:nvPr>
            <p:ph idx="2" type="body"/>
          </p:nvPr>
        </p:nvSpPr>
        <p:spPr>
          <a:xfrm>
            <a:off x="6338315" y="2638044"/>
            <a:ext cx="4270247" cy="31019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49" name="Google Shape;49;p10"/>
          <p:cNvSpPr txBox="1"/>
          <p:nvPr>
            <p:ph idx="10" type="dt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10"/>
          <p:cNvSpPr txBox="1"/>
          <p:nvPr>
            <p:ph idx="11" type="ftr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0"/>
          <p:cNvSpPr/>
          <p:nvPr>
            <p:ph idx="12" type="sldNum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68627"/>
            </a:srgbClr>
          </a:solidFill>
          <a:ln>
            <a:noFill/>
          </a:ln>
        </p:spPr>
        <p:txBody>
          <a:bodyPr anchorCtr="0" anchor="ctr" bIns="45700" lIns="18275" spcFirstLastPara="1" rIns="1827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1"/>
          <p:cNvSpPr txBox="1"/>
          <p:nvPr>
            <p:ph idx="1" type="body"/>
          </p:nvPr>
        </p:nvSpPr>
        <p:spPr>
          <a:xfrm>
            <a:off x="1583436" y="2313433"/>
            <a:ext cx="4270248" cy="704087"/>
          </a:xfrm>
          <a:prstGeom prst="rect">
            <a:avLst/>
          </a:prstGeom>
          <a:noFill/>
          <a:ln>
            <a:noFill/>
          </a:ln>
        </p:spPr>
        <p:txBody>
          <a:bodyPr anchorCtr="1" anchor="b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900"/>
              <a:buNone/>
              <a:defRPr b="0" sz="1900" cap="none">
                <a:solidFill>
                  <a:srgbClr val="6B8890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900"/>
              <a:buNone/>
              <a:defRPr b="1" sz="1900"/>
            </a:lvl2pPr>
            <a:lvl3pPr indent="-22860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54" name="Google Shape;54;p11"/>
          <p:cNvSpPr txBox="1"/>
          <p:nvPr>
            <p:ph idx="2" type="body"/>
          </p:nvPr>
        </p:nvSpPr>
        <p:spPr>
          <a:xfrm>
            <a:off x="1583436" y="3143250"/>
            <a:ext cx="4270248" cy="25967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55" name="Google Shape;55;p11"/>
          <p:cNvSpPr txBox="1"/>
          <p:nvPr>
            <p:ph idx="3" type="body"/>
          </p:nvPr>
        </p:nvSpPr>
        <p:spPr>
          <a:xfrm>
            <a:off x="6338316" y="3143250"/>
            <a:ext cx="4253484" cy="25967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4pPr>
            <a:lvl5pPr indent="-33020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Char char="•"/>
              <a:defRPr/>
            </a:lvl5pPr>
            <a:lvl6pPr indent="-342900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4" type="body"/>
          </p:nvPr>
        </p:nvSpPr>
        <p:spPr>
          <a:xfrm>
            <a:off x="6338316" y="2313433"/>
            <a:ext cx="4270248" cy="704087"/>
          </a:xfrm>
          <a:prstGeom prst="rect">
            <a:avLst/>
          </a:prstGeom>
          <a:noFill/>
          <a:ln>
            <a:noFill/>
          </a:ln>
        </p:spPr>
        <p:txBody>
          <a:bodyPr anchorCtr="1" anchor="b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900"/>
              <a:buNone/>
              <a:defRPr b="0" sz="1900" cap="none">
                <a:solidFill>
                  <a:srgbClr val="6B8890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900"/>
              <a:buNone/>
              <a:defRPr b="1" sz="1900"/>
            </a:lvl2pPr>
            <a:lvl3pPr indent="-22860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57" name="Google Shape;57;p11"/>
          <p:cNvSpPr txBox="1"/>
          <p:nvPr>
            <p:ph idx="10" type="dt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11"/>
          <p:cNvSpPr txBox="1"/>
          <p:nvPr>
            <p:ph idx="11" type="ftr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1"/>
          <p:cNvSpPr/>
          <p:nvPr>
            <p:ph idx="12" type="sldNum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68627"/>
            </a:srgbClr>
          </a:solidFill>
          <a:ln>
            <a:noFill/>
          </a:ln>
        </p:spPr>
        <p:txBody>
          <a:bodyPr anchorCtr="0" anchor="ctr" bIns="45700" lIns="18275" spcFirstLastPara="1" rIns="1827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0" name="Google Shape;60;p11"/>
          <p:cNvSpPr txBox="1"/>
          <p:nvPr>
            <p:ph type="title"/>
          </p:nvPr>
        </p:nvSpPr>
        <p:spPr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cap="sq" cmpd="sng" w="31750">
            <a:solidFill>
              <a:srgbClr val="40404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82875" lIns="182875" spcFirstLastPara="1" rIns="182875" wrap="square" tIns="1828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2"/>
          <p:cNvSpPr txBox="1"/>
          <p:nvPr>
            <p:ph type="title"/>
          </p:nvPr>
        </p:nvSpPr>
        <p:spPr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cap="sq" cmpd="sng" w="31750">
            <a:solidFill>
              <a:srgbClr val="40404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82875" lIns="182875" spcFirstLastPara="1" rIns="182875" wrap="square" tIns="1828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2"/>
          <p:cNvSpPr txBox="1"/>
          <p:nvPr>
            <p:ph idx="10" type="dt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2"/>
          <p:cNvSpPr txBox="1"/>
          <p:nvPr>
            <p:ph idx="11" type="ftr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12"/>
          <p:cNvSpPr/>
          <p:nvPr>
            <p:ph idx="12" type="sldNum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68627"/>
            </a:srgbClr>
          </a:solidFill>
          <a:ln>
            <a:noFill/>
          </a:ln>
        </p:spPr>
        <p:txBody>
          <a:bodyPr anchorCtr="0" anchor="ctr" bIns="45700" lIns="18275" spcFirstLastPara="1" rIns="1827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3"/>
          <p:cNvSpPr txBox="1"/>
          <p:nvPr>
            <p:ph idx="10" type="dt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13"/>
          <p:cNvSpPr txBox="1"/>
          <p:nvPr>
            <p:ph idx="11" type="ftr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13"/>
          <p:cNvSpPr/>
          <p:nvPr>
            <p:ph idx="12" type="sldNum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68627"/>
            </a:srgbClr>
          </a:solidFill>
          <a:ln>
            <a:noFill/>
          </a:ln>
        </p:spPr>
        <p:txBody>
          <a:bodyPr anchorCtr="0" anchor="ctr" bIns="45700" lIns="18275" spcFirstLastPara="1" rIns="1827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4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14"/>
          <p:cNvSpPr txBox="1"/>
          <p:nvPr>
            <p:ph type="title"/>
          </p:nvPr>
        </p:nvSpPr>
        <p:spPr>
          <a:xfrm>
            <a:off x="804672" y="2243828"/>
            <a:ext cx="4486656" cy="1141497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4040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182875" lIns="182875" spcFirstLastPara="1" rIns="182875" wrap="square" tIns="1828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200"/>
              <a:buFont typeface="Gill Sans"/>
              <a:buNone/>
              <a:defRPr sz="2200">
                <a:solidFill>
                  <a:srgbClr val="262626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4"/>
          <p:cNvSpPr txBox="1"/>
          <p:nvPr>
            <p:ph idx="1" type="body"/>
          </p:nvPr>
        </p:nvSpPr>
        <p:spPr>
          <a:xfrm>
            <a:off x="6736080" y="804672"/>
            <a:ext cx="4815840" cy="52486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925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900"/>
              <a:buChar char="•"/>
              <a:defRPr sz="1900">
                <a:solidFill>
                  <a:schemeClr val="dk1"/>
                </a:solidFill>
              </a:defRPr>
            </a:lvl1pPr>
            <a:lvl2pPr indent="-33020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Char char="•"/>
              <a:defRPr sz="1600">
                <a:solidFill>
                  <a:schemeClr val="dk1"/>
                </a:solidFill>
              </a:defRPr>
            </a:lvl2pPr>
            <a:lvl3pPr indent="-33020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Char char="•"/>
              <a:defRPr sz="1600">
                <a:solidFill>
                  <a:schemeClr val="dk1"/>
                </a:solidFill>
              </a:defRPr>
            </a:lvl3pPr>
            <a:lvl4pPr indent="-33020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Char char="•"/>
              <a:defRPr sz="1600">
                <a:solidFill>
                  <a:schemeClr val="dk1"/>
                </a:solidFill>
              </a:defRPr>
            </a:lvl4pPr>
            <a:lvl5pPr indent="-33020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Char char="•"/>
              <a:defRPr sz="1600">
                <a:solidFill>
                  <a:schemeClr val="dk1"/>
                </a:solidFill>
              </a:defRPr>
            </a:lvl5pPr>
            <a:lvl6pPr indent="-330200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Char char="•"/>
              <a:defRPr sz="1600"/>
            </a:lvl9pPr>
          </a:lstStyle>
          <a:p/>
        </p:txBody>
      </p:sp>
      <p:sp>
        <p:nvSpPr>
          <p:cNvPr id="74" name="Google Shape;74;p14"/>
          <p:cNvSpPr txBox="1"/>
          <p:nvPr>
            <p:ph idx="2" type="body"/>
          </p:nvPr>
        </p:nvSpPr>
        <p:spPr>
          <a:xfrm>
            <a:off x="1115568" y="3549918"/>
            <a:ext cx="3794760" cy="2194036"/>
          </a:xfrm>
          <a:prstGeom prst="rect">
            <a:avLst/>
          </a:prstGeom>
          <a:noFill/>
          <a:ln>
            <a:noFill/>
          </a:ln>
        </p:spPr>
        <p:txBody>
          <a:bodyPr anchorCtr="1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500"/>
              <a:buNone/>
              <a:defRPr sz="1500">
                <a:solidFill>
                  <a:srgbClr val="FFFFFF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400"/>
            </a:lvl2pPr>
            <a:lvl3pPr indent="-22860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00"/>
              <a:buNone/>
              <a:defRPr sz="1200"/>
            </a:lvl3pPr>
            <a:lvl4pPr indent="-22860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000"/>
              <a:buNone/>
              <a:defRPr sz="1000"/>
            </a:lvl4pPr>
            <a:lvl5pPr indent="-22860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000"/>
              <a:buNone/>
              <a:defRPr sz="1000"/>
            </a:lvl5pPr>
            <a:lvl6pPr indent="-228600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000"/>
              <a:buNone/>
              <a:defRPr sz="1000"/>
            </a:lvl6pPr>
            <a:lvl7pPr indent="-228600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000"/>
              <a:buNone/>
              <a:defRPr sz="1000"/>
            </a:lvl7pPr>
            <a:lvl8pPr indent="-22860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000"/>
              <a:buNone/>
              <a:defRPr sz="1000"/>
            </a:lvl8pPr>
            <a:lvl9pPr indent="-228600" lvl="8" marL="4114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75" name="Google Shape;75;p14"/>
          <p:cNvSpPr txBox="1"/>
          <p:nvPr>
            <p:ph idx="10" type="dt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4"/>
          <p:cNvSpPr txBox="1"/>
          <p:nvPr>
            <p:ph idx="11" type="ftr"/>
          </p:nvPr>
        </p:nvSpPr>
        <p:spPr>
          <a:xfrm>
            <a:off x="804672" y="6236208"/>
            <a:ext cx="5124797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FFF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4"/>
          <p:cNvSpPr/>
          <p:nvPr>
            <p:ph idx="12" type="sldNum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68627"/>
            </a:srgbClr>
          </a:solidFill>
          <a:ln>
            <a:noFill/>
          </a:ln>
        </p:spPr>
        <p:txBody>
          <a:bodyPr anchorCtr="0" anchor="ctr" bIns="45700" lIns="18275" spcFirstLastPara="1" rIns="1827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5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" name="Google Shape;80;p15"/>
          <p:cNvSpPr txBox="1"/>
          <p:nvPr>
            <p:ph type="title"/>
          </p:nvPr>
        </p:nvSpPr>
        <p:spPr>
          <a:xfrm>
            <a:off x="808523" y="2243828"/>
            <a:ext cx="4494998" cy="11346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4040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182875" lIns="182875" spcFirstLastPara="1" rIns="182875" wrap="square" tIns="182875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200"/>
              <a:buFont typeface="Gill Sans"/>
              <a:buNone/>
              <a:defRPr sz="2200">
                <a:solidFill>
                  <a:srgbClr val="262626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15"/>
          <p:cNvSpPr/>
          <p:nvPr>
            <p:ph idx="2" type="pic"/>
          </p:nvPr>
        </p:nvSpPr>
        <p:spPr>
          <a:xfrm>
            <a:off x="6095999" y="0"/>
            <a:ext cx="6102097" cy="6858000"/>
          </a:xfrm>
          <a:prstGeom prst="rect">
            <a:avLst/>
          </a:prstGeom>
          <a:solidFill>
            <a:srgbClr val="BFBFBF"/>
          </a:solidFill>
          <a:ln>
            <a:noFill/>
          </a:ln>
        </p:spPr>
      </p:sp>
      <p:sp>
        <p:nvSpPr>
          <p:cNvPr id="82" name="Google Shape;82;p15"/>
          <p:cNvSpPr txBox="1"/>
          <p:nvPr>
            <p:ph idx="1" type="body"/>
          </p:nvPr>
        </p:nvSpPr>
        <p:spPr>
          <a:xfrm>
            <a:off x="1115568" y="3549918"/>
            <a:ext cx="3794760" cy="2194037"/>
          </a:xfrm>
          <a:prstGeom prst="rect">
            <a:avLst/>
          </a:prstGeom>
          <a:noFill/>
          <a:ln>
            <a:noFill/>
          </a:ln>
        </p:spPr>
        <p:txBody>
          <a:bodyPr anchorCtr="1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500"/>
              <a:buNone/>
              <a:defRPr sz="1500">
                <a:solidFill>
                  <a:srgbClr val="FFFFFF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400"/>
            </a:lvl2pPr>
            <a:lvl3pPr indent="-22860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00"/>
              <a:buNone/>
              <a:defRPr sz="1200"/>
            </a:lvl3pPr>
            <a:lvl4pPr indent="-22860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000"/>
              <a:buNone/>
              <a:defRPr sz="1000"/>
            </a:lvl4pPr>
            <a:lvl5pPr indent="-22860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000"/>
              <a:buNone/>
              <a:defRPr sz="1000"/>
            </a:lvl5pPr>
            <a:lvl6pPr indent="-228600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000"/>
              <a:buNone/>
              <a:defRPr sz="1000"/>
            </a:lvl6pPr>
            <a:lvl7pPr indent="-228600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000"/>
              <a:buNone/>
              <a:defRPr sz="1000"/>
            </a:lvl7pPr>
            <a:lvl8pPr indent="-22860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000"/>
              <a:buNone/>
              <a:defRPr sz="1000"/>
            </a:lvl8pPr>
            <a:lvl9pPr indent="-228600" lvl="8" marL="4114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83" name="Google Shape;83;p15"/>
          <p:cNvSpPr txBox="1"/>
          <p:nvPr>
            <p:ph idx="10" type="dt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FFF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15"/>
          <p:cNvSpPr txBox="1"/>
          <p:nvPr>
            <p:ph idx="11" type="ftr"/>
          </p:nvPr>
        </p:nvSpPr>
        <p:spPr>
          <a:xfrm>
            <a:off x="804672" y="6236208"/>
            <a:ext cx="5124797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FFF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15"/>
          <p:cNvSpPr/>
          <p:nvPr>
            <p:ph idx="12" type="sldNum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68627"/>
            </a:srgbClr>
          </a:solidFill>
          <a:ln>
            <a:noFill/>
          </a:ln>
        </p:spPr>
        <p:txBody>
          <a:bodyPr anchorCtr="0" anchor="ctr" bIns="45700" lIns="18275" spcFirstLastPara="1" rIns="1827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6"/>
          <p:cNvSpPr txBox="1"/>
          <p:nvPr>
            <p:ph type="title"/>
          </p:nvPr>
        </p:nvSpPr>
        <p:spPr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cap="sq" cmpd="sng" w="31750">
            <a:solidFill>
              <a:srgbClr val="40404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82875" lIns="182875" spcFirstLastPara="1" rIns="182875" wrap="square" tIns="1828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" type="body"/>
          </p:nvPr>
        </p:nvSpPr>
        <p:spPr>
          <a:xfrm rot="5400000">
            <a:off x="4545009" y="324172"/>
            <a:ext cx="3101983" cy="77297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89" name="Google Shape;89;p16"/>
          <p:cNvSpPr txBox="1"/>
          <p:nvPr>
            <p:ph idx="10" type="dt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16"/>
          <p:cNvSpPr txBox="1"/>
          <p:nvPr>
            <p:ph idx="11" type="ftr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16"/>
          <p:cNvSpPr/>
          <p:nvPr>
            <p:ph idx="12" type="sldNum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68627"/>
            </a:srgbClr>
          </a:solidFill>
          <a:ln>
            <a:noFill/>
          </a:ln>
        </p:spPr>
        <p:txBody>
          <a:bodyPr anchorCtr="0" anchor="ctr" bIns="45700" lIns="18275" spcFirstLastPara="1" rIns="1827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7"/>
          <p:cNvSpPr txBox="1"/>
          <p:nvPr>
            <p:ph type="title"/>
          </p:nvPr>
        </p:nvSpPr>
        <p:spPr>
          <a:xfrm rot="5400000">
            <a:off x="6810676" y="2779696"/>
            <a:ext cx="4983480" cy="1298608"/>
          </a:xfrm>
          <a:prstGeom prst="rect">
            <a:avLst/>
          </a:prstGeom>
          <a:solidFill>
            <a:srgbClr val="FFFFFF"/>
          </a:solidFill>
          <a:ln cap="sq" cmpd="sng" w="31750">
            <a:solidFill>
              <a:srgbClr val="40404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82875" lIns="182875" spcFirstLastPara="1" rIns="182875" wrap="square" tIns="1828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17"/>
          <p:cNvSpPr txBox="1"/>
          <p:nvPr>
            <p:ph idx="1" type="body"/>
          </p:nvPr>
        </p:nvSpPr>
        <p:spPr>
          <a:xfrm rot="5400000">
            <a:off x="2838641" y="329756"/>
            <a:ext cx="4983480" cy="619848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95" name="Google Shape;95;p17"/>
          <p:cNvSpPr txBox="1"/>
          <p:nvPr>
            <p:ph idx="10" type="dt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17"/>
          <p:cNvSpPr txBox="1"/>
          <p:nvPr>
            <p:ph idx="11" type="ftr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17"/>
          <p:cNvSpPr/>
          <p:nvPr>
            <p:ph idx="12" type="sldNum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68627"/>
            </a:srgbClr>
          </a:solidFill>
          <a:ln>
            <a:noFill/>
          </a:ln>
        </p:spPr>
        <p:txBody>
          <a:bodyPr anchorCtr="0" anchor="ctr" bIns="45700" lIns="18275" spcFirstLastPara="1" rIns="1827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3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Layout" Target="../slideLayouts/slideLayout3.xml"/><Relationship Id="rId3" Type="http://schemas.openxmlformats.org/officeDocument/2006/relationships/slideLayout" Target="../slideLayouts/slideLayout4.xml"/><Relationship Id="rId4" Type="http://schemas.openxmlformats.org/officeDocument/2006/relationships/slideLayout" Target="../slideLayouts/slideLayout5.xml"/><Relationship Id="rId11" Type="http://schemas.openxmlformats.org/officeDocument/2006/relationships/slideLayout" Target="../slideLayouts/slideLayout12.xml"/><Relationship Id="rId10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10.xml"/><Relationship Id="rId5" Type="http://schemas.openxmlformats.org/officeDocument/2006/relationships/slideLayout" Target="../slideLayouts/slideLayout6.xml"/><Relationship Id="rId6" Type="http://schemas.openxmlformats.org/officeDocument/2006/relationships/slideLayout" Target="../slideLayouts/slideLayout7.xml"/><Relationship Id="rId7" Type="http://schemas.openxmlformats.org/officeDocument/2006/relationships/slideLayout" Target="../slideLayouts/slideLayout8.xml"/><Relationship Id="rId8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"/>
          <p:cNvSpPr txBox="1"/>
          <p:nvPr>
            <p:ph type="title"/>
          </p:nvPr>
        </p:nvSpPr>
        <p:spPr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cap="sq" cmpd="sng" w="31750">
            <a:solidFill>
              <a:srgbClr val="40404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82875" lIns="182875" spcFirstLastPara="1" rIns="182875" wrap="square" tIns="182875">
            <a:normAutofit/>
          </a:bodyPr>
          <a:lstStyle>
            <a:lvl1pPr lv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800"/>
              <a:buFont typeface="Gill Sans"/>
              <a:buNone/>
              <a:defRPr b="0" i="0" sz="2800" u="none" cap="none" strike="noStrike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5"/>
          <p:cNvSpPr txBox="1"/>
          <p:nvPr>
            <p:ph idx="1" type="body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rgbClr val="FEFEFE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-330200" lvl="1" marL="9144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rgbClr val="FEFEFE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-330200" lvl="2" marL="13716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rgbClr val="FEFEFE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-330200" lvl="3" marL="18288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rgbClr val="FEFEFE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-330200" lvl="4" marL="22860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rgbClr val="FEFEFE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-330200" lvl="5" marL="2743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-330200" lvl="6" marL="32004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-330200" lvl="7" marL="36576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-330200" lvl="8" marL="41148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12" name="Google Shape;12;p5"/>
          <p:cNvSpPr txBox="1"/>
          <p:nvPr>
            <p:ph idx="10" type="dt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13" name="Google Shape;13;p5"/>
          <p:cNvSpPr txBox="1"/>
          <p:nvPr>
            <p:ph idx="11" type="ftr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14" name="Google Shape;14;p5"/>
          <p:cNvSpPr/>
          <p:nvPr>
            <p:ph idx="12" type="sldNum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68627"/>
            </a:srgbClr>
          </a:solidFill>
          <a:ln>
            <a:noFill/>
          </a:ln>
        </p:spPr>
        <p:txBody>
          <a:bodyPr anchorCtr="0" anchor="ctr" bIns="45700" lIns="18275" spcFirstLastPara="1" rIns="18275" wrap="square" tIns="4570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2F2"/>
        </a:solidFill>
      </p:bgPr>
    </p:bg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cap="sq" cmpd="sng" w="31750">
            <a:solidFill>
              <a:srgbClr val="40404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82875" lIns="182875" spcFirstLastPara="1" rIns="182875" wrap="square" tIns="182875">
            <a:normAutofit/>
          </a:bodyPr>
          <a:lstStyle>
            <a:lvl1pPr lv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800"/>
              <a:buFont typeface="Gill Sans"/>
              <a:buNone/>
              <a:defRPr b="0" i="0" sz="2800" u="none" cap="none" strike="noStrike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-330200" lvl="1" marL="9144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-330200" lvl="2" marL="13716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-330200" lvl="3" marL="18288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-330200" lvl="4" marL="22860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-330200" lvl="5" marL="2743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-330200" lvl="6" marL="32004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-330200" lvl="7" marL="36576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-330200" lvl="8" marL="41148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05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05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26" name="Google Shape;26;p4"/>
          <p:cNvSpPr/>
          <p:nvPr>
            <p:ph idx="12" type="sldNum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68627"/>
            </a:srgbClr>
          </a:solidFill>
          <a:ln>
            <a:noFill/>
          </a:ln>
        </p:spPr>
        <p:txBody>
          <a:bodyPr anchorCtr="0" anchor="ctr" bIns="45700" lIns="18275" spcFirstLastPara="1" rIns="18275" wrap="square" tIns="4570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hyperlink" Target="https://wiki.python.org/moin/BitwiseOperators" TargetMode="External"/><Relationship Id="rId4" Type="http://schemas.openxmlformats.org/officeDocument/2006/relationships/hyperlink" Target="https://en.wikipedia.org/wiki/Arbitrary-precision_arithmetic" TargetMode="Externa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wiki.python.org/moin/BitwiseOperators" TargetMode="Externa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hyperlink" Target="https://visualgo.net/en/bitmask" TargetMode="External"/><Relationship Id="rId4" Type="http://schemas.openxmlformats.org/officeDocument/2006/relationships/image" Target="../media/image1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1" Type="http://schemas.openxmlformats.org/officeDocument/2006/relationships/image" Target="../media/image8.png"/><Relationship Id="rId10" Type="http://schemas.openxmlformats.org/officeDocument/2006/relationships/image" Target="../media/image23.png"/><Relationship Id="rId13" Type="http://schemas.openxmlformats.org/officeDocument/2006/relationships/image" Target="../media/image9.png"/><Relationship Id="rId1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hyperlink" Target="https://en.wikipedia.org/wiki/Tree_(graph_theory)" TargetMode="External"/><Relationship Id="rId4" Type="http://schemas.openxmlformats.org/officeDocument/2006/relationships/hyperlink" Target="https://en.wikipedia.org/wiki/Complete_graph" TargetMode="External"/><Relationship Id="rId9" Type="http://schemas.openxmlformats.org/officeDocument/2006/relationships/image" Target="../media/image15.png"/><Relationship Id="rId15" Type="http://schemas.openxmlformats.org/officeDocument/2006/relationships/image" Target="../media/image7.png"/><Relationship Id="rId14" Type="http://schemas.openxmlformats.org/officeDocument/2006/relationships/image" Target="../media/image10.png"/><Relationship Id="rId5" Type="http://schemas.openxmlformats.org/officeDocument/2006/relationships/hyperlink" Target="https://en.wikipedia.org/wiki/Bipartite_graph" TargetMode="External"/><Relationship Id="rId6" Type="http://schemas.openxmlformats.org/officeDocument/2006/relationships/hyperlink" Target="https://en.wikipedia.org/wiki/Directed_graph" TargetMode="External"/><Relationship Id="rId7" Type="http://schemas.openxmlformats.org/officeDocument/2006/relationships/hyperlink" Target="https://en.wikipedia.org/wiki/Directed_acyclic_graph" TargetMode="External"/><Relationship Id="rId8" Type="http://schemas.openxmlformats.org/officeDocument/2006/relationships/hyperlink" Target="https://en.wikipedia.org/wiki/Multigraph" TargetMode="Externa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hyperlink" Target="https://en.wikipedia.org/wiki/Spanning_tree" TargetMode="External"/><Relationship Id="rId4" Type="http://schemas.openxmlformats.org/officeDocument/2006/relationships/image" Target="../media/image11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2.png"/><Relationship Id="rId4" Type="http://schemas.openxmlformats.org/officeDocument/2006/relationships/image" Target="../media/image22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9.png"/><Relationship Id="rId4" Type="http://schemas.openxmlformats.org/officeDocument/2006/relationships/image" Target="../media/image12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hyperlink" Target="https://visualgo.net/en/graphds" TargetMode="External"/><Relationship Id="rId4" Type="http://schemas.openxmlformats.org/officeDocument/2006/relationships/image" Target="../media/image12.png"/><Relationship Id="rId5" Type="http://schemas.openxmlformats.org/officeDocument/2006/relationships/image" Target="../media/image24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6.png"/><Relationship Id="rId4" Type="http://schemas.openxmlformats.org/officeDocument/2006/relationships/image" Target="../media/image25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6.png"/><Relationship Id="rId4" Type="http://schemas.openxmlformats.org/officeDocument/2006/relationships/image" Target="../media/image25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6.png"/><Relationship Id="rId4" Type="http://schemas.openxmlformats.org/officeDocument/2006/relationships/image" Target="../media/image20.png"/><Relationship Id="rId5" Type="http://schemas.openxmlformats.org/officeDocument/2006/relationships/image" Target="../media/image25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hyperlink" Target="https://open.kattis.com/problems/fenwick" TargetMode="Externa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"/>
          <p:cNvSpPr txBox="1"/>
          <p:nvPr>
            <p:ph type="ctrTitle"/>
          </p:nvPr>
        </p:nvSpPr>
        <p:spPr>
          <a:xfrm>
            <a:off x="1600200" y="1124869"/>
            <a:ext cx="8991600" cy="1645800"/>
          </a:xfrm>
          <a:prstGeom prst="rect">
            <a:avLst/>
          </a:prstGeom>
          <a:solidFill>
            <a:srgbClr val="FFFFFF"/>
          </a:solidFill>
          <a:ln cap="flat" cmpd="sng" w="38100">
            <a:solidFill>
              <a:srgbClr val="4040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182875" lIns="274300" spcFirstLastPara="1" rIns="274300" wrap="square" tIns="182875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800"/>
              <a:buFont typeface="Gill Sans"/>
              <a:buNone/>
            </a:pPr>
            <a:r>
              <a:rPr lang="en-US"/>
              <a:t>WORKSHOP 9</a:t>
            </a:r>
            <a:endParaRPr/>
          </a:p>
        </p:txBody>
      </p:sp>
      <p:sp>
        <p:nvSpPr>
          <p:cNvPr id="104" name="Google Shape;104;p1"/>
          <p:cNvSpPr txBox="1"/>
          <p:nvPr/>
        </p:nvSpPr>
        <p:spPr>
          <a:xfrm>
            <a:off x="2665725" y="3177275"/>
            <a:ext cx="7185000" cy="1645800"/>
          </a:xfrm>
          <a:prstGeom prst="rect">
            <a:avLst/>
          </a:prstGeom>
          <a:solidFill>
            <a:srgbClr val="FFFFFF"/>
          </a:solidFill>
          <a:ln cap="flat" cmpd="sng" w="38100">
            <a:solidFill>
              <a:srgbClr val="4040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182875" lIns="274300" spcFirstLastPara="1" rIns="274300" wrap="square" tIns="1828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ill Sans"/>
              <a:buChar char="•"/>
            </a:pPr>
            <a:r>
              <a:rPr lang="en-US" sz="1800">
                <a:latin typeface="Gill Sans"/>
                <a:ea typeface="Gill Sans"/>
                <a:cs typeface="Gill Sans"/>
                <a:sym typeface="Gill Sans"/>
              </a:rPr>
              <a:t>2.2.3 Bitmask</a:t>
            </a:r>
            <a:endParaRPr sz="1800"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Font typeface="Gill Sans"/>
              <a:buChar char="•"/>
            </a:pPr>
            <a:r>
              <a:rPr lang="en-US" sz="1800">
                <a:latin typeface="Gill Sans"/>
                <a:ea typeface="Gill Sans"/>
                <a:cs typeface="Gill Sans"/>
                <a:sym typeface="Gill Sans"/>
              </a:rPr>
              <a:t>2.4.1 Graph Representation Review</a:t>
            </a:r>
            <a:endParaRPr sz="1800"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Font typeface="Gill Sans"/>
              <a:buChar char="•"/>
            </a:pPr>
            <a:r>
              <a:rPr lang="en-US" sz="1800">
                <a:latin typeface="Gill Sans"/>
                <a:ea typeface="Gill Sans"/>
                <a:cs typeface="Gill Sans"/>
                <a:sym typeface="Gill Sans"/>
              </a:rPr>
              <a:t>2.4.3 Fenwick (Binary Indexed) Tree</a:t>
            </a:r>
            <a:endParaRPr sz="1800"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a5494f4a8f_0_1"/>
          <p:cNvSpPr txBox="1"/>
          <p:nvPr>
            <p:ph type="ctrTitle"/>
          </p:nvPr>
        </p:nvSpPr>
        <p:spPr>
          <a:xfrm>
            <a:off x="1600200" y="1124869"/>
            <a:ext cx="8991600" cy="1645800"/>
          </a:xfrm>
          <a:prstGeom prst="rect">
            <a:avLst/>
          </a:prstGeom>
          <a:solidFill>
            <a:srgbClr val="FFFFFF"/>
          </a:solidFill>
          <a:ln cap="flat" cmpd="sng" w="38100">
            <a:solidFill>
              <a:srgbClr val="4040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182875" lIns="274300" spcFirstLastPara="1" rIns="274300" wrap="square" tIns="182875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800"/>
              <a:buFont typeface="Gill Sans"/>
              <a:buNone/>
            </a:pPr>
            <a:r>
              <a:rPr lang="en-US"/>
              <a:t>2.2.3 Bitmask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"/>
          <p:cNvSpPr txBox="1"/>
          <p:nvPr>
            <p:ph type="title"/>
          </p:nvPr>
        </p:nvSpPr>
        <p:spPr>
          <a:xfrm>
            <a:off x="2231136" y="228421"/>
            <a:ext cx="7729800" cy="662100"/>
          </a:xfrm>
          <a:prstGeom prst="rect">
            <a:avLst/>
          </a:prstGeom>
          <a:solidFill>
            <a:srgbClr val="FFFFFF"/>
          </a:solidFill>
          <a:ln cap="sq" cmpd="sng" w="31750">
            <a:solidFill>
              <a:srgbClr val="40404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82875" lIns="182875" spcFirstLastPara="1" rIns="182875" wrap="square" tIns="182875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ct val="100000"/>
              <a:buFont typeface="Gill Sans"/>
              <a:buNone/>
            </a:pPr>
            <a:r>
              <a:rPr lang="en-US"/>
              <a:t>2.2.3 Bitmask – Why?</a:t>
            </a:r>
            <a:endParaRPr/>
          </a:p>
        </p:txBody>
      </p:sp>
      <p:sp>
        <p:nvSpPr>
          <p:cNvPr id="117" name="Google Shape;117;p2"/>
          <p:cNvSpPr txBox="1"/>
          <p:nvPr>
            <p:ph idx="1" type="body"/>
          </p:nvPr>
        </p:nvSpPr>
        <p:spPr>
          <a:xfrm>
            <a:off x="494675" y="1096825"/>
            <a:ext cx="11231400" cy="33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All bitwise operations are constant time! O(1)!!!</a:t>
            </a:r>
            <a:endParaRPr/>
          </a:p>
          <a:p>
            <a:pPr indent="-3556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1800"/>
              <a:t>This is because they are implemented closer to the hardware level</a:t>
            </a:r>
            <a:endParaRPr sz="1800"/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2000"/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Can represent a set, or as a parameter in recursive or dynamic programming algorithms!</a:t>
            </a:r>
            <a:endParaRPr sz="2000"/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2000"/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Faster multiplication!!</a:t>
            </a:r>
            <a:endParaRPr sz="2000"/>
          </a:p>
          <a:p>
            <a:pPr indent="-3556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(With some programming languages, not Python though due to arbitrary precision)</a:t>
            </a:r>
            <a:endParaRPr sz="2000"/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2000"/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We are stripping everything but exactly we need to do the job!</a:t>
            </a:r>
            <a:endParaRPr/>
          </a:p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2000"/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Used in many data structures and algorithms to speed things up!</a:t>
            </a:r>
            <a:endParaRPr sz="2000"/>
          </a:p>
        </p:txBody>
      </p:sp>
      <p:sp>
        <p:nvSpPr>
          <p:cNvPr id="118" name="Google Shape;118;p2"/>
          <p:cNvSpPr txBox="1"/>
          <p:nvPr/>
        </p:nvSpPr>
        <p:spPr>
          <a:xfrm>
            <a:off x="480300" y="5809275"/>
            <a:ext cx="11231400" cy="989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55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BAFB5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rPr>
              <a:t>Sources:</a:t>
            </a:r>
            <a:endParaRPr b="0" i="0" sz="2000" u="none" cap="none" strike="noStrike">
              <a:solidFill>
                <a:srgbClr val="262626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55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000"/>
              <a:buFont typeface="Gill Sans"/>
              <a:buChar char="•"/>
            </a:pPr>
            <a:r>
              <a:rPr b="0" i="0" lang="en-US" sz="2000" u="none" cap="none" strike="noStrike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rPr>
              <a:t>Competitive Programming 4 Section 2.2.3</a:t>
            </a:r>
            <a:endParaRPr b="0" i="0" sz="2000" u="none" cap="none" strike="noStrike">
              <a:solidFill>
                <a:srgbClr val="262626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3"/>
          <p:cNvSpPr txBox="1"/>
          <p:nvPr>
            <p:ph type="title"/>
          </p:nvPr>
        </p:nvSpPr>
        <p:spPr>
          <a:xfrm>
            <a:off x="2231136" y="228421"/>
            <a:ext cx="7729800" cy="662100"/>
          </a:xfrm>
          <a:prstGeom prst="rect">
            <a:avLst/>
          </a:prstGeom>
          <a:solidFill>
            <a:srgbClr val="FFFFFF"/>
          </a:solidFill>
          <a:ln cap="sq" cmpd="sng" w="31750">
            <a:solidFill>
              <a:srgbClr val="40404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82875" lIns="182875" spcFirstLastPara="1" rIns="182875" wrap="square" tIns="182875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ct val="100000"/>
              <a:buFont typeface="Gill Sans"/>
              <a:buNone/>
            </a:pPr>
            <a:r>
              <a:rPr lang="en-US"/>
              <a:t>2.2.3 Bitmask – Representation in Python</a:t>
            </a:r>
            <a:endParaRPr/>
          </a:p>
        </p:txBody>
      </p:sp>
      <p:sp>
        <p:nvSpPr>
          <p:cNvPr id="125" name="Google Shape;125;p3"/>
          <p:cNvSpPr txBox="1"/>
          <p:nvPr>
            <p:ph idx="1" type="body"/>
          </p:nvPr>
        </p:nvSpPr>
        <p:spPr>
          <a:xfrm>
            <a:off x="494675" y="1096825"/>
            <a:ext cx="11231400" cy="4712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Base 2</a:t>
            </a:r>
            <a:endParaRPr sz="2000"/>
          </a:p>
          <a:p>
            <a:pPr indent="-3556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0000, 0001, 0010, 0011…</a:t>
            </a:r>
            <a:endParaRPr sz="2000"/>
          </a:p>
          <a:p>
            <a:pPr indent="-3556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Each position is a power of 2, just like in base 10, they are powers of 10</a:t>
            </a:r>
            <a:endParaRPr sz="2000"/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2000"/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Integer with arbitrary precision in base 2 (i.e. it is whatever you need, max is your system’s memory)</a:t>
            </a:r>
            <a:endParaRPr sz="2000"/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2000"/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Two's Complement Number: Representing Negative Numbers</a:t>
            </a:r>
            <a:endParaRPr sz="2000"/>
          </a:p>
          <a:p>
            <a:pPr indent="-3556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Negative numbers are written with a leading one instead of a leading zero(splits possible bits in 2!)</a:t>
            </a:r>
            <a:endParaRPr sz="2000"/>
          </a:p>
          <a:p>
            <a:pPr indent="-355600" lvl="2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8 bits, "00000000" to "01111111" means 0 to 127</a:t>
            </a:r>
            <a:endParaRPr sz="2000"/>
          </a:p>
          <a:p>
            <a:pPr indent="-355600" lvl="2" marL="1371600" rtl="0" algn="l"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8 bits, "10000000" to “00000000” means -128 to 0</a:t>
            </a:r>
            <a:endParaRPr sz="2000"/>
          </a:p>
          <a:p>
            <a:pPr indent="-355600" lvl="2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reserve "1xxxxxxx" for writing negative numbers. </a:t>
            </a:r>
            <a:endParaRPr sz="2000"/>
          </a:p>
          <a:p>
            <a:pPr indent="-3556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-x = ~(x - 1) i.e. -x = NOT(x - 1) </a:t>
            </a:r>
            <a:endParaRPr sz="2000"/>
          </a:p>
          <a:p>
            <a:pPr indent="-355600" lvl="2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ex: -1 is ~(1 - 1) = ~(0) = "11111111"</a:t>
            </a:r>
            <a:endParaRPr sz="2000"/>
          </a:p>
          <a:p>
            <a:pPr indent="-355600" lvl="2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ex: -10 is ~(10 - 1) = ~(9) = ~("00001001") = "11110110"</a:t>
            </a:r>
            <a:endParaRPr sz="2000"/>
          </a:p>
        </p:txBody>
      </p:sp>
      <p:sp>
        <p:nvSpPr>
          <p:cNvPr id="126" name="Google Shape;126;p3"/>
          <p:cNvSpPr txBox="1"/>
          <p:nvPr/>
        </p:nvSpPr>
        <p:spPr>
          <a:xfrm>
            <a:off x="480300" y="5809275"/>
            <a:ext cx="11231400" cy="989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-3365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BAFB5"/>
              </a:buClr>
              <a:buSzPct val="100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rPr>
              <a:t>Sources:</a:t>
            </a:r>
            <a:endParaRPr b="0" i="0" sz="2000" u="none" cap="none" strike="noStrike">
              <a:solidFill>
                <a:srgbClr val="262626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365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ct val="100000"/>
              <a:buFont typeface="Gill Sans"/>
              <a:buChar char="•"/>
            </a:pPr>
            <a:r>
              <a:rPr b="0" i="0" lang="en-US" sz="2000" u="none" cap="none" strike="noStrike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rPr>
              <a:t>Competitive Programming 4 Section 2.2.3</a:t>
            </a:r>
            <a:endParaRPr b="0" i="0" sz="2000" u="none" cap="none" strike="noStrike">
              <a:solidFill>
                <a:srgbClr val="262626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365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ct val="100000"/>
              <a:buFont typeface="Gill Sans"/>
              <a:buChar char="•"/>
            </a:pPr>
            <a:r>
              <a:rPr b="0" i="0" lang="en-US" sz="2000" u="sng" cap="none" strike="noStrike">
                <a:solidFill>
                  <a:srgbClr val="00B0F0"/>
                </a:solidFill>
                <a:latin typeface="Gill Sans"/>
                <a:ea typeface="Gill Sans"/>
                <a:cs typeface="Gill Sans"/>
                <a:sym typeface="Gill Sans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https://wiki.python.org/moin/BitwiseOperators</a:t>
            </a:r>
            <a:r>
              <a:rPr b="0" i="0" lang="en-US" sz="2000" u="none" cap="none" strike="noStrike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rPr>
              <a:t> </a:t>
            </a:r>
            <a:endParaRPr b="0" i="0" sz="2000" u="none" cap="none" strike="noStrike">
              <a:solidFill>
                <a:srgbClr val="262626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365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ct val="100000"/>
              <a:buFont typeface="Gill Sans"/>
              <a:buChar char="•"/>
            </a:pPr>
            <a:r>
              <a:rPr b="0" i="0" lang="en-US" sz="2000" u="sng" cap="none" strike="noStrike">
                <a:solidFill>
                  <a:srgbClr val="00B0F0"/>
                </a:solidFill>
                <a:latin typeface="Gill Sans"/>
                <a:ea typeface="Gill Sans"/>
                <a:cs typeface="Gill Sans"/>
                <a:sym typeface="Gill Sans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https://en.wikipedia.org/wiki/Arbitrary-precision_arithmetic</a:t>
            </a:r>
            <a:r>
              <a:rPr b="0" i="0" lang="en-US" sz="2000" u="none" cap="none" strike="noStrike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rPr>
              <a:t> </a:t>
            </a:r>
            <a:endParaRPr b="0" i="0" sz="2000" u="none" cap="none" strike="noStrike">
              <a:solidFill>
                <a:srgbClr val="262626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>
                                            <p:txEl>
                                              <p:pRg end="12" st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>
                                            <p:txEl>
                                              <p:pRg end="13" st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845568222e_1_0"/>
          <p:cNvSpPr txBox="1"/>
          <p:nvPr>
            <p:ph type="title"/>
          </p:nvPr>
        </p:nvSpPr>
        <p:spPr>
          <a:xfrm>
            <a:off x="2231136" y="228421"/>
            <a:ext cx="7729800" cy="662100"/>
          </a:xfrm>
          <a:prstGeom prst="rect">
            <a:avLst/>
          </a:prstGeom>
          <a:solidFill>
            <a:srgbClr val="FFFFFF"/>
          </a:solidFill>
          <a:ln cap="sq" cmpd="sng" w="31750">
            <a:solidFill>
              <a:srgbClr val="40404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82875" lIns="182875" spcFirstLastPara="1" rIns="182875" wrap="square" tIns="182875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ct val="100000"/>
              <a:buFont typeface="Gill Sans"/>
              <a:buNone/>
            </a:pPr>
            <a:r>
              <a:rPr lang="en-US"/>
              <a:t>2.2.3 Bitmask – Python Syntax</a:t>
            </a:r>
            <a:endParaRPr/>
          </a:p>
        </p:txBody>
      </p:sp>
      <p:sp>
        <p:nvSpPr>
          <p:cNvPr id="133" name="Google Shape;133;g3845568222e_1_0"/>
          <p:cNvSpPr txBox="1"/>
          <p:nvPr>
            <p:ph idx="1" type="body"/>
          </p:nvPr>
        </p:nvSpPr>
        <p:spPr>
          <a:xfrm>
            <a:off x="494675" y="1096825"/>
            <a:ext cx="11231400" cy="4712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x &lt;&lt; y</a:t>
            </a:r>
            <a:endParaRPr sz="2000"/>
          </a:p>
          <a:p>
            <a:pPr indent="-3556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Returns x with the bits shifted to the left by y places. (new bits on the right-hand-side are zeros)</a:t>
            </a:r>
            <a:endParaRPr sz="2000"/>
          </a:p>
          <a:p>
            <a:pPr indent="-3556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Same as multiplying x by 2</a:t>
            </a:r>
            <a:r>
              <a:rPr baseline="30000" lang="en-US" sz="2000"/>
              <a:t>y</a:t>
            </a:r>
            <a:endParaRPr baseline="30000" sz="2000"/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x &gt;&gt; y</a:t>
            </a:r>
            <a:endParaRPr sz="2000"/>
          </a:p>
          <a:p>
            <a:pPr indent="-3556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Returns x with the bits shifted to the right by y places</a:t>
            </a:r>
            <a:endParaRPr sz="2000"/>
          </a:p>
          <a:p>
            <a:pPr indent="-3556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Same as floor division of x by 2</a:t>
            </a:r>
            <a:r>
              <a:rPr baseline="30000" lang="en-US" sz="2000"/>
              <a:t>y</a:t>
            </a:r>
            <a:endParaRPr baseline="30000" sz="2000"/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x &amp; y</a:t>
            </a:r>
            <a:endParaRPr sz="2000"/>
          </a:p>
          <a:p>
            <a:pPr indent="-3556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Bitwise AND</a:t>
            </a:r>
            <a:endParaRPr sz="2000"/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x | y</a:t>
            </a:r>
            <a:endParaRPr sz="2000"/>
          </a:p>
          <a:p>
            <a:pPr indent="-3556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Bitwise OR</a:t>
            </a:r>
            <a:endParaRPr sz="2000"/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~ x</a:t>
            </a:r>
            <a:endParaRPr sz="2000"/>
          </a:p>
          <a:p>
            <a:pPr indent="-3556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Bitwise NOT </a:t>
            </a:r>
            <a:endParaRPr sz="2000"/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x ^ y</a:t>
            </a:r>
            <a:endParaRPr sz="2000"/>
          </a:p>
          <a:p>
            <a:pPr indent="-3556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Bitwise XOR</a:t>
            </a:r>
            <a:endParaRPr sz="2000"/>
          </a:p>
        </p:txBody>
      </p:sp>
      <p:sp>
        <p:nvSpPr>
          <p:cNvPr id="134" name="Google Shape;134;g3845568222e_1_0"/>
          <p:cNvSpPr txBox="1"/>
          <p:nvPr/>
        </p:nvSpPr>
        <p:spPr>
          <a:xfrm>
            <a:off x="480300" y="5809275"/>
            <a:ext cx="11231400" cy="989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355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BAFB5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rPr>
              <a:t>Sources:</a:t>
            </a:r>
            <a:endParaRPr b="0" i="0" sz="2000" u="none" cap="none" strike="noStrike">
              <a:solidFill>
                <a:srgbClr val="262626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55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000"/>
              <a:buFont typeface="Gill Sans"/>
              <a:buChar char="•"/>
            </a:pPr>
            <a:r>
              <a:rPr b="0" i="0" lang="en-US" sz="2000" u="none" cap="none" strike="noStrike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rPr>
              <a:t>Competitive Programming 4 Section 2.2.3</a:t>
            </a:r>
            <a:endParaRPr b="0" i="0" sz="2000" u="none" cap="none" strike="noStrike">
              <a:solidFill>
                <a:srgbClr val="262626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55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000"/>
              <a:buFont typeface="Gill Sans"/>
              <a:buChar char="•"/>
            </a:pPr>
            <a:r>
              <a:rPr b="0" i="0" lang="en-US" sz="2000" u="sng" cap="none" strike="noStrike">
                <a:solidFill>
                  <a:srgbClr val="00B0F0"/>
                </a:solidFill>
                <a:latin typeface="Gill Sans"/>
                <a:ea typeface="Gill Sans"/>
                <a:cs typeface="Gill Sans"/>
                <a:sym typeface="Gill Sans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https://wiki.python.org/moin/BitwiseOperators</a:t>
            </a:r>
            <a:r>
              <a:rPr b="0" i="0" lang="en-US" sz="2000" u="none" cap="none" strike="noStrike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rPr>
              <a:t> </a:t>
            </a:r>
            <a:endParaRPr b="0" i="0" sz="2000" u="none" cap="none" strike="noStrike">
              <a:solidFill>
                <a:srgbClr val="262626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>
                                            <p:txEl>
                                              <p:pRg end="12" st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>
                                            <p:txEl>
                                              <p:pRg end="13" st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8"/>
          <p:cNvSpPr txBox="1"/>
          <p:nvPr>
            <p:ph type="title"/>
          </p:nvPr>
        </p:nvSpPr>
        <p:spPr>
          <a:xfrm>
            <a:off x="2231136" y="228421"/>
            <a:ext cx="7729800" cy="662100"/>
          </a:xfrm>
          <a:prstGeom prst="rect">
            <a:avLst/>
          </a:prstGeom>
          <a:solidFill>
            <a:srgbClr val="FFFFFF"/>
          </a:solidFill>
          <a:ln cap="sq" cmpd="sng" w="31750">
            <a:solidFill>
              <a:srgbClr val="40404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82875" lIns="182875" spcFirstLastPara="1" rIns="182875" wrap="square" tIns="182875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ct val="100000"/>
              <a:buFont typeface="Gill Sans"/>
              <a:buNone/>
            </a:pPr>
            <a:r>
              <a:rPr lang="en-US"/>
              <a:t>2.2.3 Bitmask – Multiplication/Division</a:t>
            </a:r>
            <a:endParaRPr/>
          </a:p>
        </p:txBody>
      </p:sp>
      <p:sp>
        <p:nvSpPr>
          <p:cNvPr id="141" name="Google Shape;141;p18"/>
          <p:cNvSpPr txBox="1"/>
          <p:nvPr>
            <p:ph idx="1" type="body"/>
          </p:nvPr>
        </p:nvSpPr>
        <p:spPr>
          <a:xfrm>
            <a:off x="494675" y="1096825"/>
            <a:ext cx="11231400" cy="33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Easy!</a:t>
            </a:r>
            <a:endParaRPr sz="2000"/>
          </a:p>
          <a:p>
            <a:pPr indent="-3556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Shift left to multiply by 2, shift right to divide by 2!</a:t>
            </a:r>
            <a:endParaRPr sz="2000"/>
          </a:p>
          <a:p>
            <a:pPr indent="-3556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NOTE: shift left does the floor division! (see 17/2 = 8 in last line)</a:t>
            </a:r>
            <a:endParaRPr sz="2000"/>
          </a:p>
        </p:txBody>
      </p:sp>
      <p:sp>
        <p:nvSpPr>
          <p:cNvPr id="142" name="Google Shape;142;p18"/>
          <p:cNvSpPr txBox="1"/>
          <p:nvPr/>
        </p:nvSpPr>
        <p:spPr>
          <a:xfrm>
            <a:off x="480300" y="5809275"/>
            <a:ext cx="11231400" cy="989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55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BAFB5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rPr>
              <a:t>Sources:</a:t>
            </a:r>
            <a:endParaRPr b="0" i="0" sz="2000" u="none" cap="none" strike="noStrike">
              <a:solidFill>
                <a:srgbClr val="262626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55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000"/>
              <a:buFont typeface="Gill Sans"/>
              <a:buChar char="•"/>
            </a:pPr>
            <a:r>
              <a:rPr b="0" i="0" lang="en-US" sz="2000" u="none" cap="none" strike="noStrike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rPr>
              <a:t>Competitive Programming 4 Section 2.2.3</a:t>
            </a:r>
            <a:endParaRPr b="0" i="0" sz="2000" u="none" cap="none" strike="noStrike">
              <a:solidFill>
                <a:srgbClr val="262626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id="143" name="Google Shape;143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82675" y="3019275"/>
            <a:ext cx="9271141" cy="1949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/>
          <p:cNvSpPr txBox="1"/>
          <p:nvPr>
            <p:ph type="title"/>
          </p:nvPr>
        </p:nvSpPr>
        <p:spPr>
          <a:xfrm>
            <a:off x="2231136" y="228421"/>
            <a:ext cx="7729800" cy="662100"/>
          </a:xfrm>
          <a:prstGeom prst="rect">
            <a:avLst/>
          </a:prstGeom>
          <a:solidFill>
            <a:srgbClr val="FFFFFF"/>
          </a:solidFill>
          <a:ln cap="sq" cmpd="sng" w="31750">
            <a:solidFill>
              <a:srgbClr val="40404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82875" lIns="182875" spcFirstLastPara="1" rIns="182875" wrap="square" tIns="182875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ct val="100000"/>
              <a:buFont typeface="Gill Sans"/>
              <a:buNone/>
            </a:pPr>
            <a:r>
              <a:rPr lang="en-US"/>
              <a:t>2.2.3 Bitmask – Set/Turn on j-th Item (0-based indexing)</a:t>
            </a:r>
            <a:endParaRPr/>
          </a:p>
        </p:txBody>
      </p:sp>
      <p:sp>
        <p:nvSpPr>
          <p:cNvPr id="150" name="Google Shape;150;p19"/>
          <p:cNvSpPr txBox="1"/>
          <p:nvPr>
            <p:ph idx="1" type="body"/>
          </p:nvPr>
        </p:nvSpPr>
        <p:spPr>
          <a:xfrm>
            <a:off x="494675" y="1096825"/>
            <a:ext cx="11231400" cy="33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When using as a set, you can use the bitwise OR operation to set/turn on bits!</a:t>
            </a:r>
            <a:endParaRPr sz="2000"/>
          </a:p>
          <a:p>
            <a:pPr indent="-3556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S |= (1 &lt;&lt; j)</a:t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2000"/>
          </a:p>
        </p:txBody>
      </p:sp>
      <p:sp>
        <p:nvSpPr>
          <p:cNvPr id="151" name="Google Shape;151;p19"/>
          <p:cNvSpPr txBox="1"/>
          <p:nvPr/>
        </p:nvSpPr>
        <p:spPr>
          <a:xfrm>
            <a:off x="480300" y="5809275"/>
            <a:ext cx="11231400" cy="989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355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BAFB5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rPr>
              <a:t>Sources:</a:t>
            </a:r>
            <a:endParaRPr b="0" i="0" sz="2000" u="none" cap="none" strike="noStrike">
              <a:solidFill>
                <a:srgbClr val="262626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55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000"/>
              <a:buFont typeface="Gill Sans"/>
              <a:buChar char="•"/>
            </a:pPr>
            <a:r>
              <a:rPr b="0" i="0" lang="en-US" sz="2000" u="none" cap="none" strike="noStrike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rPr>
              <a:t>Competitive Programming 4 Section</a:t>
            </a:r>
            <a:endParaRPr b="0" i="0" sz="2000" u="none" cap="none" strike="noStrike">
              <a:solidFill>
                <a:srgbClr val="262626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55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000"/>
              <a:buFont typeface="Gill Sans"/>
              <a:buChar char="•"/>
            </a:pPr>
            <a:r>
              <a:rPr b="0" i="0" lang="en-US" sz="2000" u="sng" cap="none" strike="noStrike">
                <a:solidFill>
                  <a:srgbClr val="00B0F0"/>
                </a:solidFill>
                <a:latin typeface="Gill Sans"/>
                <a:ea typeface="Gill Sans"/>
                <a:cs typeface="Gill Sans"/>
                <a:sym typeface="Gill Sans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https://visualgo.net/en/bitmask</a:t>
            </a:r>
            <a:r>
              <a:rPr b="0" i="0" lang="en-US" sz="2000" u="none" cap="none" strike="noStrike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rPr>
              <a:t> </a:t>
            </a:r>
            <a:endParaRPr b="0" i="0" sz="2000" u="none" cap="none" strike="noStrike">
              <a:solidFill>
                <a:srgbClr val="262626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id="152" name="Google Shape;152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94450" y="2709513"/>
            <a:ext cx="9201826" cy="1438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0"/>
          <p:cNvSpPr txBox="1"/>
          <p:nvPr>
            <p:ph type="title"/>
          </p:nvPr>
        </p:nvSpPr>
        <p:spPr>
          <a:xfrm>
            <a:off x="2231136" y="228421"/>
            <a:ext cx="7729800" cy="662100"/>
          </a:xfrm>
          <a:prstGeom prst="rect">
            <a:avLst/>
          </a:prstGeom>
          <a:solidFill>
            <a:srgbClr val="FFFFFF"/>
          </a:solidFill>
          <a:ln cap="sq" cmpd="sng" w="31750">
            <a:solidFill>
              <a:srgbClr val="40404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82875" lIns="182875" spcFirstLastPara="1" rIns="182875" wrap="square" tIns="182875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ct val="100000"/>
              <a:buFont typeface="Gill Sans"/>
              <a:buNone/>
            </a:pPr>
            <a:r>
              <a:rPr lang="en-US"/>
              <a:t>2.2.3 Bitmask – Check if j-th Item of the Set is on</a:t>
            </a:r>
            <a:endParaRPr/>
          </a:p>
        </p:txBody>
      </p:sp>
      <p:sp>
        <p:nvSpPr>
          <p:cNvPr id="159" name="Google Shape;159;p20"/>
          <p:cNvSpPr txBox="1"/>
          <p:nvPr>
            <p:ph idx="1" type="body"/>
          </p:nvPr>
        </p:nvSpPr>
        <p:spPr>
          <a:xfrm>
            <a:off x="494675" y="1096825"/>
            <a:ext cx="11231400" cy="33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Use bitwise AND operation T = S &amp; (1 &lt;&lt; j)</a:t>
            </a:r>
            <a:endParaRPr sz="2000"/>
          </a:p>
          <a:p>
            <a:pPr indent="-3556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if T = 0, then j-th item of the set is off</a:t>
            </a:r>
            <a:endParaRPr sz="2000"/>
          </a:p>
          <a:p>
            <a:pPr indent="-3556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if T != 0, (specifically, T=(1&lt;&lt;j)) then the j-th item of the set is on</a:t>
            </a:r>
            <a:endParaRPr sz="2000"/>
          </a:p>
        </p:txBody>
      </p:sp>
      <p:sp>
        <p:nvSpPr>
          <p:cNvPr id="160" name="Google Shape;160;p20"/>
          <p:cNvSpPr txBox="1"/>
          <p:nvPr/>
        </p:nvSpPr>
        <p:spPr>
          <a:xfrm>
            <a:off x="480300" y="5809275"/>
            <a:ext cx="11231400" cy="989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55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BAFB5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rPr>
              <a:t>Sources:</a:t>
            </a:r>
            <a:endParaRPr b="0" i="0" sz="2000" u="none" cap="none" strike="noStrike">
              <a:solidFill>
                <a:srgbClr val="262626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55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000"/>
              <a:buFont typeface="Gill Sans"/>
              <a:buChar char="•"/>
            </a:pPr>
            <a:r>
              <a:rPr b="0" i="0" lang="en-US" sz="2000" u="none" cap="none" strike="noStrike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rPr>
              <a:t>Competitive Programming 4 Section 2.2.3</a:t>
            </a:r>
            <a:endParaRPr b="0" i="0" sz="2000" u="none" cap="none" strike="noStrike">
              <a:solidFill>
                <a:srgbClr val="262626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id="161" name="Google Shape;161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57200" y="2513049"/>
            <a:ext cx="8860050" cy="2835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1"/>
          <p:cNvSpPr txBox="1"/>
          <p:nvPr>
            <p:ph type="title"/>
          </p:nvPr>
        </p:nvSpPr>
        <p:spPr>
          <a:xfrm>
            <a:off x="2231136" y="228421"/>
            <a:ext cx="7729800" cy="662100"/>
          </a:xfrm>
          <a:prstGeom prst="rect">
            <a:avLst/>
          </a:prstGeom>
          <a:solidFill>
            <a:srgbClr val="FFFFFF"/>
          </a:solidFill>
          <a:ln cap="sq" cmpd="sng" w="31750">
            <a:solidFill>
              <a:srgbClr val="40404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82875" lIns="182875" spcFirstLastPara="1" rIns="182875" wrap="square" tIns="182875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ct val="100000"/>
              <a:buFont typeface="Gill Sans"/>
              <a:buNone/>
            </a:pPr>
            <a:r>
              <a:rPr lang="en-US"/>
              <a:t>2.2.3 Bitmask – Clear/Turn off the j-th Item of the Set</a:t>
            </a:r>
            <a:endParaRPr/>
          </a:p>
        </p:txBody>
      </p:sp>
      <p:sp>
        <p:nvSpPr>
          <p:cNvPr id="168" name="Google Shape;168;p21"/>
          <p:cNvSpPr txBox="1"/>
          <p:nvPr>
            <p:ph idx="1" type="body"/>
          </p:nvPr>
        </p:nvSpPr>
        <p:spPr>
          <a:xfrm>
            <a:off x="494675" y="1096825"/>
            <a:ext cx="11231400" cy="33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Bitwise AND operation S &amp;= ~(1&lt;&lt;j)</a:t>
            </a:r>
            <a:endParaRPr sz="2000"/>
          </a:p>
          <a:p>
            <a:pPr indent="-3556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Don’t forget to use parentheses to avoid accidental bugs due to operator precedence</a:t>
            </a:r>
            <a:endParaRPr sz="2000"/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2000"/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In example, we find the NOT of 1 shifted by 1</a:t>
            </a:r>
            <a:endParaRPr sz="2000"/>
          </a:p>
          <a:p>
            <a:pPr indent="-3556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000001</a:t>
            </a:r>
            <a:endParaRPr sz="2000"/>
          </a:p>
          <a:p>
            <a:pPr indent="-3556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000010</a:t>
            </a:r>
            <a:endParaRPr sz="2000"/>
          </a:p>
          <a:p>
            <a:pPr indent="-3556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111101</a:t>
            </a:r>
            <a:endParaRPr sz="2000"/>
          </a:p>
        </p:txBody>
      </p:sp>
      <p:sp>
        <p:nvSpPr>
          <p:cNvPr id="169" name="Google Shape;169;p21"/>
          <p:cNvSpPr txBox="1"/>
          <p:nvPr/>
        </p:nvSpPr>
        <p:spPr>
          <a:xfrm>
            <a:off x="480300" y="5809275"/>
            <a:ext cx="11231400" cy="989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55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BAFB5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rPr>
              <a:t>Sources:</a:t>
            </a:r>
            <a:endParaRPr b="0" i="0" sz="2000" u="none" cap="none" strike="noStrike">
              <a:solidFill>
                <a:srgbClr val="262626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55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000"/>
              <a:buFont typeface="Gill Sans"/>
              <a:buChar char="•"/>
            </a:pPr>
            <a:r>
              <a:rPr b="0" i="0" lang="en-US" sz="2000" u="none" cap="none" strike="noStrike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rPr>
              <a:t>Competitive Programming 4 Section 2.2.3</a:t>
            </a:r>
            <a:endParaRPr b="0" i="0" sz="2000" u="none" cap="none" strike="noStrike">
              <a:solidFill>
                <a:srgbClr val="262626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id="170" name="Google Shape;170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11150" y="3687625"/>
            <a:ext cx="9598425" cy="1695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2"/>
          <p:cNvSpPr txBox="1"/>
          <p:nvPr>
            <p:ph type="title"/>
          </p:nvPr>
        </p:nvSpPr>
        <p:spPr>
          <a:xfrm>
            <a:off x="2231136" y="228421"/>
            <a:ext cx="7729800" cy="662100"/>
          </a:xfrm>
          <a:prstGeom prst="rect">
            <a:avLst/>
          </a:prstGeom>
          <a:solidFill>
            <a:srgbClr val="FFFFFF"/>
          </a:solidFill>
          <a:ln cap="sq" cmpd="sng" w="31750">
            <a:solidFill>
              <a:srgbClr val="40404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82875" lIns="182875" spcFirstLastPara="1" rIns="182875" wrap="square" tIns="182875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ct val="100000"/>
              <a:buFont typeface="Gill Sans"/>
              <a:buNone/>
            </a:pPr>
            <a:r>
              <a:rPr lang="en-US"/>
              <a:t>2.2.3 Bitmask – Toggle (flip status of) j-th Item of the Set</a:t>
            </a:r>
            <a:endParaRPr/>
          </a:p>
        </p:txBody>
      </p:sp>
      <p:sp>
        <p:nvSpPr>
          <p:cNvPr id="177" name="Google Shape;177;p22"/>
          <p:cNvSpPr txBox="1"/>
          <p:nvPr>
            <p:ph idx="1" type="body"/>
          </p:nvPr>
        </p:nvSpPr>
        <p:spPr>
          <a:xfrm>
            <a:off x="494675" y="1096825"/>
            <a:ext cx="11231400" cy="33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Use bitwise operation XOR S ^= (1&lt;&lt;j)</a:t>
            </a:r>
            <a:endParaRPr sz="2000"/>
          </a:p>
        </p:txBody>
      </p:sp>
      <p:sp>
        <p:nvSpPr>
          <p:cNvPr id="178" name="Google Shape;178;p22"/>
          <p:cNvSpPr txBox="1"/>
          <p:nvPr/>
        </p:nvSpPr>
        <p:spPr>
          <a:xfrm>
            <a:off x="480300" y="5809275"/>
            <a:ext cx="11231400" cy="989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55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BAFB5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rPr>
              <a:t>Sources:</a:t>
            </a:r>
            <a:endParaRPr b="0" i="0" sz="2000" u="none" cap="none" strike="noStrike">
              <a:solidFill>
                <a:srgbClr val="262626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55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000"/>
              <a:buFont typeface="Gill Sans"/>
              <a:buChar char="•"/>
            </a:pPr>
            <a:r>
              <a:rPr b="0" i="0" lang="en-US" sz="2000" u="none" cap="none" strike="noStrike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rPr>
              <a:t>Competitive Programming 4 Section 2.2.3</a:t>
            </a:r>
            <a:endParaRPr b="0" i="0" sz="2000" u="none" cap="none" strike="noStrike">
              <a:solidFill>
                <a:srgbClr val="262626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id="179" name="Google Shape;179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0200" y="1921615"/>
            <a:ext cx="10120357" cy="3310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3"/>
          <p:cNvSpPr txBox="1"/>
          <p:nvPr>
            <p:ph type="title"/>
          </p:nvPr>
        </p:nvSpPr>
        <p:spPr>
          <a:xfrm>
            <a:off x="2231136" y="228421"/>
            <a:ext cx="7729800" cy="662100"/>
          </a:xfrm>
          <a:prstGeom prst="rect">
            <a:avLst/>
          </a:prstGeom>
          <a:solidFill>
            <a:srgbClr val="FFFFFF"/>
          </a:solidFill>
          <a:ln cap="sq" cmpd="sng" w="31750">
            <a:solidFill>
              <a:srgbClr val="40404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82875" lIns="182875" spcFirstLastPara="1" rIns="182875" wrap="square" tIns="182875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ct val="100000"/>
              <a:buFont typeface="Gill Sans"/>
              <a:buNone/>
            </a:pPr>
            <a:r>
              <a:rPr lang="en-US"/>
              <a:t>2.2.3 Bitmask – Get the Value of Least Significant Bit of S</a:t>
            </a:r>
            <a:endParaRPr/>
          </a:p>
        </p:txBody>
      </p:sp>
      <p:sp>
        <p:nvSpPr>
          <p:cNvPr id="186" name="Google Shape;186;p23"/>
          <p:cNvSpPr txBox="1"/>
          <p:nvPr>
            <p:ph idx="1" type="body"/>
          </p:nvPr>
        </p:nvSpPr>
        <p:spPr>
          <a:xfrm>
            <a:off x="494675" y="1096825"/>
            <a:ext cx="11231400" cy="33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T = ((S) &amp; -(S))</a:t>
            </a:r>
            <a:endParaRPr sz="2000"/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Operation is often abbreviated as LSOne(S)</a:t>
            </a:r>
            <a:endParaRPr sz="2000"/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Remember! </a:t>
            </a:r>
            <a:endParaRPr sz="2000"/>
          </a:p>
        </p:txBody>
      </p:sp>
      <p:sp>
        <p:nvSpPr>
          <p:cNvPr id="187" name="Google Shape;187;p23"/>
          <p:cNvSpPr txBox="1"/>
          <p:nvPr/>
        </p:nvSpPr>
        <p:spPr>
          <a:xfrm>
            <a:off x="480300" y="5809275"/>
            <a:ext cx="11231400" cy="989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55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BAFB5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rPr>
              <a:t>Sources:</a:t>
            </a:r>
            <a:endParaRPr b="0" i="0" sz="2000" u="none" cap="none" strike="noStrike">
              <a:solidFill>
                <a:srgbClr val="262626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55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000"/>
              <a:buFont typeface="Gill Sans"/>
              <a:buChar char="•"/>
            </a:pPr>
            <a:r>
              <a:rPr b="0" i="0" lang="en-US" sz="2000" u="none" cap="none" strike="noStrike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rPr>
              <a:t>Competitive Programming 4 Section 2.2.3</a:t>
            </a:r>
            <a:endParaRPr b="0" i="0" sz="2000" u="none" cap="none" strike="noStrike">
              <a:solidFill>
                <a:srgbClr val="262626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id="188" name="Google Shape;188;p23"/>
          <p:cNvPicPr preferRelativeResize="0"/>
          <p:nvPr/>
        </p:nvPicPr>
        <p:blipFill rotWithShape="1">
          <a:blip r:embed="rId3">
            <a:alphaModFix/>
          </a:blip>
          <a:srcRect b="3725" l="0" r="0" t="0"/>
          <a:stretch/>
        </p:blipFill>
        <p:spPr>
          <a:xfrm>
            <a:off x="1458800" y="3322100"/>
            <a:ext cx="9274400" cy="1982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24"/>
          <p:cNvSpPr txBox="1"/>
          <p:nvPr>
            <p:ph type="title"/>
          </p:nvPr>
        </p:nvSpPr>
        <p:spPr>
          <a:xfrm>
            <a:off x="2231136" y="228421"/>
            <a:ext cx="7729800" cy="662100"/>
          </a:xfrm>
          <a:prstGeom prst="rect">
            <a:avLst/>
          </a:prstGeom>
          <a:solidFill>
            <a:srgbClr val="FFFFFF"/>
          </a:solidFill>
          <a:ln cap="sq" cmpd="sng" w="31750">
            <a:solidFill>
              <a:srgbClr val="40404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82875" lIns="182875" spcFirstLastPara="1" rIns="182875" wrap="square" tIns="182875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ct val="100000"/>
              <a:buFont typeface="Gill Sans"/>
              <a:buNone/>
            </a:pPr>
            <a:r>
              <a:rPr lang="en-US"/>
              <a:t>2.2.3 Bitmask – Turn on All Bits in a Set of Size n</a:t>
            </a:r>
            <a:endParaRPr/>
          </a:p>
        </p:txBody>
      </p:sp>
      <p:sp>
        <p:nvSpPr>
          <p:cNvPr id="195" name="Google Shape;195;p24"/>
          <p:cNvSpPr txBox="1"/>
          <p:nvPr>
            <p:ph idx="1" type="body"/>
          </p:nvPr>
        </p:nvSpPr>
        <p:spPr>
          <a:xfrm>
            <a:off x="494675" y="1096825"/>
            <a:ext cx="11231400" cy="33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S = (1 &lt;&lt; n) - 1</a:t>
            </a:r>
            <a:endParaRPr sz="2000"/>
          </a:p>
        </p:txBody>
      </p:sp>
      <p:sp>
        <p:nvSpPr>
          <p:cNvPr id="196" name="Google Shape;196;p24"/>
          <p:cNvSpPr txBox="1"/>
          <p:nvPr/>
        </p:nvSpPr>
        <p:spPr>
          <a:xfrm>
            <a:off x="480300" y="5809275"/>
            <a:ext cx="11231400" cy="989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55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BAFB5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rPr>
              <a:t>Sources:</a:t>
            </a:r>
            <a:endParaRPr b="0" i="0" sz="2000" u="none" cap="none" strike="noStrike">
              <a:solidFill>
                <a:srgbClr val="262626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55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000"/>
              <a:buFont typeface="Gill Sans"/>
              <a:buChar char="•"/>
            </a:pPr>
            <a:r>
              <a:rPr b="0" i="0" lang="en-US" sz="2000" u="none" cap="none" strike="noStrike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rPr>
              <a:t>Competitive Programming 4 Section 2.2.3</a:t>
            </a:r>
            <a:endParaRPr b="0" i="0" sz="2000" u="none" cap="none" strike="noStrike">
              <a:solidFill>
                <a:srgbClr val="262626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id="197" name="Google Shape;197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20742" y="2554442"/>
            <a:ext cx="9950518" cy="2034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25"/>
          <p:cNvSpPr txBox="1"/>
          <p:nvPr>
            <p:ph type="title"/>
          </p:nvPr>
        </p:nvSpPr>
        <p:spPr>
          <a:xfrm>
            <a:off x="1436225" y="218800"/>
            <a:ext cx="9348300" cy="662100"/>
          </a:xfrm>
          <a:prstGeom prst="rect">
            <a:avLst/>
          </a:prstGeom>
          <a:solidFill>
            <a:srgbClr val="FFFFFF"/>
          </a:solidFill>
          <a:ln cap="sq" cmpd="sng" w="31750">
            <a:solidFill>
              <a:srgbClr val="40404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82875" lIns="182875" spcFirstLastPara="1" rIns="182875" wrap="square" tIns="182875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ct val="100000"/>
              <a:buFont typeface="Gill Sans"/>
              <a:buNone/>
            </a:pPr>
            <a:r>
              <a:rPr lang="en-US"/>
              <a:t>2.2.3 Bitmask – Enumerate all Proper Subsets of a Given Bitmask </a:t>
            </a:r>
            <a:endParaRPr/>
          </a:p>
        </p:txBody>
      </p:sp>
      <p:sp>
        <p:nvSpPr>
          <p:cNvPr id="204" name="Google Shape;204;p25"/>
          <p:cNvSpPr txBox="1"/>
          <p:nvPr>
            <p:ph idx="1" type="body"/>
          </p:nvPr>
        </p:nvSpPr>
        <p:spPr>
          <a:xfrm>
            <a:off x="494675" y="1096825"/>
            <a:ext cx="11231400" cy="227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A proper subset of a mask is all the subsets with set bits (including bit 0) that is strictly smaller than the mask</a:t>
            </a:r>
            <a:endParaRPr sz="2000"/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e.g. mask = (11)</a:t>
            </a:r>
            <a:r>
              <a:rPr baseline="-25000" lang="en-US" sz="2000"/>
              <a:t>10</a:t>
            </a:r>
            <a:r>
              <a:rPr lang="en-US" sz="2000"/>
              <a:t> = (1011)</a:t>
            </a:r>
            <a:r>
              <a:rPr baseline="-25000" lang="en-US" sz="2000"/>
              <a:t>2</a:t>
            </a:r>
            <a:r>
              <a:rPr lang="en-US" sz="2000"/>
              <a:t> or {0, 1, 3}</a:t>
            </a:r>
            <a:endParaRPr sz="2000"/>
          </a:p>
        </p:txBody>
      </p:sp>
      <p:sp>
        <p:nvSpPr>
          <p:cNvPr id="205" name="Google Shape;205;p25"/>
          <p:cNvSpPr txBox="1"/>
          <p:nvPr/>
        </p:nvSpPr>
        <p:spPr>
          <a:xfrm>
            <a:off x="480300" y="5809275"/>
            <a:ext cx="11231400" cy="989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55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BAFB5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rPr>
              <a:t>Sources:</a:t>
            </a:r>
            <a:endParaRPr b="0" i="0" sz="2000" u="none" cap="none" strike="noStrike">
              <a:solidFill>
                <a:srgbClr val="262626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55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000"/>
              <a:buFont typeface="Gill Sans"/>
              <a:buChar char="•"/>
            </a:pPr>
            <a:r>
              <a:rPr b="0" i="0" lang="en-US" sz="2000" u="none" cap="none" strike="noStrike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rPr>
              <a:t>Competitive Programming 4 Section 2.2.3</a:t>
            </a:r>
            <a:endParaRPr b="0" i="0" sz="2000" u="none" cap="none" strike="noStrike">
              <a:solidFill>
                <a:srgbClr val="262626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id="206" name="Google Shape;206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00900" y="4600216"/>
            <a:ext cx="6883375" cy="878062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25"/>
          <p:cNvSpPr txBox="1"/>
          <p:nvPr>
            <p:ph idx="1" type="body"/>
          </p:nvPr>
        </p:nvSpPr>
        <p:spPr>
          <a:xfrm>
            <a:off x="700900" y="2102148"/>
            <a:ext cx="1217400" cy="370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2000"/>
              <a:t>Python</a:t>
            </a:r>
            <a:endParaRPr sz="2000"/>
          </a:p>
        </p:txBody>
      </p:sp>
      <p:sp>
        <p:nvSpPr>
          <p:cNvPr id="208" name="Google Shape;208;p25"/>
          <p:cNvSpPr txBox="1"/>
          <p:nvPr>
            <p:ph idx="1" type="body"/>
          </p:nvPr>
        </p:nvSpPr>
        <p:spPr>
          <a:xfrm>
            <a:off x="700900" y="4213248"/>
            <a:ext cx="1217400" cy="370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2000"/>
              <a:t>C/C++</a:t>
            </a:r>
            <a:endParaRPr sz="2000"/>
          </a:p>
        </p:txBody>
      </p:sp>
      <p:pic>
        <p:nvPicPr>
          <p:cNvPr id="209" name="Google Shape;209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00900" y="2472641"/>
            <a:ext cx="3545595" cy="1526750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25"/>
          <p:cNvSpPr txBox="1"/>
          <p:nvPr>
            <p:ph idx="1" type="body"/>
          </p:nvPr>
        </p:nvSpPr>
        <p:spPr>
          <a:xfrm>
            <a:off x="1150925" y="5564599"/>
            <a:ext cx="9918900" cy="51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2000"/>
              <a:t>There will be a Jupyter Notebook on Github with a printout of what’s happening</a:t>
            </a:r>
            <a:endParaRPr sz="2000"/>
          </a:p>
        </p:txBody>
      </p:sp>
      <p:graphicFrame>
        <p:nvGraphicFramePr>
          <p:cNvPr id="211" name="Google Shape;211;p25"/>
          <p:cNvGraphicFramePr/>
          <p:nvPr/>
        </p:nvGraphicFramePr>
        <p:xfrm>
          <a:off x="8622525" y="18921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{1B80F226-4A29-48A7-9A73-AE6D4CBD48A4}</a:tableStyleId>
              </a:tblPr>
              <a:tblGrid>
                <a:gridCol w="1079050"/>
                <a:gridCol w="1079050"/>
                <a:gridCol w="1079050"/>
              </a:tblGrid>
              <a:tr h="3732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Base 10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Base 2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Subset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  <a:tr h="3732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0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0000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{0}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  <a:tr h="3732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0001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{1}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  <a:tr h="3732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2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0010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{0, 1}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  <a:tr h="3732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3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0011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{3}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  <a:tr h="3732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8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1000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{3}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  <a:tr h="3732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9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1001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{0, 3}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  <a:tr h="3732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10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chemeClr val="dk1"/>
                          </a:solidFill>
                        </a:rPr>
                        <a:t>1010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chemeClr val="dk1"/>
                          </a:solidFill>
                        </a:rPr>
                        <a:t>{1, 3}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212" name="Google Shape;212;p25"/>
          <p:cNvGraphicFramePr/>
          <p:nvPr/>
        </p:nvGraphicFramePr>
        <p:xfrm>
          <a:off x="4887888" y="2232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{1B80F226-4A29-48A7-9A73-AE6D4CBD48A4}</a:tableStyleId>
              </a:tblPr>
              <a:tblGrid>
                <a:gridCol w="947975"/>
                <a:gridCol w="947975"/>
                <a:gridCol w="947975"/>
              </a:tblGrid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Mask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Element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In Mask?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0001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0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Yes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0010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Yes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0100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2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No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1000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3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Yes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845568222e_0_7"/>
          <p:cNvSpPr txBox="1"/>
          <p:nvPr>
            <p:ph type="ctrTitle"/>
          </p:nvPr>
        </p:nvSpPr>
        <p:spPr>
          <a:xfrm>
            <a:off x="1600200" y="1124869"/>
            <a:ext cx="8991600" cy="1645800"/>
          </a:xfrm>
          <a:prstGeom prst="rect">
            <a:avLst/>
          </a:prstGeom>
          <a:solidFill>
            <a:srgbClr val="FFFFFF"/>
          </a:solidFill>
          <a:ln cap="flat" cmpd="sng" w="38100">
            <a:solidFill>
              <a:srgbClr val="4040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182875" lIns="274300" spcFirstLastPara="1" rIns="274300" wrap="square" tIns="182875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800"/>
              <a:buFont typeface="Gill Sans"/>
              <a:buNone/>
            </a:pPr>
            <a:r>
              <a:rPr lang="en-US"/>
              <a:t>2.4.1 Graph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3845568222e_0_13"/>
          <p:cNvSpPr txBox="1"/>
          <p:nvPr>
            <p:ph type="title"/>
          </p:nvPr>
        </p:nvSpPr>
        <p:spPr>
          <a:xfrm>
            <a:off x="2231136" y="228421"/>
            <a:ext cx="7729800" cy="662100"/>
          </a:xfrm>
          <a:prstGeom prst="rect">
            <a:avLst/>
          </a:prstGeom>
          <a:solidFill>
            <a:srgbClr val="FFFFFF"/>
          </a:solidFill>
          <a:ln cap="sq" cmpd="sng" w="31750">
            <a:solidFill>
              <a:srgbClr val="40404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82875" lIns="182875" spcFirstLastPara="1" rIns="182875" wrap="square" tIns="182875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ct val="100000"/>
              <a:buFont typeface="Gill Sans"/>
              <a:buNone/>
            </a:pPr>
            <a:r>
              <a:rPr lang="en-US"/>
              <a:t>2.4.1 Graph – Quick Review Terminology Info Dump</a:t>
            </a:r>
            <a:endParaRPr/>
          </a:p>
        </p:txBody>
      </p:sp>
      <p:sp>
        <p:nvSpPr>
          <p:cNvPr id="225" name="Google Shape;225;g3845568222e_0_13"/>
          <p:cNvSpPr txBox="1"/>
          <p:nvPr>
            <p:ph idx="1" type="body"/>
          </p:nvPr>
        </p:nvSpPr>
        <p:spPr>
          <a:xfrm>
            <a:off x="0" y="1096825"/>
            <a:ext cx="12192000" cy="481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-346075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en-US" sz="2000"/>
              <a:t>A graph G = (V, E) is a set of vertices (V) and edges (E)</a:t>
            </a:r>
            <a:endParaRPr sz="2000"/>
          </a:p>
          <a:p>
            <a:pPr indent="-346075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en-US" sz="2000"/>
              <a:t>Edges store connectivity information between vertices in V</a:t>
            </a:r>
            <a:endParaRPr sz="2000"/>
          </a:p>
          <a:p>
            <a:pPr indent="-346075" lvl="2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en-US" sz="2000"/>
              <a:t>Can be in the form of weight or direction </a:t>
            </a:r>
            <a:endParaRPr sz="2000"/>
          </a:p>
          <a:p>
            <a:pPr indent="-346075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en-US" sz="2000"/>
              <a:t>Undirected/Directed Graph</a:t>
            </a:r>
            <a:endParaRPr sz="2000"/>
          </a:p>
          <a:p>
            <a:pPr indent="-346075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en-US" sz="2000"/>
              <a:t>A graph that is made up of a set of vertices connected by undirected/directed edges respectively</a:t>
            </a:r>
            <a:endParaRPr sz="2000"/>
          </a:p>
          <a:p>
            <a:pPr indent="-346075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en-US" sz="2000"/>
              <a:t>Directed Acyclic Graph (DAG)</a:t>
            </a:r>
            <a:endParaRPr sz="2000"/>
          </a:p>
          <a:p>
            <a:pPr indent="-346075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en-US" sz="2000"/>
              <a:t>Is a directed graph with no directed cycles (no loop arounds!)</a:t>
            </a:r>
            <a:endParaRPr sz="2000"/>
          </a:p>
          <a:p>
            <a:pPr indent="-346075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en-US" sz="2000"/>
              <a:t>Tree</a:t>
            </a:r>
            <a:endParaRPr sz="2000"/>
          </a:p>
          <a:p>
            <a:pPr indent="-346075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en-US" sz="2000"/>
              <a:t>An undirected graph in which every pair of distinct vertices is connected by exactly one path</a:t>
            </a:r>
            <a:endParaRPr sz="2000"/>
          </a:p>
          <a:p>
            <a:pPr indent="-346075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en-US" sz="2000"/>
              <a:t>Forest</a:t>
            </a:r>
            <a:endParaRPr sz="2000"/>
          </a:p>
          <a:p>
            <a:pPr indent="-346075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en-US" sz="2000"/>
              <a:t>A forest is collection of trees, i.e. an undirected graph where any two vertices are connected by exactly one path</a:t>
            </a:r>
            <a:endParaRPr sz="2000"/>
          </a:p>
          <a:p>
            <a:pPr indent="-346075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en-US" sz="2000"/>
              <a:t>Acyclic, and doesn’t need to connected</a:t>
            </a:r>
            <a:endParaRPr sz="2000"/>
          </a:p>
          <a:p>
            <a:pPr indent="-346075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en-US" sz="2000"/>
              <a:t>Complete Graph</a:t>
            </a:r>
            <a:endParaRPr sz="2000"/>
          </a:p>
          <a:p>
            <a:pPr indent="-346075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en-US" sz="2000"/>
              <a:t>An undirected graph in which every pair of distinct vertices is connected by a unique edge</a:t>
            </a:r>
            <a:endParaRPr sz="2000"/>
          </a:p>
          <a:p>
            <a:pPr indent="-346075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en-US" sz="2000"/>
              <a:t>Bipartite Graph</a:t>
            </a:r>
            <a:endParaRPr sz="2000"/>
          </a:p>
          <a:p>
            <a:pPr indent="-346075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en-US" sz="2000"/>
              <a:t>A graph whose vertices can be divided into two disjoint and independent sets U and V, that is, every edge connects a vertex in U to one in V</a:t>
            </a:r>
            <a:endParaRPr sz="2000"/>
          </a:p>
          <a:p>
            <a:pPr indent="-346075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en-US" sz="2000"/>
              <a:t>Multigraph </a:t>
            </a:r>
            <a:endParaRPr sz="2000"/>
          </a:p>
          <a:p>
            <a:pPr indent="-346075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en-US" sz="2000"/>
              <a:t>A graph which is permitted to have multiple edges, that is, edges that have the same end nodes</a:t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97297"/>
              <a:buNone/>
            </a:pPr>
            <a:r>
              <a:t/>
            </a:r>
            <a:endParaRPr sz="2000"/>
          </a:p>
        </p:txBody>
      </p:sp>
      <p:sp>
        <p:nvSpPr>
          <p:cNvPr id="226" name="Google Shape;226;g3845568222e_0_13"/>
          <p:cNvSpPr txBox="1"/>
          <p:nvPr/>
        </p:nvSpPr>
        <p:spPr>
          <a:xfrm>
            <a:off x="0" y="5499850"/>
            <a:ext cx="11231400" cy="1258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55000" lnSpcReduction="20000"/>
          </a:bodyPr>
          <a:lstStyle/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BAFB5"/>
              </a:buClr>
              <a:buSzPct val="100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rPr>
              <a:t>Sources:</a:t>
            </a:r>
            <a:endParaRPr b="0" i="0" sz="2000" u="none" cap="none" strike="noStrike">
              <a:solidFill>
                <a:srgbClr val="262626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ct val="100000"/>
              <a:buFont typeface="Gill Sans"/>
              <a:buChar char="•"/>
            </a:pPr>
            <a:r>
              <a:rPr b="0" i="0" lang="en-US" sz="2000" u="none" cap="none" strike="noStrike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rPr>
              <a:t>Competitive Programming 4 Section 2.4.1</a:t>
            </a:r>
            <a:endParaRPr b="0" i="0" sz="2000" u="none" cap="none" strike="noStrike">
              <a:solidFill>
                <a:srgbClr val="262626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ct val="100000"/>
              <a:buFont typeface="Gill Sans"/>
              <a:buChar char="•"/>
            </a:pPr>
            <a:r>
              <a:rPr b="0" i="0" lang="en-US" sz="2000" u="sng" cap="none" strike="noStrike">
                <a:solidFill>
                  <a:schemeClr val="hlink"/>
                </a:solidFill>
                <a:latin typeface="Gill Sans"/>
                <a:ea typeface="Gill Sans"/>
                <a:cs typeface="Gill Sans"/>
                <a:sym typeface="Gill Sans"/>
                <a:hlinkClick r:id="rId3"/>
              </a:rPr>
              <a:t>https://en.wikipedia.org/wiki/Tree_(graph_theory)</a:t>
            </a:r>
            <a:r>
              <a:rPr b="0" i="0" lang="en-US" sz="2000" u="none" cap="none" strike="noStrike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rPr>
              <a:t> </a:t>
            </a:r>
            <a:endParaRPr b="0" i="0" sz="2000" u="none" cap="none" strike="noStrike">
              <a:solidFill>
                <a:srgbClr val="262626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ct val="100000"/>
              <a:buFont typeface="Gill Sans"/>
              <a:buChar char="•"/>
            </a:pPr>
            <a:r>
              <a:rPr b="0" i="0" lang="en-US" sz="2000" u="sng" cap="none" strike="noStrike">
                <a:solidFill>
                  <a:schemeClr val="hlink"/>
                </a:solidFill>
                <a:latin typeface="Gill Sans"/>
                <a:ea typeface="Gill Sans"/>
                <a:cs typeface="Gill Sans"/>
                <a:sym typeface="Gill Sans"/>
                <a:hlinkClick r:id="rId4"/>
              </a:rPr>
              <a:t>https://en.wikipedia.org/wiki/Complete_graph</a:t>
            </a:r>
            <a:r>
              <a:rPr b="0" i="0" lang="en-US" sz="2000" u="none" cap="none" strike="noStrike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rPr>
              <a:t> </a:t>
            </a:r>
            <a:endParaRPr b="0" i="0" sz="2000" u="none" cap="none" strike="noStrike">
              <a:solidFill>
                <a:srgbClr val="262626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ct val="100000"/>
              <a:buFont typeface="Gill Sans"/>
              <a:buChar char="•"/>
            </a:pPr>
            <a:r>
              <a:rPr b="0" i="0" lang="en-US" sz="2000" u="sng" cap="none" strike="noStrike">
                <a:solidFill>
                  <a:schemeClr val="hlink"/>
                </a:solidFill>
                <a:latin typeface="Gill Sans"/>
                <a:ea typeface="Gill Sans"/>
                <a:cs typeface="Gill Sans"/>
                <a:sym typeface="Gill Sans"/>
                <a:hlinkClick r:id="rId5"/>
              </a:rPr>
              <a:t>https://en.wikipedia.org/wiki/Bipartite_graph</a:t>
            </a:r>
            <a:r>
              <a:rPr b="0" i="0" lang="en-US" sz="2000" u="none" cap="none" strike="noStrike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rPr>
              <a:t> </a:t>
            </a:r>
            <a:endParaRPr b="0" i="0" sz="2000" u="none" cap="none" strike="noStrike">
              <a:solidFill>
                <a:srgbClr val="262626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ct val="100000"/>
              <a:buFont typeface="Gill Sans"/>
              <a:buChar char="•"/>
            </a:pPr>
            <a:r>
              <a:rPr b="0" i="0" lang="en-US" sz="2000" u="sng" cap="none" strike="noStrike">
                <a:solidFill>
                  <a:schemeClr val="hlink"/>
                </a:solidFill>
                <a:latin typeface="Gill Sans"/>
                <a:ea typeface="Gill Sans"/>
                <a:cs typeface="Gill Sans"/>
                <a:sym typeface="Gill Sans"/>
                <a:hlinkClick r:id="rId6"/>
              </a:rPr>
              <a:t>https://en.wikipedia.org/wiki/Directed_graph</a:t>
            </a:r>
            <a:r>
              <a:rPr b="0" i="0" lang="en-US" sz="2000" u="none" cap="none" strike="noStrike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rPr>
              <a:t> </a:t>
            </a:r>
            <a:endParaRPr b="0" i="0" sz="2000" u="none" cap="none" strike="noStrike">
              <a:solidFill>
                <a:srgbClr val="262626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ct val="100000"/>
              <a:buFont typeface="Gill Sans"/>
              <a:buChar char="•"/>
            </a:pPr>
            <a:r>
              <a:rPr b="0" i="0" lang="en-US" sz="2000" u="sng" cap="none" strike="noStrike">
                <a:solidFill>
                  <a:schemeClr val="hlink"/>
                </a:solidFill>
                <a:latin typeface="Gill Sans"/>
                <a:ea typeface="Gill Sans"/>
                <a:cs typeface="Gill Sans"/>
                <a:sym typeface="Gill Sans"/>
                <a:hlinkClick r:id="rId7"/>
              </a:rPr>
              <a:t>https://en.wikipedia.org/wiki/Directed_acyclic_graph</a:t>
            </a:r>
            <a:r>
              <a:rPr b="0" i="0" lang="en-US" sz="2000" u="none" cap="none" strike="noStrike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rPr>
              <a:t> </a:t>
            </a:r>
            <a:endParaRPr b="0" i="0" sz="2000" u="none" cap="none" strike="noStrike">
              <a:solidFill>
                <a:srgbClr val="262626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ct val="100000"/>
              <a:buFont typeface="Gill Sans"/>
              <a:buChar char="•"/>
            </a:pPr>
            <a:r>
              <a:rPr b="0" i="0" lang="en-US" sz="2000" u="sng" cap="none" strike="noStrike">
                <a:solidFill>
                  <a:schemeClr val="hlink"/>
                </a:solidFill>
                <a:latin typeface="Gill Sans"/>
                <a:ea typeface="Gill Sans"/>
                <a:cs typeface="Gill Sans"/>
                <a:sym typeface="Gill Sans"/>
                <a:hlinkClick r:id="rId8"/>
              </a:rPr>
              <a:t>https://en.wikipedia.org/wiki/Multigraph</a:t>
            </a:r>
            <a:r>
              <a:rPr b="0" i="0" lang="en-US" sz="2000" u="none" cap="none" strike="noStrike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rPr>
              <a:t> </a:t>
            </a:r>
            <a:endParaRPr b="0" i="0" sz="2000" u="none" cap="none" strike="noStrike">
              <a:solidFill>
                <a:srgbClr val="262626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id="227" name="Google Shape;227;g3845568222e_0_13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3928850" y="5793500"/>
            <a:ext cx="1013150" cy="671208"/>
          </a:xfrm>
          <a:prstGeom prst="rect">
            <a:avLst/>
          </a:prstGeom>
          <a:noFill/>
          <a:ln>
            <a:noFill/>
          </a:ln>
        </p:spPr>
      </p:pic>
      <p:pic>
        <p:nvPicPr>
          <p:cNvPr id="228" name="Google Shape;228;g3845568222e_0_13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5046075" y="5822779"/>
            <a:ext cx="1299000" cy="8579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29" name="Google Shape;229;g3845568222e_0_13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6449141" y="5499851"/>
            <a:ext cx="915934" cy="1258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0" name="Google Shape;230;g3845568222e_0_13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7469140" y="5663075"/>
            <a:ext cx="868410" cy="1013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1" name="Google Shape;231;g3845568222e_0_13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8500459" y="5745200"/>
            <a:ext cx="1031716" cy="1013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2" name="Google Shape;232;g3845568222e_0_13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9584637" y="5911488"/>
            <a:ext cx="1541764" cy="761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3" name="Google Shape;233;g3845568222e_0_13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11178850" y="5785747"/>
            <a:ext cx="1013150" cy="1013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>
                                            <p:txEl>
                                              <p:pRg end="12" st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>
                                            <p:txEl>
                                              <p:pRg end="13" st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>
                                            <p:txEl>
                                              <p:pRg end="14" st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>
                                            <p:txEl>
                                              <p:pRg end="15" st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>
                                            <p:txEl>
                                              <p:pRg end="16" st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>
                                            <p:txEl>
                                              <p:pRg end="17" st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>
                                            <p:txEl>
                                              <p:pRg end="18" st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3836faffe8e_0_42"/>
          <p:cNvSpPr txBox="1"/>
          <p:nvPr>
            <p:ph type="title"/>
          </p:nvPr>
        </p:nvSpPr>
        <p:spPr>
          <a:xfrm>
            <a:off x="2231136" y="228421"/>
            <a:ext cx="7729800" cy="662100"/>
          </a:xfrm>
          <a:prstGeom prst="rect">
            <a:avLst/>
          </a:prstGeom>
          <a:solidFill>
            <a:srgbClr val="FFFFFF"/>
          </a:solidFill>
          <a:ln cap="sq" cmpd="sng" w="31750">
            <a:solidFill>
              <a:srgbClr val="40404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82875" lIns="182875" spcFirstLastPara="1" rIns="182875" wrap="square" tIns="182875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ct val="100000"/>
              <a:buFont typeface="Gill Sans"/>
              <a:buNone/>
            </a:pPr>
            <a:r>
              <a:rPr lang="en-US"/>
              <a:t>Spanning Trees</a:t>
            </a:r>
            <a:endParaRPr/>
          </a:p>
        </p:txBody>
      </p:sp>
      <p:sp>
        <p:nvSpPr>
          <p:cNvPr id="240" name="Google Shape;240;g3836faffe8e_0_42"/>
          <p:cNvSpPr txBox="1"/>
          <p:nvPr>
            <p:ph idx="1" type="body"/>
          </p:nvPr>
        </p:nvSpPr>
        <p:spPr>
          <a:xfrm>
            <a:off x="494675" y="1096825"/>
            <a:ext cx="11231400" cy="33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“Spanning tree T of an undirected graph G is a subgraph of a tree which includes all of the vertices of G”</a:t>
            </a:r>
            <a:endParaRPr sz="2000"/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I.E. a tree that has V-1 edges and where all the edges connect all the vertices</a:t>
            </a:r>
            <a:endParaRPr sz="2000"/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There are many possible kinds spanning trees given an undirected graph</a:t>
            </a:r>
            <a:endParaRPr sz="2000"/>
          </a:p>
          <a:p>
            <a:pPr indent="-3556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Minimum Spanning Tree </a:t>
            </a:r>
            <a:endParaRPr sz="2000"/>
          </a:p>
          <a:p>
            <a:pPr indent="-3556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Depth First Search Spanning Tree</a:t>
            </a:r>
            <a:endParaRPr sz="2000"/>
          </a:p>
          <a:p>
            <a:pPr indent="-3556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Breadth First Search Spanning Tree</a:t>
            </a:r>
            <a:endParaRPr sz="2000"/>
          </a:p>
          <a:p>
            <a:pPr indent="-3556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SSSP (Single-Source Shortest Paths) Spanning Tree</a:t>
            </a:r>
            <a:endParaRPr sz="2000"/>
          </a:p>
          <a:p>
            <a:pPr indent="-3556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and more!</a:t>
            </a:r>
            <a:endParaRPr sz="2000"/>
          </a:p>
        </p:txBody>
      </p:sp>
      <p:sp>
        <p:nvSpPr>
          <p:cNvPr id="241" name="Google Shape;241;g3836faffe8e_0_42"/>
          <p:cNvSpPr txBox="1"/>
          <p:nvPr/>
        </p:nvSpPr>
        <p:spPr>
          <a:xfrm>
            <a:off x="480300" y="5809275"/>
            <a:ext cx="11231400" cy="989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355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BAFB5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rPr>
              <a:t>Sources:</a:t>
            </a:r>
            <a:endParaRPr b="0" i="0" sz="2000" u="none" cap="none" strike="noStrike">
              <a:solidFill>
                <a:srgbClr val="262626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55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000"/>
              <a:buFont typeface="Gill Sans"/>
              <a:buChar char="•"/>
            </a:pPr>
            <a:r>
              <a:rPr b="0" i="0" lang="en-US" sz="2000" u="none" cap="none" strike="noStrike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rPr>
              <a:t>Competitive Programming 4 Section 4.3</a:t>
            </a:r>
            <a:endParaRPr b="0" i="0" sz="2000" u="none" cap="none" strike="noStrike">
              <a:solidFill>
                <a:srgbClr val="262626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55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000"/>
              <a:buFont typeface="Gill Sans"/>
              <a:buChar char="•"/>
            </a:pPr>
            <a:r>
              <a:rPr b="0" i="0" lang="en-US" sz="2000" u="sng" cap="none" strike="noStrike">
                <a:solidFill>
                  <a:schemeClr val="hlink"/>
                </a:solidFill>
                <a:latin typeface="Gill Sans"/>
                <a:ea typeface="Gill Sans"/>
                <a:cs typeface="Gill Sans"/>
                <a:sym typeface="Gill Sans"/>
                <a:hlinkClick r:id="rId3"/>
              </a:rPr>
              <a:t>https://en.wikipedia.org/wiki/Spanning_tree</a:t>
            </a:r>
            <a:r>
              <a:rPr b="0" i="0" lang="en-US" sz="2000" u="none" cap="none" strike="noStrike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rPr>
              <a:t> </a:t>
            </a:r>
            <a:endParaRPr b="0" i="0" sz="2000" u="none" cap="none" strike="noStrike">
              <a:solidFill>
                <a:srgbClr val="262626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id="242" name="Google Shape;242;g3836faffe8e_0_4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76950" y="2712726"/>
            <a:ext cx="3708775" cy="3970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3845568222e_0_47"/>
          <p:cNvSpPr txBox="1"/>
          <p:nvPr>
            <p:ph type="title"/>
          </p:nvPr>
        </p:nvSpPr>
        <p:spPr>
          <a:xfrm>
            <a:off x="2231136" y="228421"/>
            <a:ext cx="7729800" cy="662100"/>
          </a:xfrm>
          <a:prstGeom prst="rect">
            <a:avLst/>
          </a:prstGeom>
          <a:solidFill>
            <a:srgbClr val="FFFFFF"/>
          </a:solidFill>
          <a:ln cap="sq" cmpd="sng" w="31750">
            <a:solidFill>
              <a:srgbClr val="40404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82875" lIns="182875" spcFirstLastPara="1" rIns="182875" wrap="square" tIns="182875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ct val="100000"/>
              <a:buFont typeface="Gill Sans"/>
              <a:buNone/>
            </a:pPr>
            <a:r>
              <a:rPr lang="en-US"/>
              <a:t>2.4.1 Graph - Adjacency Matrix</a:t>
            </a:r>
            <a:endParaRPr/>
          </a:p>
        </p:txBody>
      </p:sp>
      <p:sp>
        <p:nvSpPr>
          <p:cNvPr id="249" name="Google Shape;249;g3845568222e_0_47"/>
          <p:cNvSpPr txBox="1"/>
          <p:nvPr>
            <p:ph idx="1" type="body"/>
          </p:nvPr>
        </p:nvSpPr>
        <p:spPr>
          <a:xfrm>
            <a:off x="494675" y="1096825"/>
            <a:ext cx="11231400" cy="40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A 2D array storing the connectivity information between 2 vertices</a:t>
            </a:r>
            <a:endParaRPr sz="2000"/>
          </a:p>
          <a:p>
            <a:pPr indent="-3556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AM[u][v] can store the weight and direction</a:t>
            </a:r>
            <a:endParaRPr sz="2000"/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Languages</a:t>
            </a:r>
            <a:endParaRPr sz="2000"/>
          </a:p>
          <a:p>
            <a:pPr indent="-3556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Native support in C++ STL and Java API</a:t>
            </a:r>
            <a:endParaRPr sz="2000"/>
          </a:p>
          <a:p>
            <a:pPr indent="-3556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Python use list of lists</a:t>
            </a:r>
            <a:endParaRPr sz="2000"/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Good to know:</a:t>
            </a:r>
            <a:endParaRPr sz="2000"/>
          </a:p>
          <a:p>
            <a:pPr indent="-3556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Only use if number of vertices V is small enough (under ~ 5000)</a:t>
            </a:r>
            <a:endParaRPr sz="2000"/>
          </a:p>
          <a:p>
            <a:pPr indent="-3556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Use if you need to access the connectivity between two vertices in a small dense graph is frequently required </a:t>
            </a:r>
            <a:endParaRPr sz="2000"/>
          </a:p>
          <a:p>
            <a:pPr indent="-3556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Cannot store a multigraph</a:t>
            </a:r>
            <a:endParaRPr sz="2000"/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O(V</a:t>
            </a:r>
            <a:r>
              <a:rPr baseline="30000" lang="en-US" sz="2000"/>
              <a:t>2</a:t>
            </a:r>
            <a:r>
              <a:rPr lang="en-US" sz="2000"/>
              <a:t>) space</a:t>
            </a:r>
            <a:endParaRPr sz="2000"/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O(V) to enumerate list of neighbors of a vertex u</a:t>
            </a:r>
            <a:endParaRPr sz="2000"/>
          </a:p>
        </p:txBody>
      </p:sp>
      <p:sp>
        <p:nvSpPr>
          <p:cNvPr id="250" name="Google Shape;250;g3845568222e_0_47"/>
          <p:cNvSpPr txBox="1"/>
          <p:nvPr/>
        </p:nvSpPr>
        <p:spPr>
          <a:xfrm>
            <a:off x="480300" y="5809275"/>
            <a:ext cx="11231400" cy="989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55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BAFB5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rPr>
              <a:t>Sources:</a:t>
            </a:r>
            <a:endParaRPr b="0" i="0" sz="2000" u="none" cap="none" strike="noStrike">
              <a:solidFill>
                <a:srgbClr val="262626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55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000"/>
              <a:buFont typeface="Gill Sans"/>
              <a:buChar char="•"/>
            </a:pPr>
            <a:r>
              <a:rPr b="0" i="0" lang="en-US" sz="2000" u="none" cap="none" strike="noStrike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rPr>
              <a:t>Competitive Programming 4 Section 2.4.1</a:t>
            </a:r>
            <a:endParaRPr b="0" i="0" sz="2000" u="none" cap="none" strike="noStrike">
              <a:solidFill>
                <a:srgbClr val="262626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id="251" name="Google Shape;251;g3845568222e_0_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08100" y="3607200"/>
            <a:ext cx="3306774" cy="1195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2" name="Google Shape;252;g3845568222e_0_4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570800" y="4802500"/>
            <a:ext cx="4621200" cy="1996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3845568222e_0_68"/>
          <p:cNvSpPr txBox="1"/>
          <p:nvPr>
            <p:ph type="title"/>
          </p:nvPr>
        </p:nvSpPr>
        <p:spPr>
          <a:xfrm>
            <a:off x="2231136" y="228421"/>
            <a:ext cx="7729800" cy="662100"/>
          </a:xfrm>
          <a:prstGeom prst="rect">
            <a:avLst/>
          </a:prstGeom>
          <a:solidFill>
            <a:srgbClr val="FFFFFF"/>
          </a:solidFill>
          <a:ln cap="sq" cmpd="sng" w="31750">
            <a:solidFill>
              <a:srgbClr val="40404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82875" lIns="182875" spcFirstLastPara="1" rIns="182875" wrap="square" tIns="182875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ct val="100000"/>
              <a:buFont typeface="Gill Sans"/>
              <a:buNone/>
            </a:pPr>
            <a:r>
              <a:rPr lang="en-US"/>
              <a:t>2.4.1 Graph - Adjacency List</a:t>
            </a:r>
            <a:endParaRPr/>
          </a:p>
        </p:txBody>
      </p:sp>
      <p:sp>
        <p:nvSpPr>
          <p:cNvPr id="259" name="Google Shape;259;g3845568222e_0_68"/>
          <p:cNvSpPr txBox="1"/>
          <p:nvPr>
            <p:ph idx="1" type="body"/>
          </p:nvPr>
        </p:nvSpPr>
        <p:spPr>
          <a:xfrm>
            <a:off x="494675" y="1096825"/>
            <a:ext cx="11231400" cy="4712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Is a vector of vector of pairs storing the list of neighbors of each vertex u as ‘edge information pairs’</a:t>
            </a:r>
            <a:endParaRPr sz="2000"/>
          </a:p>
          <a:p>
            <a:pPr indent="-3556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Each pair is: (index of neighbouring vertex, weight of the edge) </a:t>
            </a:r>
            <a:endParaRPr sz="2000"/>
          </a:p>
          <a:p>
            <a:pPr indent="-3556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If graph is unweighted, you can leave it empty or just don’t implement it</a:t>
            </a:r>
            <a:endParaRPr sz="2000"/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Languages</a:t>
            </a:r>
            <a:endParaRPr sz="2000"/>
          </a:p>
          <a:p>
            <a:pPr indent="-3556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 C++ STL: vector&lt;vii&gt; AL, with vii defined as in: typedef pair&lt;int, int&gt; ii; typedef vector&lt;ii&gt; vii; </a:t>
            </a:r>
            <a:endParaRPr sz="2000"/>
          </a:p>
          <a:p>
            <a:pPr indent="-3556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Using the Java API: ArrayList&lt;ArrayList&lt;IntegerPair&gt;&gt; AL</a:t>
            </a:r>
            <a:endParaRPr sz="2000"/>
          </a:p>
          <a:p>
            <a:pPr indent="-355600" lvl="2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IntegerPair is a simple Java class that contains a pair of integers like pair&lt;int, int&gt;</a:t>
            </a:r>
            <a:endParaRPr sz="2000"/>
          </a:p>
          <a:p>
            <a:pPr indent="-3556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Python: AL = defaultdict(list), the values in list are grouped by pairs</a:t>
            </a:r>
            <a:endParaRPr sz="2000"/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Good to know:</a:t>
            </a:r>
            <a:endParaRPr sz="2000"/>
          </a:p>
          <a:p>
            <a:pPr indent="-3556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More space-efficient than Adjacency Matrices</a:t>
            </a:r>
            <a:endParaRPr sz="2000"/>
          </a:p>
          <a:p>
            <a:pPr indent="-3556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Can store a multigraph</a:t>
            </a:r>
            <a:endParaRPr sz="2000"/>
          </a:p>
          <a:p>
            <a:pPr indent="-3556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Can easily enumerate the list of neighbors of a vertex v efficiently</a:t>
            </a:r>
            <a:endParaRPr sz="2000"/>
          </a:p>
          <a:p>
            <a:pPr indent="-355600" lvl="2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if v has k neighbors, it will take O(k) time</a:t>
            </a:r>
            <a:endParaRPr sz="2000"/>
          </a:p>
          <a:p>
            <a:pPr indent="-3556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Very common to use this model to store graphs</a:t>
            </a:r>
            <a:endParaRPr sz="2000"/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O(V + E) Space complexity</a:t>
            </a:r>
            <a:endParaRPr sz="2000"/>
          </a:p>
        </p:txBody>
      </p:sp>
      <p:sp>
        <p:nvSpPr>
          <p:cNvPr id="260" name="Google Shape;260;g3845568222e_0_68"/>
          <p:cNvSpPr txBox="1"/>
          <p:nvPr/>
        </p:nvSpPr>
        <p:spPr>
          <a:xfrm>
            <a:off x="480300" y="5809275"/>
            <a:ext cx="11231400" cy="989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55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BAFB5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rPr>
              <a:t>Sources:</a:t>
            </a:r>
            <a:endParaRPr b="0" i="0" sz="2000" u="none" cap="none" strike="noStrike">
              <a:solidFill>
                <a:srgbClr val="262626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55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000"/>
              <a:buFont typeface="Gill Sans"/>
              <a:buChar char="•"/>
            </a:pPr>
            <a:r>
              <a:rPr b="0" i="0" lang="en-US" sz="2000" u="none" cap="none" strike="noStrike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rPr>
              <a:t>Competitive Programming 4 Section 2.4.1</a:t>
            </a:r>
            <a:endParaRPr b="0" i="0" sz="2000" u="none" cap="none" strike="noStrike">
              <a:solidFill>
                <a:srgbClr val="262626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id="261" name="Google Shape;261;g3845568222e_0_6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08400" y="4923450"/>
            <a:ext cx="4331100" cy="1934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2" name="Google Shape;262;g3845568222e_0_6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78600" y="3564000"/>
            <a:ext cx="3760901" cy="1359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>
                                            <p:txEl>
                                              <p:pRg end="12" st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>
                                            <p:txEl>
                                              <p:pRg end="13" st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>
                                            <p:txEl>
                                              <p:pRg end="14" st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3845568222e_0_85"/>
          <p:cNvSpPr txBox="1"/>
          <p:nvPr>
            <p:ph type="title"/>
          </p:nvPr>
        </p:nvSpPr>
        <p:spPr>
          <a:xfrm>
            <a:off x="2231136" y="228421"/>
            <a:ext cx="7729800" cy="662100"/>
          </a:xfrm>
          <a:prstGeom prst="rect">
            <a:avLst/>
          </a:prstGeom>
          <a:solidFill>
            <a:srgbClr val="FFFFFF"/>
          </a:solidFill>
          <a:ln cap="sq" cmpd="sng" w="31750">
            <a:solidFill>
              <a:srgbClr val="40404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82875" lIns="182875" spcFirstLastPara="1" rIns="182875" wrap="square" tIns="182875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ct val="100000"/>
              <a:buFont typeface="Gill Sans"/>
              <a:buNone/>
            </a:pPr>
            <a:r>
              <a:rPr lang="en-US"/>
              <a:t>2.4.1 Graph - Edge List</a:t>
            </a:r>
            <a:endParaRPr/>
          </a:p>
        </p:txBody>
      </p:sp>
      <p:sp>
        <p:nvSpPr>
          <p:cNvPr id="269" name="Google Shape;269;g3845568222e_0_85"/>
          <p:cNvSpPr txBox="1"/>
          <p:nvPr>
            <p:ph idx="1" type="body"/>
          </p:nvPr>
        </p:nvSpPr>
        <p:spPr>
          <a:xfrm>
            <a:off x="494675" y="1096825"/>
            <a:ext cx="11231400" cy="49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Is a vector of triples</a:t>
            </a:r>
            <a:endParaRPr sz="2000"/>
          </a:p>
          <a:p>
            <a:pPr indent="-3556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Store a list of all E edges, usually in some sorted order</a:t>
            </a:r>
            <a:endParaRPr sz="2000"/>
          </a:p>
          <a:p>
            <a:pPr indent="-3556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For directed graphs, we store a bidirectional edge twice, one for each direction</a:t>
            </a:r>
            <a:endParaRPr sz="2000"/>
          </a:p>
          <a:p>
            <a:pPr indent="-3556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The edges are tuples usually (w, u, v), (weight w plus the two endpoints u and v)</a:t>
            </a:r>
            <a:endParaRPr sz="2000"/>
          </a:p>
          <a:p>
            <a:pPr indent="-355600" lvl="2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If the graph is unweighted, you can drop the w</a:t>
            </a:r>
            <a:endParaRPr sz="2000"/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Languages</a:t>
            </a:r>
            <a:endParaRPr sz="2000"/>
          </a:p>
          <a:p>
            <a:pPr indent="-3556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 C++ STL: vector&lt;tuple&lt;int, int, int&gt;&gt; EL </a:t>
            </a:r>
            <a:endParaRPr sz="2000"/>
          </a:p>
          <a:p>
            <a:pPr indent="-3556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Java API: Vector&lt;IntegerTriple&gt; EL</a:t>
            </a:r>
            <a:endParaRPr sz="2000"/>
          </a:p>
          <a:p>
            <a:pPr indent="-355600" lvl="2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IntegerTriple is a class that contains a triple of integers like tuple&lt;int, int, int&gt;</a:t>
            </a:r>
            <a:endParaRPr sz="2000"/>
          </a:p>
          <a:p>
            <a:pPr indent="-3556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Python: EL = []</a:t>
            </a:r>
            <a:endParaRPr sz="2000"/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Good to know:</a:t>
            </a:r>
            <a:endParaRPr sz="2000"/>
          </a:p>
          <a:p>
            <a:pPr indent="-3556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Good for Kruskal’s algorithm for MST where the collection of undirected edges need to be sorted</a:t>
            </a:r>
            <a:endParaRPr sz="2000"/>
          </a:p>
          <a:p>
            <a:pPr indent="-3556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Complicates algorithms that require the enumeration of edges incident to a vertex</a:t>
            </a:r>
            <a:endParaRPr sz="2000"/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O(E) Space complexity</a:t>
            </a:r>
            <a:endParaRPr sz="2000"/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Take a look at: </a:t>
            </a:r>
            <a:r>
              <a:rPr lang="en-US" sz="2000" u="sng">
                <a:solidFill>
                  <a:schemeClr val="hlink"/>
                </a:solidFill>
                <a:hlinkClick r:id="rId3"/>
              </a:rPr>
              <a:t>https://visualgo.net/en/graphds</a:t>
            </a:r>
            <a:r>
              <a:rPr lang="en-US" sz="2000"/>
              <a:t> </a:t>
            </a:r>
            <a:endParaRPr sz="2000"/>
          </a:p>
        </p:txBody>
      </p:sp>
      <p:sp>
        <p:nvSpPr>
          <p:cNvPr id="270" name="Google Shape;270;g3845568222e_0_85"/>
          <p:cNvSpPr txBox="1"/>
          <p:nvPr/>
        </p:nvSpPr>
        <p:spPr>
          <a:xfrm>
            <a:off x="480300" y="5809275"/>
            <a:ext cx="11231400" cy="989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55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BAFB5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rPr>
              <a:t>Sources:</a:t>
            </a:r>
            <a:endParaRPr b="0" i="0" sz="2000" u="none" cap="none" strike="noStrike">
              <a:solidFill>
                <a:srgbClr val="262626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55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000"/>
              <a:buFont typeface="Gill Sans"/>
              <a:buChar char="•"/>
            </a:pPr>
            <a:r>
              <a:rPr b="0" i="0" lang="en-US" sz="2000" u="none" cap="none" strike="noStrike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rPr>
              <a:t>Competitive Programming 4 Section 2.4.1</a:t>
            </a:r>
            <a:endParaRPr b="0" i="0" sz="2000" u="none" cap="none" strike="noStrike">
              <a:solidFill>
                <a:srgbClr val="262626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id="271" name="Google Shape;271;g3845568222e_0_8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45800" y="5326975"/>
            <a:ext cx="3760901" cy="1359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2" name="Google Shape;272;g3845568222e_0_8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076400" y="4828975"/>
            <a:ext cx="2115600" cy="2020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">
                                            <p:txEl>
                                              <p:pRg end="12" st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">
                                            <p:txEl>
                                              <p:pRg end="13" st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">
                                            <p:txEl>
                                              <p:pRg end="14" st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3836faffe8e_0_2"/>
          <p:cNvSpPr txBox="1"/>
          <p:nvPr>
            <p:ph type="ctrTitle"/>
          </p:nvPr>
        </p:nvSpPr>
        <p:spPr>
          <a:xfrm>
            <a:off x="1600200" y="1124869"/>
            <a:ext cx="8991600" cy="1645800"/>
          </a:xfrm>
          <a:prstGeom prst="rect">
            <a:avLst/>
          </a:prstGeom>
          <a:solidFill>
            <a:srgbClr val="FFFFFF"/>
          </a:solidFill>
          <a:ln cap="flat" cmpd="sng" w="38100">
            <a:solidFill>
              <a:srgbClr val="4040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182875" lIns="274300" spcFirstLastPara="1" rIns="274300" wrap="square" tIns="182875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800"/>
              <a:buFont typeface="Gill Sans"/>
              <a:buNone/>
            </a:pPr>
            <a:r>
              <a:rPr lang="en-US"/>
              <a:t>2.4.3 Fenwick (Binary Indexed) Tree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g3a5494f4a8f_0_7"/>
          <p:cNvSpPr txBox="1"/>
          <p:nvPr>
            <p:ph type="title"/>
          </p:nvPr>
        </p:nvSpPr>
        <p:spPr>
          <a:xfrm>
            <a:off x="2231136" y="228421"/>
            <a:ext cx="7729800" cy="662100"/>
          </a:xfrm>
          <a:prstGeom prst="rect">
            <a:avLst/>
          </a:prstGeom>
          <a:solidFill>
            <a:srgbClr val="FFFFFF"/>
          </a:solidFill>
          <a:ln cap="sq" cmpd="sng" w="31750">
            <a:solidFill>
              <a:srgbClr val="40404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82875" lIns="182875" spcFirstLastPara="1" rIns="182875" wrap="square" tIns="18287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-US"/>
              <a:t>Fenwick Tree (or Binary Indexed Tree BIT) Motivation</a:t>
            </a:r>
            <a:endParaRPr/>
          </a:p>
        </p:txBody>
      </p:sp>
      <p:sp>
        <p:nvSpPr>
          <p:cNvPr id="285" name="Google Shape;285;g3a5494f4a8f_0_7"/>
          <p:cNvSpPr txBox="1"/>
          <p:nvPr>
            <p:ph idx="1" type="body"/>
          </p:nvPr>
        </p:nvSpPr>
        <p:spPr>
          <a:xfrm>
            <a:off x="494675" y="1096825"/>
            <a:ext cx="11231400" cy="4712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Supposed we have 11 scores for 11 students for a course. Scores range from 1 to 10, </a:t>
            </a:r>
            <a:endParaRPr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1800"/>
              <a:t>s = [2, 4, 5, 6, 5, 6, 8, 6, 7, 9, 7]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We want to know how many students got 8, how many got between 1 and 6, between 4 and 6?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We also have to update these constantly during the semester!</a:t>
            </a:r>
            <a:endParaRPr sz="2000"/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Ideas?</a:t>
            </a:r>
            <a:endParaRPr sz="2000"/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Naive Implementation</a:t>
            </a:r>
            <a:endParaRPr sz="2000"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update(i,x): a[i] += x → O(1)</a:t>
            </a:r>
            <a:endParaRPr sz="2000"/>
          </a:p>
          <a:p>
            <a:pPr indent="-3556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prefix_sum(i): loop from 1..i and add → O(n)</a:t>
            </a:r>
            <a:endParaRPr sz="2000"/>
          </a:p>
          <a:p>
            <a:pPr indent="-3556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sum(i, j): prefix_sum(j) - prefix_sum(i-1).) → O(n)</a:t>
            </a:r>
            <a:endParaRPr sz="2000"/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Fenwick Tree</a:t>
            </a:r>
            <a:endParaRPr sz="2000"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update(i,x) → O(log n)</a:t>
            </a:r>
            <a:endParaRPr sz="2000"/>
          </a:p>
          <a:p>
            <a:pPr indent="-3556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prefix_sum(i) → O(log n)</a:t>
            </a:r>
            <a:endParaRPr sz="2000"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sum(i, j): prefix_sum(j) - prefix_sum(i-1) → O(log n)</a:t>
            </a:r>
            <a:endParaRPr sz="2000"/>
          </a:p>
        </p:txBody>
      </p:sp>
      <p:sp>
        <p:nvSpPr>
          <p:cNvPr id="286" name="Google Shape;286;g3a5494f4a8f_0_7"/>
          <p:cNvSpPr txBox="1"/>
          <p:nvPr/>
        </p:nvSpPr>
        <p:spPr>
          <a:xfrm>
            <a:off x="480300" y="5809275"/>
            <a:ext cx="11231400" cy="989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55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BAFB5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rPr>
              <a:t>Sources:</a:t>
            </a:r>
            <a:endParaRPr b="0" i="0" sz="2000" u="none" cap="none" strike="noStrike">
              <a:solidFill>
                <a:srgbClr val="262626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55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000"/>
              <a:buFont typeface="Gill Sans"/>
              <a:buChar char="•"/>
            </a:pPr>
            <a:r>
              <a:rPr b="0" i="0" lang="en-US" sz="2000" u="none" cap="none" strike="noStrike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rPr>
              <a:t>Competitive Programming 4 Section 2.4</a:t>
            </a:r>
            <a:endParaRPr b="0" i="0" sz="2000" u="none" cap="none" strike="noStrike">
              <a:solidFill>
                <a:srgbClr val="262626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">
                                            <p:txEl>
                                              <p:pRg end="12" st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3a5494f4a8f_0_42"/>
          <p:cNvSpPr txBox="1"/>
          <p:nvPr>
            <p:ph type="title"/>
          </p:nvPr>
        </p:nvSpPr>
        <p:spPr>
          <a:xfrm>
            <a:off x="2231136" y="228421"/>
            <a:ext cx="7729800" cy="662100"/>
          </a:xfrm>
          <a:prstGeom prst="rect">
            <a:avLst/>
          </a:prstGeom>
          <a:solidFill>
            <a:srgbClr val="FFFFFF"/>
          </a:solidFill>
          <a:ln cap="sq" cmpd="sng" w="31750">
            <a:solidFill>
              <a:srgbClr val="40404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82875" lIns="182875" spcFirstLastPara="1" rIns="182875" wrap="square" tIns="182875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-US"/>
              <a:t>Fenwick Tree What is it?</a:t>
            </a:r>
            <a:endParaRPr/>
          </a:p>
        </p:txBody>
      </p:sp>
      <p:sp>
        <p:nvSpPr>
          <p:cNvPr id="293" name="Google Shape;293;g3a5494f4a8f_0_42"/>
          <p:cNvSpPr txBox="1"/>
          <p:nvPr>
            <p:ph idx="1" type="body"/>
          </p:nvPr>
        </p:nvSpPr>
        <p:spPr>
          <a:xfrm>
            <a:off x="494675" y="1096825"/>
            <a:ext cx="11231400" cy="4712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First remember LSO</a:t>
            </a:r>
            <a:r>
              <a:rPr lang="en-US" sz="2000"/>
              <a:t>ne(x: int)</a:t>
            </a:r>
            <a:endParaRPr sz="2000"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returns the least significant bit of a number by using ((S) &amp; -(S))</a:t>
            </a:r>
            <a:endParaRPr sz="2000"/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We keep an separate array ft[1..n] where each position i stores the sum of a range of the original array ending at i.</a:t>
            </a:r>
            <a:endParaRPr sz="2000"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ft</a:t>
            </a:r>
            <a:r>
              <a:rPr lang="en-US" sz="2000"/>
              <a:t>[i] = sum of elements/frequencies of items </a:t>
            </a:r>
            <a:r>
              <a:rPr lang="en-US" sz="2000"/>
              <a:t>{i-LSOne(i)+1, i-LSOne(i)+2, i-LSOne(i)+3, .., i}</a:t>
            </a:r>
            <a:endParaRPr sz="2000"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ft[4] = 2 is responsible for range [(4-4+1)..4] = [1..4] of f</a:t>
            </a:r>
            <a:endParaRPr sz="2000"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ft[6] = 5 is responsible for range [(6-2+1)..6] = [5..6] of f</a:t>
            </a:r>
            <a:endParaRPr sz="2000"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ft[7] = 2 is responsible for range [(7-1+1)..7] = [7..7] of f</a:t>
            </a:r>
            <a:endParaRPr sz="2000"/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Char char="•"/>
            </a:pPr>
            <a:r>
              <a:rPr lang="en-US" sz="1900"/>
              <a:t>The idea is that we “split” the sumed chunks across the array, better than the naive way where each “chunk” is the previous element!</a:t>
            </a:r>
            <a:endParaRPr sz="2100"/>
          </a:p>
        </p:txBody>
      </p:sp>
      <p:sp>
        <p:nvSpPr>
          <p:cNvPr id="294" name="Google Shape;294;g3a5494f4a8f_0_42"/>
          <p:cNvSpPr txBox="1"/>
          <p:nvPr/>
        </p:nvSpPr>
        <p:spPr>
          <a:xfrm>
            <a:off x="480300" y="5809275"/>
            <a:ext cx="11231400" cy="989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55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BAFB5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rPr>
              <a:t>Sources:</a:t>
            </a:r>
            <a:endParaRPr b="0" i="0" sz="2000" u="none" cap="none" strike="noStrike">
              <a:solidFill>
                <a:srgbClr val="262626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55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000"/>
              <a:buFont typeface="Gill Sans"/>
              <a:buChar char="•"/>
            </a:pPr>
            <a:r>
              <a:rPr b="0" i="0" lang="en-US" sz="2000" u="none" cap="none" strike="noStrike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rPr>
              <a:t>Competitive Programming 4 Section 2.4</a:t>
            </a:r>
            <a:endParaRPr b="0" i="0" sz="2000" u="none" cap="none" strike="noStrike">
              <a:solidFill>
                <a:srgbClr val="262626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id="295" name="Google Shape;295;g3a5494f4a8f_0_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23606" y="4045343"/>
            <a:ext cx="5487595" cy="2753632"/>
          </a:xfrm>
          <a:prstGeom prst="rect">
            <a:avLst/>
          </a:prstGeom>
          <a:noFill/>
          <a:ln>
            <a:noFill/>
          </a:ln>
        </p:spPr>
      </p:pic>
      <p:pic>
        <p:nvPicPr>
          <p:cNvPr id="296" name="Google Shape;296;g3a5494f4a8f_0_4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59935" y="4228950"/>
            <a:ext cx="4131466" cy="1695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26"/>
          <p:cNvSpPr txBox="1"/>
          <p:nvPr>
            <p:ph type="title"/>
          </p:nvPr>
        </p:nvSpPr>
        <p:spPr>
          <a:xfrm>
            <a:off x="2231136" y="228421"/>
            <a:ext cx="7729800" cy="662100"/>
          </a:xfrm>
          <a:prstGeom prst="rect">
            <a:avLst/>
          </a:prstGeom>
          <a:solidFill>
            <a:srgbClr val="FFFFFF"/>
          </a:solidFill>
          <a:ln cap="sq" cmpd="sng" w="31750">
            <a:solidFill>
              <a:srgbClr val="40404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82875" lIns="182875" spcFirstLastPara="1" rIns="182875" wrap="square" tIns="182875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ct val="100000"/>
              <a:buFont typeface="Gill Sans"/>
              <a:buNone/>
            </a:pPr>
            <a:r>
              <a:rPr lang="en-US"/>
              <a:t>Fenwick Tree – RQS</a:t>
            </a:r>
            <a:endParaRPr/>
          </a:p>
        </p:txBody>
      </p:sp>
      <p:sp>
        <p:nvSpPr>
          <p:cNvPr id="303" name="Google Shape;303;p26"/>
          <p:cNvSpPr txBox="1"/>
          <p:nvPr>
            <p:ph idx="1" type="body"/>
          </p:nvPr>
        </p:nvSpPr>
        <p:spPr>
          <a:xfrm>
            <a:off x="494675" y="1096825"/>
            <a:ext cx="11231400" cy="4712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A Range Query Sum is the </a:t>
            </a:r>
            <a:r>
              <a:rPr lang="en-US" sz="2000"/>
              <a:t>sum of all elements within a specified range</a:t>
            </a:r>
            <a:endParaRPr sz="2000"/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RQS(i, j) is the sum of all occurrences between i and j</a:t>
            </a:r>
            <a:endParaRPr/>
          </a:p>
          <a:p>
            <a:pPr indent="-3556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1800"/>
              <a:t>RSQ(1, 8) = 10</a:t>
            </a:r>
            <a:endParaRPr/>
          </a:p>
          <a:p>
            <a:pPr indent="-3556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1800"/>
              <a:t>RSQ(4, 6) = RSQ(1, 6) – RSQ(1, 3) = 7-1 = 6</a:t>
            </a:r>
            <a:endParaRPr/>
          </a:p>
          <a:p>
            <a:pPr indent="-355600" lvl="2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1800"/>
              <a:t>By using the inclusion-exclusion principle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Let’s trace an example! what is rsq(6)?</a:t>
            </a:r>
            <a:endParaRPr/>
          </a:p>
          <a:p>
            <a:pPr indent="-3429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Remember, the “key” idea is that we find the “chunk”, then we find the previous “chunk” until we hit 0 </a:t>
            </a:r>
            <a:endParaRPr/>
          </a:p>
          <a:p>
            <a:pPr indent="-3429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let’s see on Google Collab!</a:t>
            </a:r>
            <a:endParaRPr/>
          </a:p>
        </p:txBody>
      </p:sp>
      <p:sp>
        <p:nvSpPr>
          <p:cNvPr id="304" name="Google Shape;304;p26"/>
          <p:cNvSpPr txBox="1"/>
          <p:nvPr/>
        </p:nvSpPr>
        <p:spPr>
          <a:xfrm>
            <a:off x="480300" y="5809275"/>
            <a:ext cx="11231400" cy="989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55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BAFB5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rPr>
              <a:t>Sources:</a:t>
            </a:r>
            <a:endParaRPr b="0" i="0" sz="2000" u="none" cap="none" strike="noStrike">
              <a:solidFill>
                <a:srgbClr val="262626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55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000"/>
              <a:buFont typeface="Gill Sans"/>
              <a:buChar char="•"/>
            </a:pPr>
            <a:r>
              <a:rPr b="0" i="0" lang="en-US" sz="2000" u="none" cap="none" strike="noStrike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rPr>
              <a:t>Competitive Programming 4 Section 2.4</a:t>
            </a:r>
            <a:endParaRPr b="0" i="0" sz="2000" u="none" cap="none" strike="noStrike">
              <a:solidFill>
                <a:srgbClr val="262626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id="305" name="Google Shape;305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96406" y="3850943"/>
            <a:ext cx="5487595" cy="2753632"/>
          </a:xfrm>
          <a:prstGeom prst="rect">
            <a:avLst/>
          </a:prstGeom>
          <a:noFill/>
          <a:ln>
            <a:noFill/>
          </a:ln>
        </p:spPr>
      </p:pic>
      <p:pic>
        <p:nvPicPr>
          <p:cNvPr id="306" name="Google Shape;306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11825" y="3582000"/>
            <a:ext cx="5428376" cy="2227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g3a5494f4a8f_0_60"/>
          <p:cNvSpPr txBox="1"/>
          <p:nvPr>
            <p:ph type="title"/>
          </p:nvPr>
        </p:nvSpPr>
        <p:spPr>
          <a:xfrm>
            <a:off x="2231136" y="228421"/>
            <a:ext cx="7729800" cy="662100"/>
          </a:xfrm>
          <a:prstGeom prst="rect">
            <a:avLst/>
          </a:prstGeom>
          <a:solidFill>
            <a:srgbClr val="FFFFFF"/>
          </a:solidFill>
          <a:ln cap="sq" cmpd="sng" w="31750">
            <a:solidFill>
              <a:srgbClr val="40404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82875" lIns="182875" spcFirstLastPara="1" rIns="182875" wrap="square" tIns="182875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ct val="100000"/>
              <a:buFont typeface="Gill Sans"/>
              <a:buNone/>
            </a:pPr>
            <a:r>
              <a:rPr lang="en-US"/>
              <a:t>Fenwick Tree – update</a:t>
            </a:r>
            <a:endParaRPr/>
          </a:p>
        </p:txBody>
      </p:sp>
      <p:sp>
        <p:nvSpPr>
          <p:cNvPr id="313" name="Google Shape;313;g3a5494f4a8f_0_60"/>
          <p:cNvSpPr txBox="1"/>
          <p:nvPr>
            <p:ph idx="1" type="body"/>
          </p:nvPr>
        </p:nvSpPr>
        <p:spPr>
          <a:xfrm>
            <a:off x="494675" y="1096825"/>
            <a:ext cx="11231400" cy="4712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Ideas on how we should update the values?</a:t>
            </a:r>
            <a:endParaRPr sz="2000"/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We traverse the affected “chunks” and update their values!</a:t>
            </a:r>
            <a:endParaRPr sz="2000"/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Let’s see this in Google Collab</a:t>
            </a:r>
            <a:endParaRPr sz="2000"/>
          </a:p>
        </p:txBody>
      </p:sp>
      <p:sp>
        <p:nvSpPr>
          <p:cNvPr id="314" name="Google Shape;314;g3a5494f4a8f_0_60"/>
          <p:cNvSpPr txBox="1"/>
          <p:nvPr/>
        </p:nvSpPr>
        <p:spPr>
          <a:xfrm>
            <a:off x="480300" y="5809275"/>
            <a:ext cx="11231400" cy="989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55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BAFB5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rPr>
              <a:t>Sources:</a:t>
            </a:r>
            <a:endParaRPr b="0" i="0" sz="2000" u="none" cap="none" strike="noStrike">
              <a:solidFill>
                <a:srgbClr val="262626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55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000"/>
              <a:buFont typeface="Gill Sans"/>
              <a:buChar char="•"/>
            </a:pPr>
            <a:r>
              <a:rPr b="0" i="0" lang="en-US" sz="2000" u="none" cap="none" strike="noStrike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rPr>
              <a:t>Competitive Programming 4 Section 2.4</a:t>
            </a:r>
            <a:endParaRPr b="0" i="0" sz="2000" u="none" cap="none" strike="noStrike">
              <a:solidFill>
                <a:srgbClr val="262626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grpSp>
        <p:nvGrpSpPr>
          <p:cNvPr id="315" name="Google Shape;315;g3a5494f4a8f_0_60"/>
          <p:cNvGrpSpPr/>
          <p:nvPr/>
        </p:nvGrpSpPr>
        <p:grpSpPr>
          <a:xfrm>
            <a:off x="480299" y="3055650"/>
            <a:ext cx="5584352" cy="2753625"/>
            <a:chOff x="494674" y="2429250"/>
            <a:chExt cx="5584352" cy="2753625"/>
          </a:xfrm>
        </p:grpSpPr>
        <p:pic>
          <p:nvPicPr>
            <p:cNvPr id="316" name="Google Shape;316;g3a5494f4a8f_0_6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494674" y="2429250"/>
              <a:ext cx="5584352" cy="27536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17" name="Google Shape;317;g3a5494f4a8f_0_6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509050" y="2456800"/>
              <a:ext cx="2442925" cy="26615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318" name="Google Shape;318;g3a5494f4a8f_0_6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064650" y="3352275"/>
            <a:ext cx="5988150" cy="24569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27"/>
          <p:cNvSpPr txBox="1"/>
          <p:nvPr>
            <p:ph type="title"/>
          </p:nvPr>
        </p:nvSpPr>
        <p:spPr>
          <a:xfrm>
            <a:off x="2231136" y="228421"/>
            <a:ext cx="7729800" cy="662100"/>
          </a:xfrm>
          <a:prstGeom prst="rect">
            <a:avLst/>
          </a:prstGeom>
          <a:solidFill>
            <a:srgbClr val="FFFFFF"/>
          </a:solidFill>
          <a:ln cap="sq" cmpd="sng" w="31750">
            <a:solidFill>
              <a:srgbClr val="40404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82875" lIns="182875" spcFirstLastPara="1" rIns="182875" wrap="square" tIns="182875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-US"/>
              <a:t>Fenwick Tree – build</a:t>
            </a:r>
            <a:endParaRPr/>
          </a:p>
        </p:txBody>
      </p:sp>
      <p:sp>
        <p:nvSpPr>
          <p:cNvPr id="325" name="Google Shape;325;p27"/>
          <p:cNvSpPr txBox="1"/>
          <p:nvPr>
            <p:ph idx="1" type="body"/>
          </p:nvPr>
        </p:nvSpPr>
        <p:spPr>
          <a:xfrm>
            <a:off x="-25" y="1096825"/>
            <a:ext cx="12192000" cy="4712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How do we build the sum/frequency array?</a:t>
            </a:r>
            <a:endParaRPr sz="2000"/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Ideas?</a:t>
            </a:r>
            <a:endParaRPr sz="2000"/>
          </a:p>
          <a:p>
            <a:pPr indent="-3556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One Idea</a:t>
            </a:r>
            <a:endParaRPr sz="2000"/>
          </a:p>
          <a:p>
            <a:pPr indent="-3556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Do one linear O(n) pass to create an array of frequencies with m keys/integer indices</a:t>
            </a:r>
            <a:endParaRPr sz="2000"/>
          </a:p>
          <a:p>
            <a:pPr indent="-3556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Call update(i, f[i]) for every m</a:t>
            </a:r>
            <a:endParaRPr sz="2000"/>
          </a:p>
          <a:p>
            <a:pPr indent="-3556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O(n + m log m)</a:t>
            </a:r>
            <a:endParaRPr sz="2000"/>
          </a:p>
          <a:p>
            <a:pPr indent="-3556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Better Idea</a:t>
            </a:r>
            <a:endParaRPr sz="2000"/>
          </a:p>
          <a:p>
            <a:pPr indent="-3556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During one</a:t>
            </a:r>
            <a:r>
              <a:rPr lang="en-US" sz="2000"/>
              <a:t> linear O(n) pass to create an array of frequencies with m keys/integer indices</a:t>
            </a:r>
            <a:endParaRPr sz="2000"/>
          </a:p>
          <a:p>
            <a:pPr indent="-355600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Create a cumulative sum </a:t>
            </a:r>
            <a:endParaRPr sz="2000"/>
          </a:p>
          <a:p>
            <a:pPr indent="-355600" lvl="4" marL="2286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self.ft[i] += f[i - 1]</a:t>
            </a:r>
            <a:endParaRPr sz="2000"/>
          </a:p>
          <a:p>
            <a:pPr indent="-355600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Check if its parent in the updating tree of Fenwick Tree is still within range. If it is, we update its parent too</a:t>
            </a:r>
            <a:endParaRPr sz="2000"/>
          </a:p>
          <a:p>
            <a:pPr indent="-355600" lvl="4" marL="2286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self.ft[i + self.lsone(i)] += self.ft[i]</a:t>
            </a:r>
            <a:endParaRPr sz="2000"/>
          </a:p>
          <a:p>
            <a:pPr indent="-3556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Let’s see on Google Colab!</a:t>
            </a:r>
            <a:endParaRPr sz="2000"/>
          </a:p>
        </p:txBody>
      </p:sp>
      <p:sp>
        <p:nvSpPr>
          <p:cNvPr id="326" name="Google Shape;326;p27"/>
          <p:cNvSpPr txBox="1"/>
          <p:nvPr/>
        </p:nvSpPr>
        <p:spPr>
          <a:xfrm>
            <a:off x="480300" y="5809275"/>
            <a:ext cx="11231400" cy="989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55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BAFB5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rPr>
              <a:t>Sources:</a:t>
            </a:r>
            <a:endParaRPr b="0" i="0" sz="2000" u="none" cap="none" strike="noStrike">
              <a:solidFill>
                <a:srgbClr val="262626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55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000"/>
              <a:buFont typeface="Gill Sans"/>
              <a:buChar char="•"/>
            </a:pPr>
            <a:r>
              <a:rPr b="0" i="0" lang="en-US" sz="2000" u="none" cap="none" strike="noStrike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rPr>
              <a:t>Competitive Programming 4 Section 2.4</a:t>
            </a:r>
            <a:endParaRPr b="0" i="0" sz="2000" u="none" cap="none" strike="noStrike">
              <a:solidFill>
                <a:srgbClr val="262626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">
                                            <p:txEl>
                                              <p:pRg end="12" st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g3a5494f4a8f_0_88"/>
          <p:cNvSpPr txBox="1"/>
          <p:nvPr>
            <p:ph type="title"/>
          </p:nvPr>
        </p:nvSpPr>
        <p:spPr>
          <a:xfrm>
            <a:off x="2231136" y="228421"/>
            <a:ext cx="7729800" cy="662100"/>
          </a:xfrm>
          <a:prstGeom prst="rect">
            <a:avLst/>
          </a:prstGeom>
          <a:solidFill>
            <a:srgbClr val="FFFFFF"/>
          </a:solidFill>
          <a:ln cap="sq" cmpd="sng" w="31750">
            <a:solidFill>
              <a:srgbClr val="40404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82875" lIns="182875" spcFirstLastPara="1" rIns="182875" wrap="square" tIns="182875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ct val="100000"/>
              <a:buFont typeface="Gill Sans"/>
              <a:buNone/>
            </a:pPr>
            <a:r>
              <a:rPr lang="en-US"/>
              <a:t>Fenwick Tree – Basic Implementation</a:t>
            </a:r>
            <a:endParaRPr/>
          </a:p>
        </p:txBody>
      </p:sp>
      <p:sp>
        <p:nvSpPr>
          <p:cNvPr id="333" name="Google Shape;333;g3a5494f4a8f_0_88"/>
          <p:cNvSpPr txBox="1"/>
          <p:nvPr>
            <p:ph idx="1" type="body"/>
          </p:nvPr>
        </p:nvSpPr>
        <p:spPr>
          <a:xfrm>
            <a:off x="494675" y="1096825"/>
            <a:ext cx="11231400" cy="33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Let’s see on Google Colab!</a:t>
            </a:r>
            <a:endParaRPr sz="2000"/>
          </a:p>
        </p:txBody>
      </p:sp>
      <p:sp>
        <p:nvSpPr>
          <p:cNvPr id="334" name="Google Shape;334;g3a5494f4a8f_0_88"/>
          <p:cNvSpPr txBox="1"/>
          <p:nvPr/>
        </p:nvSpPr>
        <p:spPr>
          <a:xfrm>
            <a:off x="480300" y="5809275"/>
            <a:ext cx="11231400" cy="989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55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BAFB5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rPr>
              <a:t>Sources:</a:t>
            </a:r>
            <a:endParaRPr b="0" i="0" sz="2000" u="none" cap="none" strike="noStrike">
              <a:solidFill>
                <a:srgbClr val="262626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55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000"/>
              <a:buFont typeface="Gill Sans"/>
              <a:buChar char="•"/>
            </a:pPr>
            <a:r>
              <a:rPr b="0" i="0" lang="en-US" sz="2000" u="none" cap="none" strike="noStrike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rPr>
              <a:t>Competitive Programming 4 Section 2.4</a:t>
            </a:r>
            <a:endParaRPr b="0" i="0" sz="2000" u="none" cap="none" strike="noStrike">
              <a:solidFill>
                <a:srgbClr val="262626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g3a5494f4a8f_0_103"/>
          <p:cNvSpPr txBox="1"/>
          <p:nvPr>
            <p:ph type="title"/>
          </p:nvPr>
        </p:nvSpPr>
        <p:spPr>
          <a:xfrm>
            <a:off x="2231136" y="228421"/>
            <a:ext cx="7729800" cy="662100"/>
          </a:xfrm>
          <a:prstGeom prst="rect">
            <a:avLst/>
          </a:prstGeom>
          <a:solidFill>
            <a:srgbClr val="FFFFFF"/>
          </a:solidFill>
          <a:ln cap="sq" cmpd="sng" w="31750">
            <a:solidFill>
              <a:srgbClr val="40404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82875" lIns="182875" spcFirstLastPara="1" rIns="182875" wrap="square" tIns="182875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ct val="100000"/>
              <a:buFont typeface="Gill Sans"/>
              <a:buNone/>
            </a:pPr>
            <a:r>
              <a:rPr lang="en-US"/>
              <a:t>Fenwick Tree – More!</a:t>
            </a:r>
            <a:endParaRPr/>
          </a:p>
        </p:txBody>
      </p:sp>
      <p:sp>
        <p:nvSpPr>
          <p:cNvPr id="341" name="Google Shape;341;g3a5494f4a8f_0_103"/>
          <p:cNvSpPr txBox="1"/>
          <p:nvPr>
            <p:ph idx="1" type="body"/>
          </p:nvPr>
        </p:nvSpPr>
        <p:spPr>
          <a:xfrm>
            <a:off x="494675" y="1096825"/>
            <a:ext cx="11231400" cy="33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We haven’t seen select(rank k) (O(log2 m))</a:t>
            </a:r>
            <a:endParaRPr sz="2000"/>
          </a:p>
          <a:p>
            <a:pPr indent="-3556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find the smallest index/key i so that the cumulative frequency in the range [1..i] ≥ k. </a:t>
            </a:r>
            <a:endParaRPr sz="2000"/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Range Update Point Query (RUPQ) </a:t>
            </a:r>
            <a:endParaRPr sz="2000"/>
          </a:p>
          <a:p>
            <a:pPr indent="-3556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Updating the values within a given range [lo..hi] by the same +v value</a:t>
            </a:r>
            <a:endParaRPr sz="2000"/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If you guys like Fenwick Trees, we’ll see this in the next session!</a:t>
            </a:r>
            <a:endParaRPr sz="2000"/>
          </a:p>
        </p:txBody>
      </p:sp>
      <p:sp>
        <p:nvSpPr>
          <p:cNvPr id="342" name="Google Shape;342;g3a5494f4a8f_0_103"/>
          <p:cNvSpPr txBox="1"/>
          <p:nvPr/>
        </p:nvSpPr>
        <p:spPr>
          <a:xfrm>
            <a:off x="480300" y="5809275"/>
            <a:ext cx="11231400" cy="989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55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BAFB5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rPr>
              <a:t>Sources:</a:t>
            </a:r>
            <a:endParaRPr b="0" i="0" sz="2000" u="none" cap="none" strike="noStrike">
              <a:solidFill>
                <a:srgbClr val="262626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55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000"/>
              <a:buFont typeface="Gill Sans"/>
              <a:buChar char="•"/>
            </a:pPr>
            <a:r>
              <a:rPr b="0" i="0" lang="en-US" sz="2000" u="none" cap="none" strike="noStrike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rPr>
              <a:t>Competitive Programming 4 Section 2.4</a:t>
            </a:r>
            <a:endParaRPr b="0" i="0" sz="2000" u="none" cap="none" strike="noStrike">
              <a:solidFill>
                <a:srgbClr val="262626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g3816e0e644b_0_173"/>
          <p:cNvSpPr txBox="1"/>
          <p:nvPr>
            <p:ph type="ctrTitle"/>
          </p:nvPr>
        </p:nvSpPr>
        <p:spPr>
          <a:xfrm>
            <a:off x="1600200" y="1124869"/>
            <a:ext cx="8991600" cy="1645800"/>
          </a:xfrm>
          <a:prstGeom prst="rect">
            <a:avLst/>
          </a:prstGeom>
          <a:solidFill>
            <a:srgbClr val="FFFFFF"/>
          </a:solidFill>
          <a:ln cap="flat" cmpd="sng" w="38100">
            <a:solidFill>
              <a:srgbClr val="4040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182875" lIns="274300" spcFirstLastPara="1" rIns="274300" wrap="square" tIns="182875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800"/>
              <a:buFont typeface="Gill Sans"/>
              <a:buNone/>
            </a:pPr>
            <a:r>
              <a:rPr lang="en-US"/>
              <a:t>Suggested Homework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g37c4946a550_0_55"/>
          <p:cNvSpPr txBox="1"/>
          <p:nvPr>
            <p:ph type="title"/>
          </p:nvPr>
        </p:nvSpPr>
        <p:spPr>
          <a:xfrm>
            <a:off x="2231136" y="228421"/>
            <a:ext cx="7729800" cy="662100"/>
          </a:xfrm>
          <a:prstGeom prst="rect">
            <a:avLst/>
          </a:prstGeom>
          <a:solidFill>
            <a:srgbClr val="FFFFFF"/>
          </a:solidFill>
          <a:ln cap="sq" cmpd="sng" w="31750">
            <a:solidFill>
              <a:srgbClr val="40404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82875" lIns="182875" spcFirstLastPara="1" rIns="182875" wrap="square" tIns="182875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ct val="100000"/>
              <a:buFont typeface="Gill Sans"/>
              <a:buNone/>
            </a:pPr>
            <a:r>
              <a:rPr lang="en-US"/>
              <a:t>Suggested Homework</a:t>
            </a:r>
            <a:endParaRPr/>
          </a:p>
        </p:txBody>
      </p:sp>
      <p:sp>
        <p:nvSpPr>
          <p:cNvPr id="355" name="Google Shape;355;g37c4946a550_0_55"/>
          <p:cNvSpPr txBox="1"/>
          <p:nvPr>
            <p:ph idx="1" type="body"/>
          </p:nvPr>
        </p:nvSpPr>
        <p:spPr>
          <a:xfrm>
            <a:off x="282125" y="1147625"/>
            <a:ext cx="11766300" cy="5355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/>
              <a:t>Implement YOUR Basic Fenwick Tree!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c1. Tree-related Data Structures</a:t>
            </a:r>
            <a:endParaRPr sz="2000"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Kattis – fenwick</a:t>
            </a:r>
            <a:endParaRPr sz="2000"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 u="sng">
                <a:solidFill>
                  <a:schemeClr val="hlink"/>
                </a:solidFill>
                <a:hlinkClick r:id="rId3"/>
              </a:rPr>
              <a:t>https://open.kattis.com/problems/fenwick</a:t>
            </a:r>
            <a:r>
              <a:rPr lang="en-US" sz="2000"/>
              <a:t> 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g37e6225694e_0_2"/>
          <p:cNvSpPr txBox="1"/>
          <p:nvPr>
            <p:ph type="title"/>
          </p:nvPr>
        </p:nvSpPr>
        <p:spPr>
          <a:xfrm>
            <a:off x="2231136" y="228421"/>
            <a:ext cx="7729800" cy="662100"/>
          </a:xfrm>
          <a:prstGeom prst="rect">
            <a:avLst/>
          </a:prstGeom>
          <a:solidFill>
            <a:srgbClr val="FFFFFF"/>
          </a:solidFill>
          <a:ln cap="sq" cmpd="sng" w="31750">
            <a:solidFill>
              <a:srgbClr val="40404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82875" lIns="182875" spcFirstLastPara="1" rIns="182875" wrap="square" tIns="182875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ct val="100000"/>
              <a:buFont typeface="Gill Sans"/>
              <a:buNone/>
            </a:pPr>
            <a:r>
              <a:rPr lang="en-US"/>
              <a:t>Template</a:t>
            </a:r>
            <a:endParaRPr/>
          </a:p>
        </p:txBody>
      </p:sp>
      <p:sp>
        <p:nvSpPr>
          <p:cNvPr id="362" name="Google Shape;362;g37e6225694e_0_2"/>
          <p:cNvSpPr txBox="1"/>
          <p:nvPr>
            <p:ph idx="1" type="body"/>
          </p:nvPr>
        </p:nvSpPr>
        <p:spPr>
          <a:xfrm>
            <a:off x="494675" y="1096825"/>
            <a:ext cx="11231400" cy="33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temp</a:t>
            </a:r>
            <a:endParaRPr sz="2000"/>
          </a:p>
        </p:txBody>
      </p:sp>
      <p:sp>
        <p:nvSpPr>
          <p:cNvPr id="363" name="Google Shape;363;g37e6225694e_0_2"/>
          <p:cNvSpPr txBox="1"/>
          <p:nvPr/>
        </p:nvSpPr>
        <p:spPr>
          <a:xfrm>
            <a:off x="480300" y="5809275"/>
            <a:ext cx="11231400" cy="989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55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BAFB5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rPr>
              <a:t>Sources:</a:t>
            </a:r>
            <a:endParaRPr b="0" i="0" sz="2000" u="none" cap="none" strike="noStrike">
              <a:solidFill>
                <a:srgbClr val="262626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55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000"/>
              <a:buFont typeface="Gill Sans"/>
              <a:buChar char="•"/>
            </a:pPr>
            <a:r>
              <a:rPr b="0" i="0" lang="en-US" sz="2000" u="none" cap="none" strike="noStrike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rPr>
              <a:t>Competitive Programming 4 Section 2.4</a:t>
            </a:r>
            <a:endParaRPr b="0" i="0" sz="2000" u="none" cap="none" strike="noStrike">
              <a:solidFill>
                <a:srgbClr val="262626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Parcel">
  <a:themeElements>
    <a:clrScheme name="Parcel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Parcel">
  <a:themeElements>
    <a:clrScheme name="Parcel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2025-09-06T15:13:09Z</dcterms:created>
  <dc:creator>Ryan Pelchat</dc:creator>
</cp:coreProperties>
</file>