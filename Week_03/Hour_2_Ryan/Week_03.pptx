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y="6858000" cx="12192000"/>
  <p:notesSz cx="6858000" cy="9144000"/>
  <p:embeddedFontLst>
    <p:embeddedFont>
      <p:font typeface="Gill Sans"/>
      <p:regular r:id="rId55"/>
      <p:bold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7" roundtripDataSignature="AMtx7mhZ4JSP6usPopc1ZsUwy+xgMwQQ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18316BD-7C57-4478-9AA7-1E6121FCA798}">
  <a:tblStyle styleId="{D18316BD-7C57-4478-9AA7-1E6121FCA798}"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GillSans-regular.fntdata"/><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customschemas.google.com/relationships/presentationmetadata" Target="metadata"/><Relationship Id="rId12" Type="http://schemas.openxmlformats.org/officeDocument/2006/relationships/slide" Target="slides/slide6.xml"/><Relationship Id="rId56" Type="http://schemas.openxmlformats.org/officeDocument/2006/relationships/font" Target="fonts/GillSans-bold.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16e0e644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816e0e644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108" name="Google Shape;108;g3816e0e644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816e0e644b_0_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g3816e0e644b_0_2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g3816e0e644b_0_2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816e0e644b_0_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g3816e0e644b_0_2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120" name="Google Shape;120;g3816e0e644b_0_2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816e0e644b_0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g3816e0e644b_0_1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g3816e0e644b_0_1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816e0e644b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3816e0e644b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133" name="Google Shape;133;g3816e0e644b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816e0e644b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3816e0e644b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141" name="Google Shape;141;g3816e0e644b_0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816e0e644b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3816e0e644b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149" name="Google Shape;149;g3816e0e644b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816e0e644b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3816e0e644b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157" name="Google Shape;157;g3816e0e644b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816e0e644b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3816e0e644b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 added the floor because it makes it clear what the resulting index is when k is an even number</a:t>
            </a:r>
            <a:endParaRPr/>
          </a:p>
        </p:txBody>
      </p:sp>
      <p:sp>
        <p:nvSpPr>
          <p:cNvPr id="165" name="Google Shape;165;g3816e0e644b_0_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816e0e644b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816e0e644b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173" name="Google Shape;173;g3816e0e644b_0_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816e0e644b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816e0e644b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181" name="Google Shape;181;g3816e0e644b_0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816e0e644b_0_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g3816e0e644b_0_1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g3816e0e644b_0_1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7e6225694e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37e6225694e_0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04800" lvl="0" marL="457200" rtl="0" algn="l">
              <a:lnSpc>
                <a:spcPct val="115000"/>
              </a:lnSpc>
              <a:spcBef>
                <a:spcPts val="0"/>
              </a:spcBef>
              <a:spcAft>
                <a:spcPts val="0"/>
              </a:spcAft>
              <a:buClr>
                <a:schemeClr val="dk1"/>
              </a:buClr>
              <a:buSzPts val="1200"/>
              <a:buChar char="-"/>
            </a:pPr>
            <a:r>
              <a:rPr lang="en-US"/>
              <a:t>Disjoint sets (sets with no items in common)</a:t>
            </a:r>
            <a:endParaRPr/>
          </a:p>
        </p:txBody>
      </p:sp>
      <p:sp>
        <p:nvSpPr>
          <p:cNvPr id="195" name="Google Shape;195;g37e6225694e_0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8a82980c7b_1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g38a82980c7b_1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03" name="Google Shape;203;g38a82980c7b_1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8a82980c7b_1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38a82980c7b_1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12" name="Google Shape;212;g38a82980c7b_1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8a82980c7b_1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8a82980c7b_1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21" name="Google Shape;221;g38a82980c7b_1_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80c4f9b096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g380c4f9b096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30" name="Google Shape;230;g380c4f9b096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80c4f9b096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g380c4f9b096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42" name="Google Shape;242;g380c4f9b096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80c4f9b096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g380c4f9b096_0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50" name="Google Shape;250;g380c4f9b096_0_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80c4f9b096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g380c4f9b096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58" name="Google Shape;258;g380c4f9b096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80c4f9b096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g380c4f9b096_0_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67" name="Google Shape;267;g380c4f9b096_0_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80c4f9b096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g380c4f9b096_0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76" name="Google Shape;276;g380c4f9b096_0_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80c4f9b096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g380c4f9b096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84" name="Google Shape;284;g380c4f9b096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80c4f9b096_0_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g380c4f9b096_0_1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92" name="Google Shape;292;g380c4f9b096_0_1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80c4f9b096_0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g380c4f9b096_0_1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00" name="Google Shape;300;g380c4f9b096_0_1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80c4f9b096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g380c4f9b096_0_1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08" name="Google Shape;308;g380c4f9b096_0_1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80c4f9b096_0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g380c4f9b096_0_1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16" name="Google Shape;316;g380c4f9b096_0_1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816e0e644b_0_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3816e0e644b_0_1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 name="Google Shape;324;g3816e0e644b_0_1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8a82980c7b_2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g38a82980c7b_2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30" name="Google Shape;330;g38a82980c7b_2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8a82980c7b_2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38a82980c7b_2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38" name="Google Shape;338;g38a82980c7b_2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816e0e644b_0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g3816e0e644b_0_1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3" name="Google Shape;353;g3816e0e644b_0_1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816e0e644b_0_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g3816e0e644b_0_1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59" name="Google Shape;359;g3816e0e644b_0_1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8a82980c7b_1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g38a82980c7b_1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67" name="Google Shape;367;g38a82980c7b_1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8a82980c7b_2_2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g38a82980c7b_2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75" name="Google Shape;375;g38a82980c7b_2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8a82980c7b_2_2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g38a82980c7b_2_2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83" name="Google Shape;383;g38a82980c7b_2_2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8a82980c7b_2_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g38a82980c7b_2_2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95" name="Google Shape;395;g38a82980c7b_2_2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8a82980c7b_2_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g38a82980c7b_2_2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3" name="Google Shape;403;g38a82980c7b_2_2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8a82980c7b_2_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g38a82980c7b_2_2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412" name="Google Shape;412;g38a82980c7b_2_2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8a82980c7b_2_3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g38a82980c7b_2_3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420" name="Google Shape;420;g38a82980c7b_2_3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816e0e644b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g3816e0e644b_0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429" name="Google Shape;429;g3816e0e644b_0_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816e0e644b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g3816e0e644b_0_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438" name="Google Shape;438;g3816e0e644b_0_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816e0e644b_0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g3816e0e644b_0_1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446" name="Google Shape;446;g3816e0e644b_0_1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816e0e644b_0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g3816e0e644b_0_1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454" name="Google Shape;454;g3816e0e644b_0_1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8a82980c7b_2_2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g38a82980c7b_2_2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462" name="Google Shape;462;g38a82980c7b_2_2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816e0e644b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g3816e0e644b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g3816e0e644b_0_1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7c4946a550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g37c4946a550_0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g37c4946a550_0_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7e6225694e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g37e6225694e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483" name="Google Shape;483;g37e6225694e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2"/>
        </a:solidFill>
      </p:bgPr>
    </p:bg>
    <p:spTree>
      <p:nvGrpSpPr>
        <p:cNvPr id="15" name="Shape 15"/>
        <p:cNvGrpSpPr/>
        <p:nvPr/>
      </p:nvGrpSpPr>
      <p:grpSpPr>
        <a:xfrm>
          <a:off x="0" y="0"/>
          <a:ext cx="0" cy="0"/>
          <a:chOff x="0" y="0"/>
          <a:chExt cx="0" cy="0"/>
        </a:xfrm>
      </p:grpSpPr>
      <p:sp>
        <p:nvSpPr>
          <p:cNvPr id="16" name="Google Shape;16;p7"/>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18" name="Google Shape;18;p7"/>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7"/>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8"/>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8"/>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30" name="Google Shape;30;p8"/>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8"/>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8"/>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2"/>
        </a:solidFill>
      </p:bgPr>
    </p:bg>
    <p:spTree>
      <p:nvGrpSpPr>
        <p:cNvPr id="33" name="Shape 33"/>
        <p:cNvGrpSpPr/>
        <p:nvPr/>
      </p:nvGrpSpPr>
      <p:grpSpPr>
        <a:xfrm>
          <a:off x="0" y="0"/>
          <a:ext cx="0" cy="0"/>
          <a:chOff x="0" y="0"/>
          <a:chExt cx="0" cy="0"/>
        </a:xfrm>
      </p:grpSpPr>
      <p:sp>
        <p:nvSpPr>
          <p:cNvPr id="34" name="Google Shape;34;p6"/>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36" name="Google Shape;36;p6"/>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1"/>
        </a:solidFill>
      </p:bgPr>
    </p:bg>
    <p:spTree>
      <p:nvGrpSpPr>
        <p:cNvPr id="39" name="Shape 39"/>
        <p:cNvGrpSpPr/>
        <p:nvPr/>
      </p:nvGrpSpPr>
      <p:grpSpPr>
        <a:xfrm>
          <a:off x="0" y="0"/>
          <a:ext cx="0" cy="0"/>
          <a:chOff x="0" y="0"/>
          <a:chExt cx="0" cy="0"/>
        </a:xfrm>
      </p:grpSpPr>
      <p:sp>
        <p:nvSpPr>
          <p:cNvPr id="40" name="Google Shape;40;p9"/>
          <p:cNvSpPr txBox="1"/>
          <p:nvPr>
            <p:ph type="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9"/>
          <p:cNvSpPr txBox="1"/>
          <p:nvPr>
            <p:ph idx="1" type="body"/>
          </p:nvPr>
        </p:nvSpPr>
        <p:spPr>
          <a:xfrm>
            <a:off x="2695194" y="4352465"/>
            <a:ext cx="6801612" cy="1265082"/>
          </a:xfrm>
          <a:prstGeom prst="rect">
            <a:avLst/>
          </a:prstGeom>
          <a:noFill/>
          <a:ln>
            <a:noFill/>
          </a:ln>
        </p:spPr>
        <p:txBody>
          <a:bodyPr anchorCtr="1" anchor="t" bIns="45700" lIns="91425" spcFirstLastPara="1" rIns="91425" wrap="square" tIns="45700">
            <a:normAutofit/>
          </a:bodyPr>
          <a:lstStyle>
            <a:lvl1pPr indent="-228600" lvl="0" marL="457200" algn="l">
              <a:lnSpc>
                <a:spcPct val="100000"/>
              </a:lnSpc>
              <a:spcBef>
                <a:spcPts val="100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2000"/>
              <a:buNone/>
              <a:defRPr sz="2000">
                <a:solidFill>
                  <a:schemeClr val="lt1"/>
                </a:solidFill>
              </a:defRPr>
            </a:lvl2pPr>
            <a:lvl3pPr indent="-228600" lvl="2" marL="1371600" algn="l">
              <a:lnSpc>
                <a:spcPct val="100000"/>
              </a:lnSpc>
              <a:spcBef>
                <a:spcPts val="1000"/>
              </a:spcBef>
              <a:spcAft>
                <a:spcPts val="0"/>
              </a:spcAft>
              <a:buSzPts val="1800"/>
              <a:buNone/>
              <a:defRPr sz="1800">
                <a:solidFill>
                  <a:schemeClr val="lt1"/>
                </a:solidFill>
              </a:defRPr>
            </a:lvl3pPr>
            <a:lvl4pPr indent="-228600" lvl="3" marL="1828800" algn="l">
              <a:lnSpc>
                <a:spcPct val="100000"/>
              </a:lnSpc>
              <a:spcBef>
                <a:spcPts val="1000"/>
              </a:spcBef>
              <a:spcAft>
                <a:spcPts val="0"/>
              </a:spcAft>
              <a:buSzPts val="1600"/>
              <a:buNone/>
              <a:defRPr sz="1600">
                <a:solidFill>
                  <a:schemeClr val="lt1"/>
                </a:solidFill>
              </a:defRPr>
            </a:lvl4pPr>
            <a:lvl5pPr indent="-228600" lvl="4" marL="2286000" algn="l">
              <a:lnSpc>
                <a:spcPct val="100000"/>
              </a:lnSpc>
              <a:spcBef>
                <a:spcPts val="1000"/>
              </a:spcBef>
              <a:spcAft>
                <a:spcPts val="0"/>
              </a:spcAft>
              <a:buSzPts val="1600"/>
              <a:buNone/>
              <a:defRPr sz="1600">
                <a:solidFill>
                  <a:schemeClr val="lt1"/>
                </a:solidFill>
              </a:defRPr>
            </a:lvl5pPr>
            <a:lvl6pPr indent="-228600" lvl="5" marL="2743200" algn="l">
              <a:lnSpc>
                <a:spcPct val="100000"/>
              </a:lnSpc>
              <a:spcBef>
                <a:spcPts val="1000"/>
              </a:spcBef>
              <a:spcAft>
                <a:spcPts val="0"/>
              </a:spcAft>
              <a:buSzPts val="1600"/>
              <a:buNone/>
              <a:defRPr sz="1600">
                <a:solidFill>
                  <a:schemeClr val="lt1"/>
                </a:solidFill>
              </a:defRPr>
            </a:lvl6pPr>
            <a:lvl7pPr indent="-228600" lvl="6" marL="3200400" algn="l">
              <a:lnSpc>
                <a:spcPct val="100000"/>
              </a:lnSpc>
              <a:spcBef>
                <a:spcPts val="1000"/>
              </a:spcBef>
              <a:spcAft>
                <a:spcPts val="0"/>
              </a:spcAft>
              <a:buSzPts val="1600"/>
              <a:buNone/>
              <a:defRPr sz="1600">
                <a:solidFill>
                  <a:schemeClr val="lt1"/>
                </a:solidFill>
              </a:defRPr>
            </a:lvl7pPr>
            <a:lvl8pPr indent="-228600" lvl="7" marL="3657600" algn="l">
              <a:lnSpc>
                <a:spcPct val="100000"/>
              </a:lnSpc>
              <a:spcBef>
                <a:spcPts val="1000"/>
              </a:spcBef>
              <a:spcAft>
                <a:spcPts val="0"/>
              </a:spcAft>
              <a:buSzPts val="1600"/>
              <a:buNone/>
              <a:defRPr sz="1600">
                <a:solidFill>
                  <a:schemeClr val="lt1"/>
                </a:solidFill>
              </a:defRPr>
            </a:lvl8pPr>
            <a:lvl9pPr indent="-228600" lvl="8" marL="4114800" algn="l">
              <a:lnSpc>
                <a:spcPct val="100000"/>
              </a:lnSpc>
              <a:spcBef>
                <a:spcPts val="1000"/>
              </a:spcBef>
              <a:spcAft>
                <a:spcPts val="0"/>
              </a:spcAft>
              <a:buSzPts val="1600"/>
              <a:buNone/>
              <a:defRPr sz="1600">
                <a:solidFill>
                  <a:schemeClr val="lt1"/>
                </a:solidFill>
              </a:defRPr>
            </a:lvl9pPr>
          </a:lstStyle>
          <a:p/>
        </p:txBody>
      </p:sp>
      <p:sp>
        <p:nvSpPr>
          <p:cNvPr id="42" name="Google Shape;42;p9"/>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9"/>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10"/>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0"/>
          <p:cNvSpPr txBox="1"/>
          <p:nvPr>
            <p:ph idx="1" type="body"/>
          </p:nvPr>
        </p:nvSpPr>
        <p:spPr>
          <a:xfrm>
            <a:off x="1581912" y="2638044"/>
            <a:ext cx="4271771" cy="31019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48" name="Google Shape;48;p10"/>
          <p:cNvSpPr txBox="1"/>
          <p:nvPr>
            <p:ph idx="2" type="body"/>
          </p:nvPr>
        </p:nvSpPr>
        <p:spPr>
          <a:xfrm>
            <a:off x="6338315" y="2638044"/>
            <a:ext cx="4270247" cy="31019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49" name="Google Shape;49;p10"/>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0"/>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0"/>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11"/>
          <p:cNvSpPr txBox="1"/>
          <p:nvPr>
            <p:ph idx="1" type="body"/>
          </p:nvPr>
        </p:nvSpPr>
        <p:spPr>
          <a:xfrm>
            <a:off x="1583436" y="2313433"/>
            <a:ext cx="4270248" cy="704087"/>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rgbClr val="6B8890"/>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54" name="Google Shape;54;p11"/>
          <p:cNvSpPr txBox="1"/>
          <p:nvPr>
            <p:ph idx="2" type="body"/>
          </p:nvPr>
        </p:nvSpPr>
        <p:spPr>
          <a:xfrm>
            <a:off x="1583436" y="3143250"/>
            <a:ext cx="4270248" cy="259677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55" name="Google Shape;55;p11"/>
          <p:cNvSpPr txBox="1"/>
          <p:nvPr>
            <p:ph idx="3" type="body"/>
          </p:nvPr>
        </p:nvSpPr>
        <p:spPr>
          <a:xfrm>
            <a:off x="6338316" y="3143250"/>
            <a:ext cx="4253484" cy="259677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30200" lvl="4" marL="2286000" algn="l">
              <a:lnSpc>
                <a:spcPct val="100000"/>
              </a:lnSpc>
              <a:spcBef>
                <a:spcPts val="1000"/>
              </a:spcBef>
              <a:spcAft>
                <a:spcPts val="0"/>
              </a:spcAft>
              <a:buSzPts val="16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56" name="Google Shape;56;p11"/>
          <p:cNvSpPr txBox="1"/>
          <p:nvPr>
            <p:ph idx="4" type="body"/>
          </p:nvPr>
        </p:nvSpPr>
        <p:spPr>
          <a:xfrm>
            <a:off x="6338316" y="2313433"/>
            <a:ext cx="4270248" cy="704087"/>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rgbClr val="6B8890"/>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57" name="Google Shape;57;p11"/>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1"/>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1"/>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
        <p:nvSpPr>
          <p:cNvPr id="60" name="Google Shape;60;p11"/>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12"/>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2"/>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2"/>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2"/>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3"/>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3"/>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3"/>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14"/>
          <p:cNvSpPr/>
          <p:nvPr/>
        </p:nvSpPr>
        <p:spPr>
          <a:xfrm>
            <a:off x="0" y="0"/>
            <a:ext cx="6096000"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4"/>
          <p:cNvSpPr txBox="1"/>
          <p:nvPr>
            <p:ph type="title"/>
          </p:nvPr>
        </p:nvSpPr>
        <p:spPr>
          <a:xfrm>
            <a:off x="804672" y="2243828"/>
            <a:ext cx="4486656" cy="1141497"/>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rm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4"/>
          <p:cNvSpPr txBox="1"/>
          <p:nvPr>
            <p:ph idx="1" type="body"/>
          </p:nvPr>
        </p:nvSpPr>
        <p:spPr>
          <a:xfrm>
            <a:off x="6736080" y="804672"/>
            <a:ext cx="4815840" cy="5248656"/>
          </a:xfrm>
          <a:prstGeom prst="rect">
            <a:avLst/>
          </a:prstGeom>
          <a:noFill/>
          <a:ln>
            <a:noFill/>
          </a:ln>
        </p:spPr>
        <p:txBody>
          <a:bodyPr anchorCtr="0" anchor="t" bIns="45700" lIns="91425" spcFirstLastPara="1" rIns="91425" wrap="square" tIns="45700">
            <a:normAutofit/>
          </a:bodyPr>
          <a:lstStyle>
            <a:lvl1pPr indent="-349250" lvl="0" marL="457200" algn="l">
              <a:lnSpc>
                <a:spcPct val="100000"/>
              </a:lnSpc>
              <a:spcBef>
                <a:spcPts val="1000"/>
              </a:spcBef>
              <a:spcAft>
                <a:spcPts val="0"/>
              </a:spcAft>
              <a:buSzPts val="1900"/>
              <a:buChar char="•"/>
              <a:defRPr sz="1900">
                <a:solidFill>
                  <a:schemeClr val="dk1"/>
                </a:solidFill>
              </a:defRPr>
            </a:lvl1pPr>
            <a:lvl2pPr indent="-330200" lvl="1" marL="914400" algn="l">
              <a:lnSpc>
                <a:spcPct val="100000"/>
              </a:lnSpc>
              <a:spcBef>
                <a:spcPts val="1000"/>
              </a:spcBef>
              <a:spcAft>
                <a:spcPts val="0"/>
              </a:spcAft>
              <a:buSzPts val="1600"/>
              <a:buChar char="•"/>
              <a:defRPr sz="1600">
                <a:solidFill>
                  <a:schemeClr val="dk1"/>
                </a:solidFill>
              </a:defRPr>
            </a:lvl2pPr>
            <a:lvl3pPr indent="-330200" lvl="2" marL="1371600" algn="l">
              <a:lnSpc>
                <a:spcPct val="100000"/>
              </a:lnSpc>
              <a:spcBef>
                <a:spcPts val="1000"/>
              </a:spcBef>
              <a:spcAft>
                <a:spcPts val="0"/>
              </a:spcAft>
              <a:buSzPts val="1600"/>
              <a:buChar char="•"/>
              <a:defRPr sz="1600">
                <a:solidFill>
                  <a:schemeClr val="dk1"/>
                </a:solidFill>
              </a:defRPr>
            </a:lvl3pPr>
            <a:lvl4pPr indent="-330200" lvl="3" marL="1828800" algn="l">
              <a:lnSpc>
                <a:spcPct val="100000"/>
              </a:lnSpc>
              <a:spcBef>
                <a:spcPts val="1000"/>
              </a:spcBef>
              <a:spcAft>
                <a:spcPts val="0"/>
              </a:spcAft>
              <a:buSzPts val="1600"/>
              <a:buChar char="•"/>
              <a:defRPr sz="1600">
                <a:solidFill>
                  <a:schemeClr val="dk1"/>
                </a:solidFill>
              </a:defRPr>
            </a:lvl4pPr>
            <a:lvl5pPr indent="-330200" lvl="4" marL="2286000" algn="l">
              <a:lnSpc>
                <a:spcPct val="100000"/>
              </a:lnSpc>
              <a:spcBef>
                <a:spcPts val="1000"/>
              </a:spcBef>
              <a:spcAft>
                <a:spcPts val="0"/>
              </a:spcAft>
              <a:buSzPts val="1600"/>
              <a:buChar char="•"/>
              <a:defRPr sz="1600">
                <a:solidFill>
                  <a:schemeClr val="dk1"/>
                </a:solidFill>
              </a:defRPr>
            </a:lvl5pPr>
            <a:lvl6pPr indent="-330200" lvl="5" marL="2743200" algn="l">
              <a:lnSpc>
                <a:spcPct val="100000"/>
              </a:lnSpc>
              <a:spcBef>
                <a:spcPts val="1000"/>
              </a:spcBef>
              <a:spcAft>
                <a:spcPts val="0"/>
              </a:spcAft>
              <a:buSzPts val="1600"/>
              <a:buChar char="•"/>
              <a:defRPr sz="1600"/>
            </a:lvl6pPr>
            <a:lvl7pPr indent="-330200" lvl="6" marL="3200400" algn="l">
              <a:lnSpc>
                <a:spcPct val="100000"/>
              </a:lnSpc>
              <a:spcBef>
                <a:spcPts val="1000"/>
              </a:spcBef>
              <a:spcAft>
                <a:spcPts val="0"/>
              </a:spcAft>
              <a:buSzPts val="1600"/>
              <a:buChar char="•"/>
              <a:defRPr sz="1600"/>
            </a:lvl7pPr>
            <a:lvl8pPr indent="-330200" lvl="7" marL="3657600" algn="l">
              <a:lnSpc>
                <a:spcPct val="100000"/>
              </a:lnSpc>
              <a:spcBef>
                <a:spcPts val="1000"/>
              </a:spcBef>
              <a:spcAft>
                <a:spcPts val="0"/>
              </a:spcAft>
              <a:buSzPts val="1600"/>
              <a:buChar char="•"/>
              <a:defRPr sz="1600"/>
            </a:lvl8pPr>
            <a:lvl9pPr indent="-330200" lvl="8" marL="4114800" algn="l">
              <a:lnSpc>
                <a:spcPct val="100000"/>
              </a:lnSpc>
              <a:spcBef>
                <a:spcPts val="1000"/>
              </a:spcBef>
              <a:spcAft>
                <a:spcPts val="0"/>
              </a:spcAft>
              <a:buSzPts val="1600"/>
              <a:buChar char="•"/>
              <a:defRPr sz="1600"/>
            </a:lvl9pPr>
          </a:lstStyle>
          <a:p/>
        </p:txBody>
      </p:sp>
      <p:sp>
        <p:nvSpPr>
          <p:cNvPr id="74" name="Google Shape;74;p14"/>
          <p:cNvSpPr txBox="1"/>
          <p:nvPr>
            <p:ph idx="2" type="body"/>
          </p:nvPr>
        </p:nvSpPr>
        <p:spPr>
          <a:xfrm>
            <a:off x="1115568" y="3549918"/>
            <a:ext cx="3794760" cy="2194036"/>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75" name="Google Shape;75;p14"/>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4"/>
          <p:cNvSpPr txBox="1"/>
          <p:nvPr>
            <p:ph idx="11" type="ftr"/>
          </p:nvPr>
        </p:nvSpPr>
        <p:spPr>
          <a:xfrm>
            <a:off x="804672" y="6236208"/>
            <a:ext cx="5124797"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4"/>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8" name="Shape 78"/>
        <p:cNvGrpSpPr/>
        <p:nvPr/>
      </p:nvGrpSpPr>
      <p:grpSpPr>
        <a:xfrm>
          <a:off x="0" y="0"/>
          <a:ext cx="0" cy="0"/>
          <a:chOff x="0" y="0"/>
          <a:chExt cx="0" cy="0"/>
        </a:xfrm>
      </p:grpSpPr>
      <p:sp>
        <p:nvSpPr>
          <p:cNvPr id="79" name="Google Shape;79;p15"/>
          <p:cNvSpPr/>
          <p:nvPr/>
        </p:nvSpPr>
        <p:spPr>
          <a:xfrm>
            <a:off x="0" y="0"/>
            <a:ext cx="6095999"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5"/>
          <p:cNvSpPr txBox="1"/>
          <p:nvPr>
            <p:ph type="title"/>
          </p:nvPr>
        </p:nvSpPr>
        <p:spPr>
          <a:xfrm>
            <a:off x="808523" y="2243828"/>
            <a:ext cx="4494998" cy="1134640"/>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5"/>
          <p:cNvSpPr/>
          <p:nvPr>
            <p:ph idx="2" type="pic"/>
          </p:nvPr>
        </p:nvSpPr>
        <p:spPr>
          <a:xfrm>
            <a:off x="6095999" y="0"/>
            <a:ext cx="6102097" cy="6858000"/>
          </a:xfrm>
          <a:prstGeom prst="rect">
            <a:avLst/>
          </a:prstGeom>
          <a:solidFill>
            <a:srgbClr val="BFBFBF"/>
          </a:solidFill>
          <a:ln>
            <a:noFill/>
          </a:ln>
        </p:spPr>
      </p:sp>
      <p:sp>
        <p:nvSpPr>
          <p:cNvPr id="82" name="Google Shape;82;p15"/>
          <p:cNvSpPr txBox="1"/>
          <p:nvPr>
            <p:ph idx="1" type="body"/>
          </p:nvPr>
        </p:nvSpPr>
        <p:spPr>
          <a:xfrm>
            <a:off x="1115568" y="3549918"/>
            <a:ext cx="3794760" cy="2194037"/>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83" name="Google Shape;83;p15"/>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5"/>
          <p:cNvSpPr txBox="1"/>
          <p:nvPr>
            <p:ph idx="11" type="ftr"/>
          </p:nvPr>
        </p:nvSpPr>
        <p:spPr>
          <a:xfrm>
            <a:off x="804672" y="6236208"/>
            <a:ext cx="5124797"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5"/>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6" name="Shape 86"/>
        <p:cNvGrpSpPr/>
        <p:nvPr/>
      </p:nvGrpSpPr>
      <p:grpSpPr>
        <a:xfrm>
          <a:off x="0" y="0"/>
          <a:ext cx="0" cy="0"/>
          <a:chOff x="0" y="0"/>
          <a:chExt cx="0" cy="0"/>
        </a:xfrm>
      </p:grpSpPr>
      <p:sp>
        <p:nvSpPr>
          <p:cNvPr id="87" name="Google Shape;87;p16"/>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6"/>
          <p:cNvSpPr txBox="1"/>
          <p:nvPr>
            <p:ph idx="1" type="body"/>
          </p:nvPr>
        </p:nvSpPr>
        <p:spPr>
          <a:xfrm rot="5400000">
            <a:off x="4545009" y="324172"/>
            <a:ext cx="3101983" cy="772972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89" name="Google Shape;89;p16"/>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6"/>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6"/>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2" name="Shape 92"/>
        <p:cNvGrpSpPr/>
        <p:nvPr/>
      </p:nvGrpSpPr>
      <p:grpSpPr>
        <a:xfrm>
          <a:off x="0" y="0"/>
          <a:ext cx="0" cy="0"/>
          <a:chOff x="0" y="0"/>
          <a:chExt cx="0" cy="0"/>
        </a:xfrm>
      </p:grpSpPr>
      <p:sp>
        <p:nvSpPr>
          <p:cNvPr id="93" name="Google Shape;93;p17"/>
          <p:cNvSpPr txBox="1"/>
          <p:nvPr>
            <p:ph type="title"/>
          </p:nvPr>
        </p:nvSpPr>
        <p:spPr>
          <a:xfrm rot="5400000">
            <a:off x="6810676" y="2779696"/>
            <a:ext cx="4983480" cy="1298608"/>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7"/>
          <p:cNvSpPr txBox="1"/>
          <p:nvPr>
            <p:ph idx="1" type="body"/>
          </p:nvPr>
        </p:nvSpPr>
        <p:spPr>
          <a:xfrm rot="5400000">
            <a:off x="2838641" y="329756"/>
            <a:ext cx="4983480" cy="619848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95" name="Google Shape;95;p17"/>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7"/>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17"/>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5"/>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800"/>
              <a:buFont typeface="Gill Sans"/>
              <a:buNone/>
              <a:defRPr b="0" i="0" sz="2800" u="none" cap="none" strike="noStrike">
                <a:solidFill>
                  <a:srgbClr val="262626"/>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FEFEFE"/>
                </a:solidFill>
                <a:latin typeface="Gill Sans"/>
                <a:ea typeface="Gill Sans"/>
                <a:cs typeface="Gill Sans"/>
                <a:sym typeface="Gill Sans"/>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9pPr>
          </a:lstStyle>
          <a:p/>
        </p:txBody>
      </p:sp>
      <p:sp>
        <p:nvSpPr>
          <p:cNvPr id="12" name="Google Shape;12;p5"/>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lt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9pPr>
          </a:lstStyle>
          <a:p/>
        </p:txBody>
      </p:sp>
      <p:sp>
        <p:nvSpPr>
          <p:cNvPr id="13" name="Google Shape;13;p5"/>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lt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9pPr>
          </a:lstStyle>
          <a:p/>
        </p:txBody>
      </p:sp>
      <p:sp>
        <p:nvSpPr>
          <p:cNvPr id="14" name="Google Shape;14;p5"/>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1" name="Shape 21"/>
        <p:cNvGrpSpPr/>
        <p:nvPr/>
      </p:nvGrpSpPr>
      <p:grpSpPr>
        <a:xfrm>
          <a:off x="0" y="0"/>
          <a:ext cx="0" cy="0"/>
          <a:chOff x="0" y="0"/>
          <a:chExt cx="0" cy="0"/>
        </a:xfrm>
      </p:grpSpPr>
      <p:sp>
        <p:nvSpPr>
          <p:cNvPr id="22" name="Google Shape;22;p4"/>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800"/>
              <a:buFont typeface="Gill Sans"/>
              <a:buNone/>
              <a:defRPr b="0" i="0" sz="2800" u="none" cap="none" strike="noStrike">
                <a:solidFill>
                  <a:srgbClr val="262626"/>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 name="Google Shape;23;p4"/>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262626"/>
                </a:solidFill>
                <a:latin typeface="Gill Sans"/>
                <a:ea typeface="Gill Sans"/>
                <a:cs typeface="Gill Sans"/>
                <a:sym typeface="Gill Sans"/>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9pPr>
          </a:lstStyle>
          <a:p/>
        </p:txBody>
      </p:sp>
      <p:sp>
        <p:nvSpPr>
          <p:cNvPr id="24" name="Google Shape;24;p4"/>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25" name="Google Shape;25;p4"/>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26" name="Google Shape;26;p4"/>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docs.python.org/3/library/collections.html#collections.dequ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visualgo.net/en/ufds/print" TargetMode="External"/><Relationship Id="rId4" Type="http://schemas.openxmlformats.org/officeDocument/2006/relationships/hyperlink" Target="https://visualgo.net/en/ufds" TargetMode="External"/><Relationship Id="rId5"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visualgo.net/en/ufds/print" TargetMode="External"/><Relationship Id="rId4" Type="http://schemas.openxmlformats.org/officeDocument/2006/relationships/hyperlink" Target="https://visualgo.net/en/ufds" TargetMode="External"/><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visualgo.net/en/ufds/print" TargetMode="External"/><Relationship Id="rId4" Type="http://schemas.openxmlformats.org/officeDocument/2006/relationships/hyperlink" Target="https://visualgo.net/en/ufds" TargetMode="External"/><Relationship Id="rId5"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visualgo.net/en/ufds/print" TargetMode="External"/><Relationship Id="rId4" Type="http://schemas.openxmlformats.org/officeDocument/2006/relationships/hyperlink" Target="https://visualgo.net/en/ufds" TargetMode="External"/><Relationship Id="rId5"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visualgo.net/en/ufds/print" TargetMode="External"/><Relationship Id="rId4" Type="http://schemas.openxmlformats.org/officeDocument/2006/relationships/hyperlink" Target="https://visualgo.net/en/ufd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visualgo.net/en/ufds/print" TargetMode="External"/><Relationship Id="rId4" Type="http://schemas.openxmlformats.org/officeDocument/2006/relationships/hyperlink" Target="https://visualgo.net/en/ufd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visualgo.net/en/ufds/print" TargetMode="External"/><Relationship Id="rId4" Type="http://schemas.openxmlformats.org/officeDocument/2006/relationships/hyperlink" Target="https://visualgo.net/en/ufds" TargetMode="External"/><Relationship Id="rId5"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visualgo.net/en/ufds" TargetMode="External"/><Relationship Id="rId4" Type="http://schemas.openxmlformats.org/officeDocument/2006/relationships/hyperlink" Target="https://visualgo.net/en/ufds/print" TargetMode="External"/><Relationship Id="rId5" Type="http://schemas.openxmlformats.org/officeDocument/2006/relationships/hyperlink" Target="https://visualgo.net/en/ufds" TargetMode="External"/><Relationship Id="rId6"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visualgo.net/en/ufds" TargetMode="External"/><Relationship Id="rId4" Type="http://schemas.openxmlformats.org/officeDocument/2006/relationships/hyperlink" Target="https://visualgo.net/en/ufds/print" TargetMode="External"/><Relationship Id="rId5" Type="http://schemas.openxmlformats.org/officeDocument/2006/relationships/hyperlink" Target="https://visualgo.net/en/ufd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visualgo.net/en/ufds/print" TargetMode="External"/><Relationship Id="rId4" Type="http://schemas.openxmlformats.org/officeDocument/2006/relationships/hyperlink" Target="https://visualgo.net/en/ufd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visualgo.net/en/ufds" TargetMode="External"/><Relationship Id="rId4" Type="http://schemas.openxmlformats.org/officeDocument/2006/relationships/hyperlink" Target="https://visualgo.net/en/ufds/print" TargetMode="External"/><Relationship Id="rId5" Type="http://schemas.openxmlformats.org/officeDocument/2006/relationships/hyperlink" Target="https://visualgo.net/en/ufd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github.com/stevenhalim/cpbook-code/tree/master/ch2/ourown" TargetMode="External"/><Relationship Id="rId4" Type="http://schemas.openxmlformats.org/officeDocument/2006/relationships/hyperlink" Target="https://visualgo.net/en/ufds/print" TargetMode="External"/><Relationship Id="rId5" Type="http://schemas.openxmlformats.org/officeDocument/2006/relationships/hyperlink" Target="https://visualgo.net/en/ufd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hyperlink" Target="https://en.wikipedia.org/wiki/Prime-counting_function"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hyperlink" Target="https://open.kattis.com/problems/unionfind" TargetMode="External"/><Relationship Id="rId4" Type="http://schemas.openxmlformats.org/officeDocument/2006/relationships/hyperlink" Target="https://open.kattis.com/problems/almostunionfind" TargetMode="External"/><Relationship Id="rId9" Type="http://schemas.openxmlformats.org/officeDocument/2006/relationships/hyperlink" Target="https://open.kattis.com/problems/thanosthehero" TargetMode="External"/><Relationship Id="rId5" Type="http://schemas.openxmlformats.org/officeDocument/2006/relationships/hyperlink" Target="https://open.kattis.com/problems/blackfriday" TargetMode="External"/><Relationship Id="rId6" Type="http://schemas.openxmlformats.org/officeDocument/2006/relationships/hyperlink" Target="https://open.kattis.com/problems/veci" TargetMode="External"/><Relationship Id="rId7" Type="http://schemas.openxmlformats.org/officeDocument/2006/relationships/hyperlink" Target="https://open.kattis.com/problems/tautology" TargetMode="External"/><Relationship Id="rId8" Type="http://schemas.openxmlformats.org/officeDocument/2006/relationships/hyperlink" Target="https://open.kattis.com/problems/geppetto"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
          <p:cNvSpPr txBox="1"/>
          <p:nvPr>
            <p:ph type="ctrTitle"/>
          </p:nvPr>
        </p:nvSpPr>
        <p:spPr>
          <a:xfrm>
            <a:off x="1600200" y="1124869"/>
            <a:ext cx="8991600" cy="164580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a:t>WORKSHOP 3</a:t>
            </a:r>
            <a:endParaRPr/>
          </a:p>
        </p:txBody>
      </p:sp>
      <p:sp>
        <p:nvSpPr>
          <p:cNvPr id="104" name="Google Shape;104;p1"/>
          <p:cNvSpPr txBox="1"/>
          <p:nvPr/>
        </p:nvSpPr>
        <p:spPr>
          <a:xfrm>
            <a:off x="3242390" y="3399885"/>
            <a:ext cx="5707200" cy="2031900"/>
          </a:xfrm>
          <a:prstGeom prst="rect">
            <a:avLst/>
          </a:prstGeom>
          <a:noFill/>
          <a:ln>
            <a:noFill/>
          </a:ln>
        </p:spPr>
        <p:txBody>
          <a:bodyPr anchorCtr="0" anchor="t" bIns="45700" lIns="91425" spcFirstLastPara="1" rIns="91425" wrap="square" tIns="45700">
            <a:spAutoFit/>
          </a:bodyPr>
          <a:lstStyle/>
          <a:p>
            <a:pPr indent="-342900" lvl="0" marL="457200" rtl="0" algn="l">
              <a:spcBef>
                <a:spcPts val="0"/>
              </a:spcBef>
              <a:spcAft>
                <a:spcPts val="0"/>
              </a:spcAft>
              <a:buClr>
                <a:schemeClr val="lt1"/>
              </a:buClr>
              <a:buSzPts val="1800"/>
              <a:buChar char="•"/>
            </a:pPr>
            <a:r>
              <a:rPr lang="en-US" sz="1800">
                <a:solidFill>
                  <a:schemeClr val="lt1"/>
                </a:solidFill>
                <a:latin typeface="Gill Sans"/>
                <a:ea typeface="Gill Sans"/>
                <a:cs typeface="Gill Sans"/>
                <a:sym typeface="Gill Sans"/>
              </a:rPr>
              <a:t>Questions?</a:t>
            </a:r>
            <a:endParaRPr sz="1800">
              <a:solidFill>
                <a:schemeClr val="lt1"/>
              </a:solidFill>
              <a:latin typeface="Gill Sans"/>
              <a:ea typeface="Gill Sans"/>
              <a:cs typeface="Gill Sans"/>
              <a:sym typeface="Gill Sans"/>
            </a:endParaRPr>
          </a:p>
          <a:p>
            <a:pPr indent="-342900" lvl="0" marL="457200" rtl="0" algn="l">
              <a:spcBef>
                <a:spcPts val="0"/>
              </a:spcBef>
              <a:spcAft>
                <a:spcPts val="0"/>
              </a:spcAft>
              <a:buClr>
                <a:schemeClr val="lt1"/>
              </a:buClr>
              <a:buSzPts val="1800"/>
              <a:buFont typeface="Gill Sans"/>
              <a:buChar char="•"/>
            </a:pPr>
            <a:r>
              <a:rPr lang="en-US" sz="1800">
                <a:solidFill>
                  <a:schemeClr val="lt1"/>
                </a:solidFill>
                <a:latin typeface="Gill Sans"/>
                <a:ea typeface="Gill Sans"/>
                <a:cs typeface="Gill Sans"/>
                <a:sym typeface="Gill Sans"/>
              </a:rPr>
              <a:t>Contest Acronyms</a:t>
            </a:r>
            <a:endParaRPr sz="1800">
              <a:solidFill>
                <a:schemeClr val="lt1"/>
              </a:solidFill>
              <a:latin typeface="Gill Sans"/>
              <a:ea typeface="Gill Sans"/>
              <a:cs typeface="Gill Sans"/>
              <a:sym typeface="Gill Sans"/>
            </a:endParaRPr>
          </a:p>
          <a:p>
            <a:pPr indent="-342900" lvl="0" marL="457200" rtl="0" algn="l">
              <a:spcBef>
                <a:spcPts val="0"/>
              </a:spcBef>
              <a:spcAft>
                <a:spcPts val="0"/>
              </a:spcAft>
              <a:buClr>
                <a:schemeClr val="lt1"/>
              </a:buClr>
              <a:buSzPts val="1800"/>
              <a:buFont typeface="Gill Sans"/>
              <a:buChar char="•"/>
            </a:pPr>
            <a:r>
              <a:rPr lang="en-US" sz="1800">
                <a:solidFill>
                  <a:schemeClr val="lt1"/>
                </a:solidFill>
                <a:latin typeface="Gill Sans"/>
                <a:ea typeface="Gill Sans"/>
                <a:cs typeface="Gill Sans"/>
                <a:sym typeface="Gill Sans"/>
              </a:rPr>
              <a:t>Suggested Homework Review</a:t>
            </a:r>
            <a:endParaRPr sz="1800">
              <a:solidFill>
                <a:schemeClr val="lt1"/>
              </a:solidFill>
              <a:latin typeface="Gill Sans"/>
              <a:ea typeface="Gill Sans"/>
              <a:cs typeface="Gill Sans"/>
              <a:sym typeface="Gill Sans"/>
            </a:endParaRPr>
          </a:p>
          <a:p>
            <a:pPr indent="-342900" lvl="0" marL="457200" rtl="0" algn="l">
              <a:spcBef>
                <a:spcPts val="0"/>
              </a:spcBef>
              <a:spcAft>
                <a:spcPts val="0"/>
              </a:spcAft>
              <a:buClr>
                <a:schemeClr val="lt1"/>
              </a:buClr>
              <a:buSzPts val="1800"/>
              <a:buChar char="•"/>
            </a:pPr>
            <a:r>
              <a:rPr lang="en-US" sz="1800">
                <a:solidFill>
                  <a:schemeClr val="lt1"/>
                </a:solidFill>
                <a:latin typeface="Gill Sans"/>
                <a:ea typeface="Gill Sans"/>
                <a:cs typeface="Gill Sans"/>
                <a:sym typeface="Gill Sans"/>
              </a:rPr>
              <a:t>2.4.2 Union-Find Disjoint Sets</a:t>
            </a:r>
            <a:endParaRPr sz="1800">
              <a:solidFill>
                <a:schemeClr val="lt1"/>
              </a:solidFill>
              <a:latin typeface="Gill Sans"/>
              <a:ea typeface="Gill Sans"/>
              <a:cs typeface="Gill Sans"/>
              <a:sym typeface="Gill Sans"/>
            </a:endParaRPr>
          </a:p>
          <a:p>
            <a:pPr indent="-342900" lvl="0" marL="457200" rtl="0" algn="l">
              <a:spcBef>
                <a:spcPts val="0"/>
              </a:spcBef>
              <a:spcAft>
                <a:spcPts val="0"/>
              </a:spcAft>
              <a:buClr>
                <a:schemeClr val="lt1"/>
              </a:buClr>
              <a:buSzPts val="1800"/>
              <a:buChar char="•"/>
            </a:pPr>
            <a:r>
              <a:rPr lang="en-US" sz="1800">
                <a:solidFill>
                  <a:schemeClr val="lt1"/>
                </a:solidFill>
                <a:latin typeface="Gill Sans"/>
                <a:ea typeface="Gill Sans"/>
                <a:cs typeface="Gill Sans"/>
                <a:sym typeface="Gill Sans"/>
              </a:rPr>
              <a:t>3.2.1 Iterative Complete Search</a:t>
            </a:r>
            <a:endParaRPr sz="1800">
              <a:solidFill>
                <a:schemeClr val="lt1"/>
              </a:solidFill>
              <a:latin typeface="Gill Sans"/>
              <a:ea typeface="Gill Sans"/>
              <a:cs typeface="Gill Sans"/>
              <a:sym typeface="Gill Sans"/>
            </a:endParaRPr>
          </a:p>
          <a:p>
            <a:pPr indent="-342900" lvl="0" marL="457200" rtl="0" algn="l">
              <a:spcBef>
                <a:spcPts val="0"/>
              </a:spcBef>
              <a:spcAft>
                <a:spcPts val="0"/>
              </a:spcAft>
              <a:buClr>
                <a:schemeClr val="lt1"/>
              </a:buClr>
              <a:buSzPts val="1800"/>
              <a:buChar char="•"/>
            </a:pPr>
            <a:r>
              <a:rPr lang="en-US" sz="1800">
                <a:solidFill>
                  <a:schemeClr val="lt1"/>
                </a:solidFill>
                <a:latin typeface="Gill Sans"/>
                <a:ea typeface="Gill Sans"/>
                <a:cs typeface="Gill Sans"/>
                <a:sym typeface="Gill Sans"/>
              </a:rPr>
              <a:t>3.2.3 Complete Search Tips</a:t>
            </a:r>
            <a:endParaRPr sz="1800">
              <a:solidFill>
                <a:schemeClr val="lt1"/>
              </a:solidFill>
              <a:latin typeface="Gill Sans"/>
              <a:ea typeface="Gill Sans"/>
              <a:cs typeface="Gill Sans"/>
              <a:sym typeface="Gill Sans"/>
            </a:endParaRPr>
          </a:p>
          <a:p>
            <a:pPr indent="-342900" lvl="0" marL="457200" rtl="0" algn="l">
              <a:spcBef>
                <a:spcPts val="0"/>
              </a:spcBef>
              <a:spcAft>
                <a:spcPts val="0"/>
              </a:spcAft>
              <a:buClr>
                <a:schemeClr val="lt1"/>
              </a:buClr>
              <a:buSzPts val="1800"/>
              <a:buFont typeface="Gill Sans"/>
              <a:buChar char="•"/>
            </a:pPr>
            <a:r>
              <a:rPr lang="en-US" sz="1800">
                <a:solidFill>
                  <a:schemeClr val="lt1"/>
                </a:solidFill>
                <a:latin typeface="Gill Sans"/>
                <a:ea typeface="Gill Sans"/>
                <a:cs typeface="Gill Sans"/>
                <a:sym typeface="Gill Sans"/>
              </a:rPr>
              <a:t>Suggested Homework</a:t>
            </a:r>
            <a:endParaRPr sz="1800">
              <a:solidFill>
                <a:schemeClr val="lt1"/>
              </a:solidFill>
              <a:latin typeface="Gill Sans"/>
              <a:ea typeface="Gill Sans"/>
              <a:cs typeface="Gill Sans"/>
              <a:sym typeface="Gill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816e0e644b_0_0"/>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Questions?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816e0e644b_0_207"/>
          <p:cNvSpPr txBox="1"/>
          <p:nvPr>
            <p:ph type="ctrTitle"/>
          </p:nvPr>
        </p:nvSpPr>
        <p:spPr>
          <a:xfrm>
            <a:off x="1600200" y="1124869"/>
            <a:ext cx="8991600" cy="164580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a:t>Contest Acronyms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816e0e644b_0_225"/>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spcBef>
                <a:spcPts val="0"/>
              </a:spcBef>
              <a:spcAft>
                <a:spcPts val="0"/>
              </a:spcAft>
              <a:buClr>
                <a:schemeClr val="dk1"/>
              </a:buClr>
              <a:buSzPct val="28947"/>
              <a:buFont typeface="Arial"/>
              <a:buNone/>
            </a:pPr>
            <a:r>
              <a:rPr lang="en-US" sz="3800"/>
              <a:t>Contest Acronyms</a:t>
            </a:r>
            <a:endParaRPr sz="3800"/>
          </a:p>
        </p:txBody>
      </p:sp>
      <p:sp>
        <p:nvSpPr>
          <p:cNvPr id="123" name="Google Shape;123;g3816e0e644b_0_225"/>
          <p:cNvSpPr txBox="1"/>
          <p:nvPr>
            <p:ph idx="1" type="body"/>
          </p:nvPr>
        </p:nvSpPr>
        <p:spPr>
          <a:xfrm>
            <a:off x="494675" y="1096825"/>
            <a:ext cx="11231400" cy="33102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WA – Wrong Answer</a:t>
            </a:r>
            <a:endParaRPr sz="2000"/>
          </a:p>
          <a:p>
            <a:pPr indent="0" lvl="0" marL="457200" rtl="0" algn="l">
              <a:spcBef>
                <a:spcPts val="0"/>
              </a:spcBef>
              <a:spcAft>
                <a:spcPts val="0"/>
              </a:spcAft>
              <a:buNone/>
            </a:pPr>
            <a:r>
              <a:t/>
            </a:r>
            <a:endParaRPr sz="2000"/>
          </a:p>
          <a:p>
            <a:pPr indent="-355600" lvl="0" marL="457200" rtl="0" algn="l">
              <a:spcBef>
                <a:spcPts val="0"/>
              </a:spcBef>
              <a:spcAft>
                <a:spcPts val="0"/>
              </a:spcAft>
              <a:buSzPts val="2000"/>
              <a:buChar char="•"/>
            </a:pPr>
            <a:r>
              <a:rPr lang="en-US" sz="2000"/>
              <a:t>TLE – Time Limit Exceeded</a:t>
            </a:r>
            <a:endParaRPr sz="2000"/>
          </a:p>
          <a:p>
            <a:pPr indent="0" lvl="0" marL="457200" rtl="0" algn="l">
              <a:spcBef>
                <a:spcPts val="0"/>
              </a:spcBef>
              <a:spcAft>
                <a:spcPts val="0"/>
              </a:spcAft>
              <a:buNone/>
            </a:pPr>
            <a:r>
              <a:t/>
            </a:r>
            <a:endParaRPr sz="2000"/>
          </a:p>
          <a:p>
            <a:pPr indent="-355600" lvl="0" marL="457200" rtl="0" algn="l">
              <a:spcBef>
                <a:spcPts val="0"/>
              </a:spcBef>
              <a:spcAft>
                <a:spcPts val="0"/>
              </a:spcAft>
              <a:buSzPts val="2000"/>
              <a:buChar char="•"/>
            </a:pPr>
            <a:r>
              <a:rPr lang="en-US" sz="2000"/>
              <a:t>MLE – Memory Limit Exceeded</a:t>
            </a:r>
            <a:endParaRPr sz="2000"/>
          </a:p>
          <a:p>
            <a:pPr indent="0" lvl="0" marL="457200" rtl="0" algn="l">
              <a:spcBef>
                <a:spcPts val="0"/>
              </a:spcBef>
              <a:spcAft>
                <a:spcPts val="0"/>
              </a:spcAft>
              <a:buNone/>
            </a:pPr>
            <a:r>
              <a:t/>
            </a:r>
            <a:endParaRPr sz="2000"/>
          </a:p>
          <a:p>
            <a:pPr indent="-355600" lvl="0" marL="457200" rtl="0" algn="l">
              <a:spcBef>
                <a:spcPts val="0"/>
              </a:spcBef>
              <a:spcAft>
                <a:spcPts val="0"/>
              </a:spcAft>
              <a:buSzPts val="2000"/>
              <a:buChar char="•"/>
            </a:pPr>
            <a:r>
              <a:rPr lang="en-US" sz="2000"/>
              <a:t>RE – Runtime Error</a:t>
            </a:r>
            <a:endParaRPr sz="2000"/>
          </a:p>
          <a:p>
            <a:pPr indent="0" lvl="0" marL="457200" rtl="0" algn="l">
              <a:spcBef>
                <a:spcPts val="0"/>
              </a:spcBef>
              <a:spcAft>
                <a:spcPts val="0"/>
              </a:spcAft>
              <a:buNone/>
            </a:pPr>
            <a:r>
              <a:t/>
            </a:r>
            <a:endParaRPr sz="2000"/>
          </a:p>
          <a:p>
            <a:pPr indent="-355600" lvl="0" marL="457200" rtl="0" algn="l">
              <a:lnSpc>
                <a:spcPct val="100000"/>
              </a:lnSpc>
              <a:spcBef>
                <a:spcPts val="0"/>
              </a:spcBef>
              <a:spcAft>
                <a:spcPts val="0"/>
              </a:spcAft>
              <a:buSzPts val="2000"/>
              <a:buChar char="•"/>
            </a:pPr>
            <a:r>
              <a:rPr lang="en-US" sz="2000"/>
              <a:t>CE – Compilation Error</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816e0e644b_0_141"/>
          <p:cNvSpPr txBox="1"/>
          <p:nvPr>
            <p:ph type="ctrTitle"/>
          </p:nvPr>
        </p:nvSpPr>
        <p:spPr>
          <a:xfrm>
            <a:off x="1600200" y="1124869"/>
            <a:ext cx="8991600" cy="164580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a:t>Suggested Homework Review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816e0e644b_0_7"/>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B</a:t>
            </a:r>
            <a:r>
              <a:rPr lang="en-US"/>
              <a:t>aloni</a:t>
            </a:r>
            <a:endParaRPr/>
          </a:p>
        </p:txBody>
      </p:sp>
      <p:sp>
        <p:nvSpPr>
          <p:cNvPr id="136" name="Google Shape;136;g3816e0e644b_0_7"/>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Each balloon has a height; an arrow shot from a balloon continues at height−1 after popping it.</a:t>
            </a:r>
            <a:endParaRPr sz="2000"/>
          </a:p>
          <a:p>
            <a:pPr indent="-355600" lvl="0" marL="457200" rtl="0" algn="l">
              <a:spcBef>
                <a:spcPts val="0"/>
              </a:spcBef>
              <a:spcAft>
                <a:spcPts val="0"/>
              </a:spcAft>
              <a:buSzPts val="2000"/>
              <a:buChar char="•"/>
            </a:pPr>
            <a:r>
              <a:rPr lang="en-US" sz="2000"/>
              <a:t>Goal: Find the minimum number of arrows needed to pop all balloons.</a:t>
            </a:r>
            <a:endParaRPr sz="2000"/>
          </a:p>
          <a:p>
            <a:pPr indent="-355600" lvl="0" marL="457200" rtl="0" algn="l">
              <a:spcBef>
                <a:spcPts val="0"/>
              </a:spcBef>
              <a:spcAft>
                <a:spcPts val="0"/>
              </a:spcAft>
              <a:buSzPts val="2000"/>
              <a:buChar char="•"/>
            </a:pPr>
            <a:r>
              <a:rPr lang="en-US" sz="2000"/>
              <a:t>Strategy:</a:t>
            </a:r>
            <a:endParaRPr sz="2000"/>
          </a:p>
          <a:p>
            <a:pPr indent="-355600" lvl="1" marL="914400" rtl="0" algn="l">
              <a:spcBef>
                <a:spcPts val="0"/>
              </a:spcBef>
              <a:spcAft>
                <a:spcPts val="0"/>
              </a:spcAft>
              <a:buSzPts val="2000"/>
              <a:buChar char="•"/>
            </a:pPr>
            <a:r>
              <a:rPr lang="en-US" sz="2000"/>
              <a:t>Track how many arrows are currently “in flight” at each height.</a:t>
            </a:r>
            <a:endParaRPr sz="2000"/>
          </a:p>
          <a:p>
            <a:pPr indent="-355600" lvl="1" marL="914400" rtl="0" algn="l">
              <a:spcBef>
                <a:spcPts val="0"/>
              </a:spcBef>
              <a:spcAft>
                <a:spcPts val="0"/>
              </a:spcAft>
              <a:buSzPts val="2000"/>
              <a:buChar char="•"/>
            </a:pPr>
            <a:r>
              <a:rPr lang="en-US" sz="2000"/>
              <a:t>When a balloon of height h is seen:</a:t>
            </a:r>
            <a:endParaRPr sz="2000"/>
          </a:p>
          <a:p>
            <a:pPr indent="-355600" lvl="2" marL="1371600" rtl="0" algn="l">
              <a:spcBef>
                <a:spcPts val="0"/>
              </a:spcBef>
              <a:spcAft>
                <a:spcPts val="0"/>
              </a:spcAft>
              <a:buSzPts val="2000"/>
              <a:buChar char="•"/>
            </a:pPr>
            <a:r>
              <a:rPr lang="en-US" sz="2000"/>
              <a:t>If there is an arrow at h+1, reuse it: decrement arrows at h+1 and increment arrows at h.</a:t>
            </a:r>
            <a:endParaRPr sz="2000"/>
          </a:p>
          <a:p>
            <a:pPr indent="-355600" lvl="2" marL="1371600" rtl="0" algn="l">
              <a:spcBef>
                <a:spcPts val="0"/>
              </a:spcBef>
              <a:spcAft>
                <a:spcPts val="0"/>
              </a:spcAft>
              <a:buSzPts val="2000"/>
              <a:buChar char="•"/>
            </a:pPr>
            <a:r>
              <a:rPr lang="en-US" sz="2000"/>
              <a:t>Otherwise, start a new arrow at h.</a:t>
            </a:r>
            <a:endParaRPr sz="2000"/>
          </a:p>
          <a:p>
            <a:pPr indent="-355600" lvl="1" marL="914400" rtl="0" algn="l">
              <a:spcBef>
                <a:spcPts val="0"/>
              </a:spcBef>
              <a:spcAft>
                <a:spcPts val="0"/>
              </a:spcAft>
              <a:buSzPts val="2000"/>
              <a:buChar char="•"/>
            </a:pPr>
            <a:r>
              <a:rPr lang="en-US" sz="2000"/>
              <a:t>At the end, the total arrows in all heights is the answer.</a:t>
            </a:r>
            <a:endParaRPr sz="2000"/>
          </a:p>
          <a:p>
            <a:pPr indent="-355600" lvl="0" marL="457200" rtl="0" algn="l">
              <a:spcBef>
                <a:spcPts val="0"/>
              </a:spcBef>
              <a:spcAft>
                <a:spcPts val="0"/>
              </a:spcAft>
              <a:buSzPts val="2000"/>
              <a:buChar char="•"/>
            </a:pPr>
            <a:r>
              <a:rPr lang="en-US" sz="2000"/>
              <a:t>Time Complexity: O(n) (each balloon checked once).</a:t>
            </a:r>
            <a:endParaRPr sz="2000"/>
          </a:p>
          <a:p>
            <a:pPr indent="-355600" lvl="0" marL="457200" rtl="0" algn="l">
              <a:spcBef>
                <a:spcPts val="0"/>
              </a:spcBef>
              <a:spcAft>
                <a:spcPts val="0"/>
              </a:spcAft>
              <a:buSzPts val="2000"/>
              <a:buChar char="•"/>
            </a:pPr>
            <a:r>
              <a:rPr lang="en-US" sz="2000"/>
              <a:t>Space Complexity: O(H), where H is max balloon height (~1e6).</a:t>
            </a:r>
            <a:endParaRPr sz="2000"/>
          </a:p>
        </p:txBody>
      </p:sp>
      <p:sp>
        <p:nvSpPr>
          <p:cNvPr id="137" name="Google Shape;137;g3816e0e644b_0_7"/>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2.2 a. 1D Array Manipulation, Medium</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816e0e644b_0_14"/>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greedilyincreasing</a:t>
            </a:r>
            <a:endParaRPr/>
          </a:p>
        </p:txBody>
      </p:sp>
      <p:sp>
        <p:nvSpPr>
          <p:cNvPr id="144" name="Google Shape;144;g3816e0e644b_0_14"/>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Given a sequence of integers, construct the greedy increasing subsequence:</a:t>
            </a:r>
            <a:endParaRPr sz="2000"/>
          </a:p>
          <a:p>
            <a:pPr indent="-355600" lvl="1" marL="914400" rtl="0" algn="l">
              <a:spcBef>
                <a:spcPts val="0"/>
              </a:spcBef>
              <a:spcAft>
                <a:spcPts val="0"/>
              </a:spcAft>
              <a:buSzPts val="2000"/>
              <a:buChar char="•"/>
            </a:pPr>
            <a:r>
              <a:rPr lang="en-US" sz="2000"/>
              <a:t>Scan the sequence from left to right.</a:t>
            </a:r>
            <a:endParaRPr sz="2000"/>
          </a:p>
          <a:p>
            <a:pPr indent="-355600" lvl="1" marL="914400" rtl="0" algn="l">
              <a:spcBef>
                <a:spcPts val="0"/>
              </a:spcBef>
              <a:spcAft>
                <a:spcPts val="0"/>
              </a:spcAft>
              <a:buSzPts val="2000"/>
              <a:buChar char="•"/>
            </a:pPr>
            <a:r>
              <a:rPr lang="en-US" sz="2000"/>
              <a:t>Keep the first number, then keep the next number if it is strictly larger than the last chosen.</a:t>
            </a:r>
            <a:endParaRPr sz="2000"/>
          </a:p>
          <a:p>
            <a:pPr indent="-355600" lvl="1" marL="914400" rtl="0" algn="l">
              <a:spcBef>
                <a:spcPts val="0"/>
              </a:spcBef>
              <a:spcAft>
                <a:spcPts val="0"/>
              </a:spcAft>
              <a:buSzPts val="2000"/>
              <a:buChar char="•"/>
            </a:pPr>
            <a:r>
              <a:rPr lang="en-US" sz="2000"/>
              <a:t>Continue until the end of the sequence.</a:t>
            </a:r>
            <a:endParaRPr sz="2000"/>
          </a:p>
          <a:p>
            <a:pPr indent="-355600" lvl="0" marL="457200" rtl="0" algn="l">
              <a:spcBef>
                <a:spcPts val="0"/>
              </a:spcBef>
              <a:spcAft>
                <a:spcPts val="0"/>
              </a:spcAft>
              <a:buSzPts val="2000"/>
              <a:buChar char="•"/>
            </a:pPr>
            <a:r>
              <a:rPr lang="en-US" sz="2000"/>
              <a:t>Output:</a:t>
            </a:r>
            <a:endParaRPr sz="2000"/>
          </a:p>
          <a:p>
            <a:pPr indent="-355600" lvl="1" marL="914400" rtl="0" algn="l">
              <a:spcBef>
                <a:spcPts val="0"/>
              </a:spcBef>
              <a:spcAft>
                <a:spcPts val="0"/>
              </a:spcAft>
              <a:buSzPts val="2000"/>
              <a:buChar char="•"/>
            </a:pPr>
            <a:r>
              <a:rPr lang="en-US" sz="2000"/>
              <a:t>The length of the subsequence.</a:t>
            </a:r>
            <a:endParaRPr sz="2000"/>
          </a:p>
          <a:p>
            <a:pPr indent="-355600" lvl="1" marL="914400" rtl="0" algn="l">
              <a:spcBef>
                <a:spcPts val="0"/>
              </a:spcBef>
              <a:spcAft>
                <a:spcPts val="0"/>
              </a:spcAft>
              <a:buSzPts val="2000"/>
              <a:buChar char="•"/>
            </a:pPr>
            <a:r>
              <a:rPr lang="en-US" sz="2000"/>
              <a:t>The subsequence itself.</a:t>
            </a:r>
            <a:endParaRPr sz="2000"/>
          </a:p>
          <a:p>
            <a:pPr indent="-355600" lvl="0" marL="457200" rtl="0" algn="l">
              <a:spcBef>
                <a:spcPts val="0"/>
              </a:spcBef>
              <a:spcAft>
                <a:spcPts val="0"/>
              </a:spcAft>
              <a:buSzPts val="2000"/>
              <a:buChar char="•"/>
            </a:pPr>
            <a:r>
              <a:rPr lang="en-US" sz="2000"/>
              <a:t>Strategy:</a:t>
            </a:r>
            <a:endParaRPr sz="2000"/>
          </a:p>
          <a:p>
            <a:pPr indent="-355600" lvl="1" marL="914400" rtl="0" algn="l">
              <a:spcBef>
                <a:spcPts val="0"/>
              </a:spcBef>
              <a:spcAft>
                <a:spcPts val="0"/>
              </a:spcAft>
              <a:buSzPts val="2000"/>
              <a:buChar char="•"/>
            </a:pPr>
            <a:r>
              <a:rPr lang="en-US" sz="2000"/>
              <a:t>Track the last chosen number (previousNumber).</a:t>
            </a:r>
            <a:endParaRPr sz="2000"/>
          </a:p>
          <a:p>
            <a:pPr indent="-355600" lvl="1" marL="914400" rtl="0" algn="l">
              <a:spcBef>
                <a:spcPts val="0"/>
              </a:spcBef>
              <a:spcAft>
                <a:spcPts val="0"/>
              </a:spcAft>
              <a:buSzPts val="2000"/>
              <a:buChar char="•"/>
            </a:pPr>
            <a:r>
              <a:rPr lang="en-US" sz="2000"/>
              <a:t>Append numbers to the subsequence only if they are greater than previousNumber.</a:t>
            </a:r>
            <a:endParaRPr sz="2000"/>
          </a:p>
          <a:p>
            <a:pPr indent="-355600" lvl="0" marL="457200" rtl="0" algn="l">
              <a:spcBef>
                <a:spcPts val="0"/>
              </a:spcBef>
              <a:spcAft>
                <a:spcPts val="0"/>
              </a:spcAft>
              <a:buSzPts val="2000"/>
              <a:buChar char="•"/>
            </a:pPr>
            <a:r>
              <a:rPr lang="en-US" sz="2000"/>
              <a:t>Time Complexity: O(n), since each element is checked once.</a:t>
            </a:r>
            <a:endParaRPr sz="2000"/>
          </a:p>
          <a:p>
            <a:pPr indent="-355600" lvl="0" marL="457200" rtl="0" algn="l">
              <a:spcBef>
                <a:spcPts val="0"/>
              </a:spcBef>
              <a:spcAft>
                <a:spcPts val="0"/>
              </a:spcAft>
              <a:buSzPts val="2000"/>
              <a:buChar char="•"/>
            </a:pPr>
            <a:r>
              <a:rPr lang="en-US" sz="2000"/>
              <a:t>Space Complexity: O(n), to store the subsequence.</a:t>
            </a:r>
            <a:endParaRPr sz="2000"/>
          </a:p>
        </p:txBody>
      </p:sp>
      <p:sp>
        <p:nvSpPr>
          <p:cNvPr id="145" name="Google Shape;145;g3816e0e644b_0_14"/>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2.2 a. 1D Array Manipulation, Medium</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816e0e644b_0_21"/>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2048</a:t>
            </a:r>
            <a:endParaRPr/>
          </a:p>
        </p:txBody>
      </p:sp>
      <p:sp>
        <p:nvSpPr>
          <p:cNvPr id="152" name="Google Shape;152;g3816e0e644b_0_21"/>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Problem: Implement one move in the game 2048 on a 4×4 grid.</a:t>
            </a:r>
            <a:endParaRPr sz="2000"/>
          </a:p>
          <a:p>
            <a:pPr indent="-355600" lvl="0" marL="457200" rtl="0" algn="l">
              <a:spcBef>
                <a:spcPts val="0"/>
              </a:spcBef>
              <a:spcAft>
                <a:spcPts val="0"/>
              </a:spcAft>
              <a:buSzPts val="2000"/>
              <a:buChar char="•"/>
            </a:pPr>
            <a:r>
              <a:rPr lang="en-US" sz="2000"/>
              <a:t>Input:</a:t>
            </a:r>
            <a:endParaRPr sz="2000"/>
          </a:p>
          <a:p>
            <a:pPr indent="-355600" lvl="1" marL="914400" rtl="0" algn="l">
              <a:spcBef>
                <a:spcPts val="0"/>
              </a:spcBef>
              <a:spcAft>
                <a:spcPts val="0"/>
              </a:spcAft>
              <a:buSzPts val="2000"/>
              <a:buChar char="•"/>
            </a:pPr>
            <a:r>
              <a:rPr lang="en-US" sz="2000"/>
              <a:t>The grid (4 rows of 4 numbers).</a:t>
            </a:r>
            <a:endParaRPr sz="2000"/>
          </a:p>
          <a:p>
            <a:pPr indent="-355600" lvl="1" marL="914400" rtl="0" algn="l">
              <a:spcBef>
                <a:spcPts val="0"/>
              </a:spcBef>
              <a:spcAft>
                <a:spcPts val="0"/>
              </a:spcAft>
              <a:buSzPts val="2000"/>
              <a:buChar char="•"/>
            </a:pPr>
            <a:r>
              <a:rPr lang="en-US" sz="2000"/>
              <a:t>A direction (0 = left, 1 = up, 2 = right, 3 = down).</a:t>
            </a:r>
            <a:endParaRPr sz="2000"/>
          </a:p>
          <a:p>
            <a:pPr indent="-355600" lvl="0" marL="457200" rtl="0" algn="l">
              <a:spcBef>
                <a:spcPts val="0"/>
              </a:spcBef>
              <a:spcAft>
                <a:spcPts val="0"/>
              </a:spcAft>
              <a:buSzPts val="2000"/>
              <a:buChar char="•"/>
            </a:pPr>
            <a:r>
              <a:rPr lang="en-US" sz="2000"/>
              <a:t>Goal: After applying the move, print the resulting grid.</a:t>
            </a:r>
            <a:endParaRPr sz="2000"/>
          </a:p>
          <a:p>
            <a:pPr indent="-355600" lvl="0" marL="457200" rtl="0" algn="l">
              <a:spcBef>
                <a:spcPts val="0"/>
              </a:spcBef>
              <a:spcAft>
                <a:spcPts val="0"/>
              </a:spcAft>
              <a:buSzPts val="2000"/>
              <a:buChar char="•"/>
            </a:pPr>
            <a:r>
              <a:rPr lang="en-US" sz="2000"/>
              <a:t>Strategy:</a:t>
            </a:r>
            <a:endParaRPr sz="2000"/>
          </a:p>
          <a:p>
            <a:pPr indent="-355600" lvl="1" marL="914400" rtl="0" algn="l">
              <a:spcBef>
                <a:spcPts val="0"/>
              </a:spcBef>
              <a:spcAft>
                <a:spcPts val="0"/>
              </a:spcAft>
              <a:buSzPts val="2000"/>
              <a:buChar char="•"/>
            </a:pPr>
            <a:r>
              <a:rPr lang="en-US" sz="2000"/>
              <a:t>Implement smash left (merge numbers to the left, respecting 2048’s merging rules).</a:t>
            </a:r>
            <a:endParaRPr sz="2000"/>
          </a:p>
          <a:p>
            <a:pPr indent="-355600" lvl="1" marL="914400" rtl="0" algn="l">
              <a:spcBef>
                <a:spcPts val="0"/>
              </a:spcBef>
              <a:spcAft>
                <a:spcPts val="0"/>
              </a:spcAft>
              <a:buSzPts val="2000"/>
              <a:buChar char="•"/>
            </a:pPr>
            <a:r>
              <a:rPr lang="en-US" sz="2000"/>
              <a:t>For other directions (up, right, down), rotate the grid so the operation becomes “left,” apply the left merge, then rotate back.</a:t>
            </a:r>
            <a:endParaRPr sz="2000"/>
          </a:p>
          <a:p>
            <a:pPr indent="-355600" lvl="0" marL="457200" rtl="0" algn="l">
              <a:spcBef>
                <a:spcPts val="0"/>
              </a:spcBef>
              <a:spcAft>
                <a:spcPts val="0"/>
              </a:spcAft>
              <a:buSzPts val="2000"/>
              <a:buChar char="•"/>
            </a:pPr>
            <a:r>
              <a:rPr lang="en-US" sz="2000"/>
              <a:t>Time Complexity: O(n²) (process each grid cell once; here n=4 so it’s constant time in practice).</a:t>
            </a:r>
            <a:endParaRPr sz="2000"/>
          </a:p>
          <a:p>
            <a:pPr indent="-355600" lvl="0" marL="457200" rtl="0" algn="l">
              <a:spcBef>
                <a:spcPts val="0"/>
              </a:spcBef>
              <a:spcAft>
                <a:spcPts val="0"/>
              </a:spcAft>
              <a:buSzPts val="2000"/>
              <a:buChar char="•"/>
            </a:pPr>
            <a:r>
              <a:rPr lang="en-US" sz="2000"/>
              <a:t>Space Complexity: O(n²) (store a new 4x4 grid).</a:t>
            </a:r>
            <a:endParaRPr sz="2000"/>
          </a:p>
        </p:txBody>
      </p:sp>
      <p:sp>
        <p:nvSpPr>
          <p:cNvPr id="153" name="Google Shape;153;g3816e0e644b_0_2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2.2 d. 2D Array Manipulation, Harder</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816e0e644b_0_28"/>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restaurant</a:t>
            </a:r>
            <a:endParaRPr/>
          </a:p>
        </p:txBody>
      </p:sp>
      <p:sp>
        <p:nvSpPr>
          <p:cNvPr id="160" name="Google Shape;160;g3816e0e644b_0_28"/>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Problem: Simulate plate distribution in a restaurant with two stacks.</a:t>
            </a:r>
            <a:endParaRPr sz="2000"/>
          </a:p>
          <a:p>
            <a:pPr indent="-355600" lvl="1" marL="914400" rtl="0" algn="l">
              <a:spcBef>
                <a:spcPts val="0"/>
              </a:spcBef>
              <a:spcAft>
                <a:spcPts val="0"/>
              </a:spcAft>
              <a:buSzPts val="2000"/>
              <a:buChar char="•"/>
            </a:pPr>
            <a:r>
              <a:rPr lang="en-US" sz="2000"/>
              <a:t>Plates are dropped off with DROP x.</a:t>
            </a:r>
            <a:endParaRPr sz="2000"/>
          </a:p>
          <a:p>
            <a:pPr indent="-355600" lvl="1" marL="914400" rtl="0" algn="l">
              <a:spcBef>
                <a:spcPts val="0"/>
              </a:spcBef>
              <a:spcAft>
                <a:spcPts val="0"/>
              </a:spcAft>
              <a:buSzPts val="2000"/>
              <a:buChar char="•"/>
            </a:pPr>
            <a:r>
              <a:rPr lang="en-US" sz="2000"/>
              <a:t>Customers take plates with TAKE x.</a:t>
            </a:r>
            <a:endParaRPr sz="2000"/>
          </a:p>
          <a:p>
            <a:pPr indent="-355600" lvl="1" marL="914400" rtl="0" algn="l">
              <a:spcBef>
                <a:spcPts val="0"/>
              </a:spcBef>
              <a:spcAft>
                <a:spcPts val="0"/>
              </a:spcAft>
              <a:buSzPts val="2000"/>
              <a:buChar char="•"/>
            </a:pPr>
            <a:r>
              <a:rPr lang="en-US" sz="2000"/>
              <a:t>Plates are stored in two stacks (stack1, stack2).</a:t>
            </a:r>
            <a:endParaRPr sz="2000"/>
          </a:p>
          <a:p>
            <a:pPr indent="-355600" lvl="0" marL="457200" rtl="0" algn="l">
              <a:spcBef>
                <a:spcPts val="0"/>
              </a:spcBef>
              <a:spcAft>
                <a:spcPts val="0"/>
              </a:spcAft>
              <a:buSzPts val="2000"/>
              <a:buChar char="•"/>
            </a:pPr>
            <a:r>
              <a:rPr lang="en-US" sz="2000"/>
              <a:t>Strategy:</a:t>
            </a:r>
            <a:endParaRPr sz="2000"/>
          </a:p>
          <a:p>
            <a:pPr indent="-355600" lvl="1" marL="914400" rtl="0" algn="l">
              <a:spcBef>
                <a:spcPts val="0"/>
              </a:spcBef>
              <a:spcAft>
                <a:spcPts val="0"/>
              </a:spcAft>
              <a:buSzPts val="2000"/>
              <a:buChar char="•"/>
            </a:pPr>
            <a:r>
              <a:rPr lang="en-US" sz="2000"/>
              <a:t>Always DROP plates into stack2.</a:t>
            </a:r>
            <a:endParaRPr sz="2000"/>
          </a:p>
          <a:p>
            <a:pPr indent="-355600" lvl="1" marL="914400" rtl="0" algn="l">
              <a:spcBef>
                <a:spcPts val="0"/>
              </a:spcBef>
              <a:spcAft>
                <a:spcPts val="0"/>
              </a:spcAft>
              <a:buSzPts val="2000"/>
              <a:buChar char="•"/>
            </a:pPr>
            <a:r>
              <a:rPr lang="en-US" sz="2000"/>
              <a:t>Always TAKE from stack1 if possible.</a:t>
            </a:r>
            <a:endParaRPr sz="2000"/>
          </a:p>
          <a:p>
            <a:pPr indent="-355600" lvl="1" marL="914400" rtl="0" algn="l">
              <a:spcBef>
                <a:spcPts val="0"/>
              </a:spcBef>
              <a:spcAft>
                <a:spcPts val="0"/>
              </a:spcAft>
              <a:buSzPts val="2000"/>
              <a:buChar char="•"/>
            </a:pPr>
            <a:r>
              <a:rPr lang="en-US" sz="2000"/>
              <a:t>If stack1 doesn’t have enough:</a:t>
            </a:r>
            <a:endParaRPr sz="2000"/>
          </a:p>
          <a:p>
            <a:pPr indent="-355600" lvl="2" marL="1371600" rtl="0" algn="l">
              <a:spcBef>
                <a:spcPts val="0"/>
              </a:spcBef>
              <a:spcAft>
                <a:spcPts val="0"/>
              </a:spcAft>
              <a:buSzPts val="2000"/>
              <a:buChar char="•"/>
            </a:pPr>
            <a:r>
              <a:rPr lang="en-US" sz="2000"/>
              <a:t>Take what’s left in stack1.</a:t>
            </a:r>
            <a:endParaRPr sz="2000"/>
          </a:p>
          <a:p>
            <a:pPr indent="-355600" lvl="2" marL="1371600" rtl="0" algn="l">
              <a:spcBef>
                <a:spcPts val="0"/>
              </a:spcBef>
              <a:spcAft>
                <a:spcPts val="0"/>
              </a:spcAft>
              <a:buSzPts val="2000"/>
              <a:buChar char="•"/>
            </a:pPr>
            <a:r>
              <a:rPr lang="en-US" sz="2000"/>
              <a:t>Move all plates from stack2 to stack1.</a:t>
            </a:r>
            <a:endParaRPr sz="2000"/>
          </a:p>
          <a:p>
            <a:pPr indent="-355600" lvl="2" marL="1371600" rtl="0" algn="l">
              <a:spcBef>
                <a:spcPts val="0"/>
              </a:spcBef>
              <a:spcAft>
                <a:spcPts val="0"/>
              </a:spcAft>
              <a:buSzPts val="2000"/>
              <a:buChar char="•"/>
            </a:pPr>
            <a:r>
              <a:rPr lang="en-US" sz="2000"/>
              <a:t>Then continue taking the remaining plates from stack1.</a:t>
            </a:r>
            <a:endParaRPr sz="2000"/>
          </a:p>
          <a:p>
            <a:pPr indent="-355600" lvl="0" marL="457200" rtl="0" algn="l">
              <a:spcBef>
                <a:spcPts val="0"/>
              </a:spcBef>
              <a:spcAft>
                <a:spcPts val="0"/>
              </a:spcAft>
              <a:buSzPts val="2000"/>
              <a:buChar char="•"/>
            </a:pPr>
            <a:r>
              <a:rPr lang="en-US" sz="2000"/>
              <a:t>Time Complexity: O(n) (each operation processed once).</a:t>
            </a:r>
            <a:endParaRPr sz="2000"/>
          </a:p>
          <a:p>
            <a:pPr indent="-355600" lvl="0" marL="457200" rtl="0" algn="l">
              <a:spcBef>
                <a:spcPts val="0"/>
              </a:spcBef>
              <a:spcAft>
                <a:spcPts val="0"/>
              </a:spcAft>
              <a:buSzPts val="2000"/>
              <a:buChar char="•"/>
            </a:pPr>
            <a:r>
              <a:rPr lang="en-US" sz="2000"/>
              <a:t>Space Complexity: O(n) (for the output log).</a:t>
            </a:r>
            <a:endParaRPr sz="2000"/>
          </a:p>
        </p:txBody>
      </p:sp>
      <p:sp>
        <p:nvSpPr>
          <p:cNvPr id="161" name="Google Shape;161;g3816e0e644b_0_28"/>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2.2 j. Stack</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816e0e644b_0_35"/>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teque</a:t>
            </a:r>
            <a:endParaRPr/>
          </a:p>
        </p:txBody>
      </p:sp>
      <p:sp>
        <p:nvSpPr>
          <p:cNvPr id="168" name="Google Shape;168;g3816e0e644b_0_35"/>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fontScale="92500" lnSpcReduction="20000"/>
          </a:bodyPr>
          <a:lstStyle/>
          <a:p>
            <a:pPr indent="-346075" lvl="0" marL="457200" rtl="0" algn="l">
              <a:spcBef>
                <a:spcPts val="0"/>
              </a:spcBef>
              <a:spcAft>
                <a:spcPts val="0"/>
              </a:spcAft>
              <a:buSzPct val="100000"/>
              <a:buChar char="•"/>
            </a:pPr>
            <a:r>
              <a:rPr lang="en-US" sz="2000"/>
              <a:t>Problem: Implement a custom deque-like structure (Teque) that supports:</a:t>
            </a:r>
            <a:endParaRPr sz="2000"/>
          </a:p>
          <a:p>
            <a:pPr indent="-346075" lvl="1" marL="914400" rtl="0" algn="l">
              <a:spcBef>
                <a:spcPts val="0"/>
              </a:spcBef>
              <a:spcAft>
                <a:spcPts val="0"/>
              </a:spcAft>
              <a:buSzPct val="100000"/>
              <a:buChar char="•"/>
            </a:pPr>
            <a:r>
              <a:rPr lang="en-US" sz="2000"/>
              <a:t>push_back x → insert at the end.</a:t>
            </a:r>
            <a:endParaRPr sz="2000"/>
          </a:p>
          <a:p>
            <a:pPr indent="-346075" lvl="1" marL="914400" rtl="0" algn="l">
              <a:spcBef>
                <a:spcPts val="0"/>
              </a:spcBef>
              <a:spcAft>
                <a:spcPts val="0"/>
              </a:spcAft>
              <a:buSzPct val="100000"/>
              <a:buChar char="•"/>
            </a:pPr>
            <a:r>
              <a:rPr lang="en-US" sz="2000"/>
              <a:t>push_front x → insert at the front.</a:t>
            </a:r>
            <a:endParaRPr sz="2000"/>
          </a:p>
          <a:p>
            <a:pPr indent="-346075" lvl="1" marL="914400" rtl="0" algn="l">
              <a:spcBef>
                <a:spcPts val="0"/>
              </a:spcBef>
              <a:spcAft>
                <a:spcPts val="0"/>
              </a:spcAft>
              <a:buSzPct val="100000"/>
              <a:buChar char="•"/>
            </a:pPr>
            <a:r>
              <a:rPr lang="en-US" sz="2000"/>
              <a:t>push_middle x → insert in the middle.</a:t>
            </a:r>
            <a:endParaRPr sz="2000"/>
          </a:p>
          <a:p>
            <a:pPr indent="-346075" lvl="1" marL="914400" rtl="0" algn="l">
              <a:spcBef>
                <a:spcPts val="0"/>
              </a:spcBef>
              <a:spcAft>
                <a:spcPts val="0"/>
              </a:spcAft>
              <a:buSzPct val="100000"/>
              <a:buChar char="•"/>
            </a:pPr>
            <a:r>
              <a:rPr lang="en-US" sz="2000"/>
              <a:t>get i → retrieve element at index i.</a:t>
            </a:r>
            <a:endParaRPr sz="2000"/>
          </a:p>
          <a:p>
            <a:pPr indent="-346075" lvl="0" marL="457200" rtl="0" algn="l">
              <a:spcBef>
                <a:spcPts val="0"/>
              </a:spcBef>
              <a:spcAft>
                <a:spcPts val="0"/>
              </a:spcAft>
              <a:buSzPct val="100000"/>
              <a:buChar char="•"/>
            </a:pPr>
            <a:r>
              <a:rPr lang="en-US" sz="2000"/>
              <a:t>Strategy:</a:t>
            </a:r>
            <a:endParaRPr sz="2000"/>
          </a:p>
          <a:p>
            <a:pPr indent="-346075" lvl="1" marL="914400" rtl="0" algn="l">
              <a:spcBef>
                <a:spcPts val="0"/>
              </a:spcBef>
              <a:spcAft>
                <a:spcPts val="0"/>
              </a:spcAft>
              <a:buSzPct val="100000"/>
              <a:buChar char="•"/>
            </a:pPr>
            <a:r>
              <a:rPr lang="en-US" sz="2000"/>
              <a:t>Maintain two deques (q1, q2) to represent the left and right halves of the sequence.</a:t>
            </a:r>
            <a:endParaRPr sz="2000"/>
          </a:p>
          <a:p>
            <a:pPr indent="-346075" lvl="1" marL="914400" rtl="0" algn="l">
              <a:spcBef>
                <a:spcPts val="0"/>
              </a:spcBef>
              <a:spcAft>
                <a:spcPts val="0"/>
              </a:spcAft>
              <a:buSzPct val="100000"/>
              <a:buChar char="•"/>
            </a:pPr>
            <a:r>
              <a:rPr lang="en-US" sz="2000"/>
              <a:t>Invariant: always keep len(q1) == len(q2) or len(q1) == len(q2) + 1.</a:t>
            </a:r>
            <a:endParaRPr sz="2000"/>
          </a:p>
          <a:p>
            <a:pPr indent="-346075" lvl="2" marL="1371600" rtl="0" algn="l">
              <a:spcBef>
                <a:spcPts val="0"/>
              </a:spcBef>
              <a:spcAft>
                <a:spcPts val="0"/>
              </a:spcAft>
              <a:buSzPct val="100000"/>
              <a:buChar char="•"/>
            </a:pPr>
            <a:r>
              <a:rPr lang="en-US" sz="2000"/>
              <a:t>len(q1) == len(q2) + 1 is because of the following:</a:t>
            </a:r>
            <a:endParaRPr sz="2000"/>
          </a:p>
          <a:p>
            <a:pPr indent="-346075" lvl="2" marL="1371600" rtl="0" algn="l">
              <a:spcBef>
                <a:spcPts val="0"/>
              </a:spcBef>
              <a:spcAft>
                <a:spcPts val="0"/>
              </a:spcAft>
              <a:buSzPct val="100000"/>
              <a:buChar char="•"/>
            </a:pPr>
            <a:r>
              <a:rPr lang="en-US" sz="2000"/>
              <a:t>x = </a:t>
            </a:r>
            <a:r>
              <a:rPr lang="en-US" sz="2900"/>
              <a:t>⌊</a:t>
            </a:r>
            <a:r>
              <a:rPr lang="en-US" sz="2000"/>
              <a:t>(k+1)/2</a:t>
            </a:r>
            <a:r>
              <a:rPr lang="en-US" sz="2916"/>
              <a:t>⌋</a:t>
            </a:r>
            <a:r>
              <a:rPr lang="en-US" sz="2000"/>
              <a:t>, where k is size of teque and x is the resulting index of the element inserted</a:t>
            </a:r>
            <a:endParaRPr sz="2000"/>
          </a:p>
          <a:p>
            <a:pPr indent="-346075" lvl="1" marL="914400" rtl="0" algn="l">
              <a:spcBef>
                <a:spcPts val="0"/>
              </a:spcBef>
              <a:spcAft>
                <a:spcPts val="0"/>
              </a:spcAft>
              <a:buSzPct val="100000"/>
              <a:buChar char="•"/>
            </a:pPr>
            <a:r>
              <a:rPr lang="en-US" sz="2000"/>
              <a:t>After each push operation, rebalance the two deques to maintain the invariant.</a:t>
            </a:r>
            <a:endParaRPr sz="2000"/>
          </a:p>
          <a:p>
            <a:pPr indent="-346075" lvl="1" marL="914400" rtl="0" algn="l">
              <a:spcBef>
                <a:spcPts val="0"/>
              </a:spcBef>
              <a:spcAft>
                <a:spcPts val="0"/>
              </a:spcAft>
              <a:buSzPct val="100000"/>
              <a:buChar char="•"/>
            </a:pPr>
            <a:r>
              <a:rPr lang="en-US" sz="2000"/>
              <a:t>For get i:</a:t>
            </a:r>
            <a:endParaRPr sz="2000"/>
          </a:p>
          <a:p>
            <a:pPr indent="-346075" lvl="2" marL="1371600" rtl="0" algn="l">
              <a:spcBef>
                <a:spcPts val="0"/>
              </a:spcBef>
              <a:spcAft>
                <a:spcPts val="0"/>
              </a:spcAft>
              <a:buSzPct val="100000"/>
              <a:buChar char="•"/>
            </a:pPr>
            <a:r>
              <a:rPr lang="en-US" sz="2000"/>
              <a:t>If i &lt; len(q1), the element is in q1.</a:t>
            </a:r>
            <a:endParaRPr sz="2000"/>
          </a:p>
          <a:p>
            <a:pPr indent="-346075" lvl="2" marL="1371600" rtl="0" algn="l">
              <a:spcBef>
                <a:spcPts val="0"/>
              </a:spcBef>
              <a:spcAft>
                <a:spcPts val="0"/>
              </a:spcAft>
              <a:buSzPct val="100000"/>
              <a:buChar char="•"/>
            </a:pPr>
            <a:r>
              <a:rPr lang="en-US" sz="2000"/>
              <a:t>Otherwise, the element is in q2 at index i - len(q1).</a:t>
            </a:r>
            <a:endParaRPr sz="2000"/>
          </a:p>
          <a:p>
            <a:pPr indent="-346075" lvl="0" marL="457200" rtl="0" algn="l">
              <a:spcBef>
                <a:spcPts val="0"/>
              </a:spcBef>
              <a:spcAft>
                <a:spcPts val="0"/>
              </a:spcAft>
              <a:buSzPct val="100000"/>
              <a:buChar char="•"/>
            </a:pPr>
            <a:r>
              <a:rPr lang="en-US" sz="2000"/>
              <a:t>Time Complexity:</a:t>
            </a:r>
            <a:endParaRPr sz="2000"/>
          </a:p>
          <a:p>
            <a:pPr indent="-346075" lvl="1" marL="914400" rtl="0" algn="l">
              <a:spcBef>
                <a:spcPts val="0"/>
              </a:spcBef>
              <a:spcAft>
                <a:spcPts val="0"/>
              </a:spcAft>
              <a:buSzPct val="100000"/>
              <a:buChar char="•"/>
            </a:pPr>
            <a:r>
              <a:rPr lang="en-US" sz="2000"/>
              <a:t>push: </a:t>
            </a:r>
            <a:endParaRPr sz="2000"/>
          </a:p>
          <a:p>
            <a:pPr indent="-346075" lvl="2" marL="1371600" rtl="0" algn="l">
              <a:spcBef>
                <a:spcPts val="0"/>
              </a:spcBef>
              <a:spcAft>
                <a:spcPts val="0"/>
              </a:spcAft>
              <a:buSzPct val="100000"/>
              <a:buChar char="•"/>
            </a:pPr>
            <a:r>
              <a:rPr lang="en-US" sz="2000"/>
              <a:t>O(1) amortized.</a:t>
            </a:r>
            <a:endParaRPr sz="2000"/>
          </a:p>
          <a:p>
            <a:pPr indent="-346075" lvl="1" marL="914400" rtl="0" algn="l">
              <a:spcBef>
                <a:spcPts val="0"/>
              </a:spcBef>
              <a:spcAft>
                <a:spcPts val="0"/>
              </a:spcAft>
              <a:buSzPct val="100000"/>
              <a:buChar char="•"/>
            </a:pPr>
            <a:r>
              <a:rPr lang="en-US" sz="2000"/>
              <a:t>get: </a:t>
            </a:r>
            <a:endParaRPr sz="2000"/>
          </a:p>
          <a:p>
            <a:pPr indent="-346075" lvl="2" marL="1371600" rtl="0" algn="l">
              <a:spcBef>
                <a:spcPts val="0"/>
              </a:spcBef>
              <a:spcAft>
                <a:spcPts val="0"/>
              </a:spcAft>
              <a:buSzPct val="100000"/>
              <a:buChar char="•"/>
            </a:pPr>
            <a:r>
              <a:rPr lang="en-US" sz="2000"/>
              <a:t>O(n) in the middle (though fast enough for Kattis).</a:t>
            </a:r>
            <a:endParaRPr sz="2000"/>
          </a:p>
          <a:p>
            <a:pPr indent="-346075" lvl="0" marL="457200" rtl="0" algn="l">
              <a:spcBef>
                <a:spcPts val="0"/>
              </a:spcBef>
              <a:spcAft>
                <a:spcPts val="0"/>
              </a:spcAft>
              <a:buSzPct val="100000"/>
              <a:buChar char="•"/>
            </a:pPr>
            <a:r>
              <a:rPr lang="en-US" sz="2000"/>
              <a:t>Space Complexity: O(n) for storing the elements.</a:t>
            </a:r>
            <a:endParaRPr sz="2000"/>
          </a:p>
        </p:txBody>
      </p:sp>
      <p:sp>
        <p:nvSpPr>
          <p:cNvPr id="169" name="Google Shape;169;g3816e0e644b_0_35"/>
          <p:cNvSpPr txBox="1"/>
          <p:nvPr/>
        </p:nvSpPr>
        <p:spPr>
          <a:xfrm>
            <a:off x="480300" y="5809275"/>
            <a:ext cx="11231400" cy="989700"/>
          </a:xfrm>
          <a:prstGeom prst="rect">
            <a:avLst/>
          </a:prstGeom>
          <a:noFill/>
          <a:ln>
            <a:noFill/>
          </a:ln>
        </p:spPr>
        <p:txBody>
          <a:bodyPr anchorCtr="0" anchor="t" bIns="45700" lIns="91425" spcFirstLastPara="1" rIns="91425" wrap="square" tIns="45700">
            <a:normAutofit lnSpcReduction="10000"/>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2.2 l. List/Queue/Deque</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u="sng">
                <a:solidFill>
                  <a:schemeClr val="hlink"/>
                </a:solidFill>
                <a:latin typeface="Gill Sans"/>
                <a:ea typeface="Gill Sans"/>
                <a:cs typeface="Gill Sans"/>
                <a:sym typeface="Gill Sans"/>
                <a:hlinkClick r:id="rId3"/>
              </a:rPr>
              <a:t>https://docs.python.org/3/library/collections.html#collections.deque</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7" st="1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8" st="1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9" st="1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816e0e644b_0_42"/>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alehouse</a:t>
            </a:r>
            <a:endParaRPr/>
          </a:p>
        </p:txBody>
      </p:sp>
      <p:sp>
        <p:nvSpPr>
          <p:cNvPr id="176" name="Google Shape;176;g3816e0e644b_0_42"/>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Problem: Each person has an entry time and exit time.</a:t>
            </a:r>
            <a:endParaRPr sz="2000"/>
          </a:p>
          <a:p>
            <a:pPr indent="-355600" lvl="1" marL="914400" rtl="0" algn="l">
              <a:spcBef>
                <a:spcPts val="0"/>
              </a:spcBef>
              <a:spcAft>
                <a:spcPts val="0"/>
              </a:spcAft>
              <a:buSzPts val="2000"/>
              <a:buChar char="•"/>
            </a:pPr>
            <a:r>
              <a:rPr lang="en-US" sz="2000"/>
              <a:t>You want the maximum number of people simultaneously in the bar, given everyone can stay at most k milliseconds.</a:t>
            </a:r>
            <a:endParaRPr sz="2000"/>
          </a:p>
          <a:p>
            <a:pPr indent="-355600" lvl="0" marL="457200" rtl="0" algn="l">
              <a:spcBef>
                <a:spcPts val="0"/>
              </a:spcBef>
              <a:spcAft>
                <a:spcPts val="0"/>
              </a:spcAft>
              <a:buSzPts val="2000"/>
              <a:buChar char="•"/>
            </a:pPr>
            <a:r>
              <a:rPr lang="en-US" sz="2000"/>
              <a:t>Strategy:</a:t>
            </a:r>
            <a:endParaRPr sz="2000"/>
          </a:p>
          <a:p>
            <a:pPr indent="-355600" lvl="1" marL="914400" rtl="0" algn="l">
              <a:spcBef>
                <a:spcPts val="0"/>
              </a:spcBef>
              <a:spcAft>
                <a:spcPts val="0"/>
              </a:spcAft>
              <a:buSzPts val="2000"/>
              <a:buChar char="•"/>
            </a:pPr>
            <a:r>
              <a:rPr lang="en-US" sz="2000"/>
              <a:t>Maintain two heaps:</a:t>
            </a:r>
            <a:endParaRPr sz="2000"/>
          </a:p>
          <a:p>
            <a:pPr indent="-355600" lvl="2" marL="1371600" rtl="0" algn="l">
              <a:spcBef>
                <a:spcPts val="0"/>
              </a:spcBef>
              <a:spcAft>
                <a:spcPts val="0"/>
              </a:spcAft>
              <a:buSzPts val="2000"/>
              <a:buChar char="•"/>
            </a:pPr>
            <a:r>
              <a:rPr lang="en-US" sz="2000"/>
              <a:t>Entry heap → sorted by entry times.</a:t>
            </a:r>
            <a:endParaRPr sz="2000"/>
          </a:p>
          <a:p>
            <a:pPr indent="-355600" lvl="2" marL="1371600" rtl="0" algn="l">
              <a:spcBef>
                <a:spcPts val="0"/>
              </a:spcBef>
              <a:spcAft>
                <a:spcPts val="0"/>
              </a:spcAft>
              <a:buSzPts val="2000"/>
              <a:buChar char="•"/>
            </a:pPr>
            <a:r>
              <a:rPr lang="en-US" sz="2000"/>
              <a:t>Exit heap → active people’s exit times.</a:t>
            </a:r>
            <a:endParaRPr sz="2000"/>
          </a:p>
          <a:p>
            <a:pPr indent="-355600" lvl="1" marL="914400" rtl="0" algn="l">
              <a:spcBef>
                <a:spcPts val="0"/>
              </a:spcBef>
              <a:spcAft>
                <a:spcPts val="0"/>
              </a:spcAft>
              <a:buSzPts val="2000"/>
              <a:buChar char="•"/>
            </a:pPr>
            <a:r>
              <a:rPr lang="en-US" sz="2000"/>
              <a:t>Sweep over time:</a:t>
            </a:r>
            <a:endParaRPr sz="2000"/>
          </a:p>
          <a:p>
            <a:pPr indent="-355600" lvl="2" marL="1371600" rtl="0" algn="l">
              <a:spcBef>
                <a:spcPts val="0"/>
              </a:spcBef>
              <a:spcAft>
                <a:spcPts val="0"/>
              </a:spcAft>
              <a:buSzPts val="2000"/>
              <a:buChar char="•"/>
            </a:pPr>
            <a:r>
              <a:rPr lang="en-US" sz="2000"/>
              <a:t>Add all people whose entry ≤ current time into the exit heap.</a:t>
            </a:r>
            <a:endParaRPr sz="2000"/>
          </a:p>
          <a:p>
            <a:pPr indent="-355600" lvl="2" marL="1371600" rtl="0" algn="l">
              <a:spcBef>
                <a:spcPts val="0"/>
              </a:spcBef>
              <a:spcAft>
                <a:spcPts val="0"/>
              </a:spcAft>
              <a:buSzPts val="2000"/>
              <a:buChar char="•"/>
            </a:pPr>
            <a:r>
              <a:rPr lang="en-US" sz="2000"/>
              <a:t>Remove expired people whose exit &lt; current_time − k.</a:t>
            </a:r>
            <a:endParaRPr sz="2000"/>
          </a:p>
          <a:p>
            <a:pPr indent="-355600" lvl="2" marL="1371600" rtl="0" algn="l">
              <a:spcBef>
                <a:spcPts val="0"/>
              </a:spcBef>
              <a:spcAft>
                <a:spcPts val="0"/>
              </a:spcAft>
              <a:buSzPts val="2000"/>
              <a:buChar char="•"/>
            </a:pPr>
            <a:r>
              <a:rPr lang="en-US" sz="2000"/>
              <a:t>The size of the exit heap = number of people present.</a:t>
            </a:r>
            <a:endParaRPr sz="2000"/>
          </a:p>
          <a:p>
            <a:pPr indent="-355600" lvl="2" marL="1371600" rtl="0" algn="l">
              <a:spcBef>
                <a:spcPts val="0"/>
              </a:spcBef>
              <a:spcAft>
                <a:spcPts val="0"/>
              </a:spcAft>
              <a:buSzPts val="2000"/>
              <a:buChar char="•"/>
            </a:pPr>
            <a:r>
              <a:rPr lang="en-US" sz="2000"/>
              <a:t>Track the maximum over all times.</a:t>
            </a:r>
            <a:endParaRPr sz="2000"/>
          </a:p>
          <a:p>
            <a:pPr indent="-355600" lvl="0" marL="457200" rtl="0" algn="l">
              <a:spcBef>
                <a:spcPts val="0"/>
              </a:spcBef>
              <a:spcAft>
                <a:spcPts val="0"/>
              </a:spcAft>
              <a:buSzPts val="2000"/>
              <a:buChar char="•"/>
            </a:pPr>
            <a:r>
              <a:rPr lang="en-US" sz="2000"/>
              <a:t>Invariant: Exit heap always contains the end times of all currently valid intervals intersecting [R−k, R].</a:t>
            </a:r>
            <a:endParaRPr sz="2000"/>
          </a:p>
          <a:p>
            <a:pPr indent="-355600" lvl="0" marL="457200" rtl="0" algn="l">
              <a:spcBef>
                <a:spcPts val="0"/>
              </a:spcBef>
              <a:spcAft>
                <a:spcPts val="0"/>
              </a:spcAft>
              <a:buSzPts val="2000"/>
              <a:buChar char="•"/>
            </a:pPr>
            <a:r>
              <a:rPr lang="en-US" sz="2000"/>
              <a:t>Time Complexity: O(n log n) (heap operations dominate).</a:t>
            </a:r>
            <a:endParaRPr sz="2000"/>
          </a:p>
          <a:p>
            <a:pPr indent="-355600" lvl="0" marL="457200" rtl="0" algn="l">
              <a:lnSpc>
                <a:spcPct val="100000"/>
              </a:lnSpc>
              <a:spcBef>
                <a:spcPts val="0"/>
              </a:spcBef>
              <a:spcAft>
                <a:spcPts val="0"/>
              </a:spcAft>
              <a:buSzPts val="2000"/>
              <a:buChar char="•"/>
            </a:pPr>
            <a:r>
              <a:rPr lang="en-US" sz="2000"/>
              <a:t>Space Complexity: O(n) (to store intervals in heaps).</a:t>
            </a:r>
            <a:endParaRPr sz="2000"/>
          </a:p>
        </p:txBody>
      </p:sp>
      <p:sp>
        <p:nvSpPr>
          <p:cNvPr id="177" name="Google Shape;177;g3816e0e644b_0_42"/>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2.3 a. Priority Queue</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816e0e644b_0_49"/>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grandpabernie</a:t>
            </a:r>
            <a:endParaRPr/>
          </a:p>
        </p:txBody>
      </p:sp>
      <p:sp>
        <p:nvSpPr>
          <p:cNvPr id="184" name="Google Shape;184;g3816e0e644b_0_49"/>
          <p:cNvSpPr txBox="1"/>
          <p:nvPr>
            <p:ph idx="1" type="body"/>
          </p:nvPr>
        </p:nvSpPr>
        <p:spPr>
          <a:xfrm>
            <a:off x="494675" y="1096825"/>
            <a:ext cx="113343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Problem: Grandpa Bernie has traveled to various destinations in specific years.</a:t>
            </a:r>
            <a:endParaRPr sz="2000"/>
          </a:p>
          <a:p>
            <a:pPr indent="-355600" lvl="1" marL="914400" rtl="0" algn="l">
              <a:spcBef>
                <a:spcPts val="0"/>
              </a:spcBef>
              <a:spcAft>
                <a:spcPts val="0"/>
              </a:spcAft>
              <a:buSzPts val="2000"/>
              <a:buChar char="•"/>
            </a:pPr>
            <a:r>
              <a:rPr lang="en-US" sz="2000"/>
              <a:t>Input: a list of trips (destination year) and a set of queries (destination k).</a:t>
            </a:r>
            <a:endParaRPr sz="2000"/>
          </a:p>
          <a:p>
            <a:pPr indent="-355600" lvl="1" marL="914400" rtl="0" algn="l">
              <a:spcBef>
                <a:spcPts val="0"/>
              </a:spcBef>
              <a:spcAft>
                <a:spcPts val="0"/>
              </a:spcAft>
              <a:buSzPts val="2000"/>
              <a:buChar char="•"/>
            </a:pPr>
            <a:r>
              <a:rPr lang="en-US" sz="2000"/>
              <a:t>Output: for each query, the k-th earliest trip year for that destination.</a:t>
            </a:r>
            <a:endParaRPr sz="2000"/>
          </a:p>
          <a:p>
            <a:pPr indent="-355600" lvl="0" marL="457200" rtl="0" algn="l">
              <a:spcBef>
                <a:spcPts val="0"/>
              </a:spcBef>
              <a:spcAft>
                <a:spcPts val="0"/>
              </a:spcAft>
              <a:buSzPts val="2000"/>
              <a:buChar char="•"/>
            </a:pPr>
            <a:r>
              <a:rPr lang="en-US" sz="2000"/>
              <a:t>Strategy:</a:t>
            </a:r>
            <a:endParaRPr sz="2000"/>
          </a:p>
          <a:p>
            <a:pPr indent="-355600" lvl="1" marL="914400" rtl="0" algn="l">
              <a:spcBef>
                <a:spcPts val="0"/>
              </a:spcBef>
              <a:spcAft>
                <a:spcPts val="0"/>
              </a:spcAft>
              <a:buSzPts val="2000"/>
              <a:buChar char="•"/>
            </a:pPr>
            <a:r>
              <a:rPr lang="en-US" sz="2000"/>
              <a:t>Group all years for each destination into a list.</a:t>
            </a:r>
            <a:endParaRPr sz="2000"/>
          </a:p>
          <a:p>
            <a:pPr indent="-355600" lvl="1" marL="914400" rtl="0" algn="l">
              <a:spcBef>
                <a:spcPts val="0"/>
              </a:spcBef>
              <a:spcAft>
                <a:spcPts val="0"/>
              </a:spcAft>
              <a:buSzPts val="2000"/>
              <a:buChar char="•"/>
            </a:pPr>
            <a:r>
              <a:rPr lang="en-US" sz="2000"/>
              <a:t>Sort the list of years for each destination.</a:t>
            </a:r>
            <a:endParaRPr sz="2000"/>
          </a:p>
          <a:p>
            <a:pPr indent="-355600" lvl="1" marL="914400" rtl="0" algn="l">
              <a:spcBef>
                <a:spcPts val="0"/>
              </a:spcBef>
              <a:spcAft>
                <a:spcPts val="0"/>
              </a:spcAft>
              <a:buSzPts val="2000"/>
              <a:buChar char="•"/>
            </a:pPr>
            <a:r>
              <a:rPr lang="en-US" sz="2000"/>
              <a:t>Store the sorted list in a map (hash table) with the key being the destination and value being the list</a:t>
            </a:r>
            <a:endParaRPr sz="2000"/>
          </a:p>
          <a:p>
            <a:pPr indent="-355600" lvl="1" marL="914400" rtl="0" algn="l">
              <a:spcBef>
                <a:spcPts val="0"/>
              </a:spcBef>
              <a:spcAft>
                <a:spcPts val="0"/>
              </a:spcAft>
              <a:buSzPts val="2000"/>
              <a:buChar char="•"/>
            </a:pPr>
            <a:r>
              <a:rPr lang="en-US" sz="2000"/>
              <a:t>For each query, directly index into the sorted list to get the answer.</a:t>
            </a:r>
            <a:endParaRPr sz="2000"/>
          </a:p>
          <a:p>
            <a:pPr indent="-355600" lvl="0" marL="457200" rtl="0" algn="l">
              <a:spcBef>
                <a:spcPts val="0"/>
              </a:spcBef>
              <a:spcAft>
                <a:spcPts val="0"/>
              </a:spcAft>
              <a:buSzPts val="2000"/>
              <a:buChar char="•"/>
            </a:pPr>
            <a:r>
              <a:rPr lang="en-US" sz="2000"/>
              <a:t>Time Complexity: O(n log n) (sorting trips per destination).</a:t>
            </a:r>
            <a:endParaRPr sz="2000"/>
          </a:p>
          <a:p>
            <a:pPr indent="-355600" lvl="0" marL="457200" rtl="0" algn="l">
              <a:spcBef>
                <a:spcPts val="0"/>
              </a:spcBef>
              <a:spcAft>
                <a:spcPts val="0"/>
              </a:spcAft>
              <a:buSzPts val="2000"/>
              <a:buChar char="•"/>
            </a:pPr>
            <a:r>
              <a:rPr lang="en-US" sz="2000"/>
              <a:t>Space Complexity: O(n) (store all trips).</a:t>
            </a:r>
            <a:endParaRPr sz="2000"/>
          </a:p>
        </p:txBody>
      </p:sp>
      <p:sp>
        <p:nvSpPr>
          <p:cNvPr id="185" name="Google Shape;185;g3816e0e644b_0_49"/>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2.3 e. Hash Table (map), Easier</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816e0e644b_0_151"/>
          <p:cNvSpPr txBox="1"/>
          <p:nvPr>
            <p:ph type="ctrTitle"/>
          </p:nvPr>
        </p:nvSpPr>
        <p:spPr>
          <a:xfrm>
            <a:off x="1600200" y="1124869"/>
            <a:ext cx="8991600" cy="164580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a:t>2.4.2 Union-Find Disjoint Sets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7e6225694e_0_90"/>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a:t>
            </a:r>
            <a:endParaRPr/>
          </a:p>
        </p:txBody>
      </p:sp>
      <p:sp>
        <p:nvSpPr>
          <p:cNvPr id="198" name="Google Shape;198;g37e6225694e_0_90"/>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Data structure to model a collection of disjoint sets with the ability to do the following in about O(1)</a:t>
            </a:r>
            <a:endParaRPr sz="2000"/>
          </a:p>
          <a:p>
            <a:pPr indent="-355600" lvl="1" marL="914400" rtl="0" algn="l">
              <a:lnSpc>
                <a:spcPct val="100000"/>
              </a:lnSpc>
              <a:spcBef>
                <a:spcPts val="0"/>
              </a:spcBef>
              <a:spcAft>
                <a:spcPts val="0"/>
              </a:spcAft>
              <a:buSzPts val="2000"/>
              <a:buChar char="•"/>
            </a:pPr>
            <a:r>
              <a:rPr lang="en-US" sz="2000"/>
              <a:t>Determine which set an item belongs to</a:t>
            </a:r>
            <a:endParaRPr sz="2000"/>
          </a:p>
          <a:p>
            <a:pPr indent="-355600" lvl="1" marL="914400" rtl="0" algn="l">
              <a:lnSpc>
                <a:spcPct val="100000"/>
              </a:lnSpc>
              <a:spcBef>
                <a:spcPts val="0"/>
              </a:spcBef>
              <a:spcAft>
                <a:spcPts val="0"/>
              </a:spcAft>
              <a:buSzPts val="2000"/>
              <a:buChar char="•"/>
            </a:pPr>
            <a:r>
              <a:rPr lang="en-US" sz="2000"/>
              <a:t>Test whether 2 items belong to the same set</a:t>
            </a:r>
            <a:endParaRPr sz="2000"/>
          </a:p>
          <a:p>
            <a:pPr indent="-355600" lvl="1" marL="914400" rtl="0" algn="l">
              <a:lnSpc>
                <a:spcPct val="100000"/>
              </a:lnSpc>
              <a:spcBef>
                <a:spcPts val="0"/>
              </a:spcBef>
              <a:spcAft>
                <a:spcPts val="0"/>
              </a:spcAft>
              <a:buSzPts val="2000"/>
              <a:buChar char="•"/>
            </a:pPr>
            <a:r>
              <a:rPr lang="en-US" sz="2000"/>
              <a:t>Unite 2 disjoint sets into one larger set</a:t>
            </a:r>
            <a:endParaRPr sz="2000"/>
          </a:p>
          <a:p>
            <a:pPr indent="-355600" lvl="0" marL="457200" rtl="0" algn="l">
              <a:lnSpc>
                <a:spcPct val="100000"/>
              </a:lnSpc>
              <a:spcBef>
                <a:spcPts val="0"/>
              </a:spcBef>
              <a:spcAft>
                <a:spcPts val="0"/>
              </a:spcAft>
              <a:buSzPts val="2000"/>
              <a:buChar char="•"/>
            </a:pPr>
            <a:r>
              <a:rPr lang="en-US" sz="2000"/>
              <a:t>Why?</a:t>
            </a:r>
            <a:endParaRPr sz="2000"/>
          </a:p>
          <a:p>
            <a:pPr indent="-355600" lvl="1" marL="914400" rtl="0" algn="l">
              <a:lnSpc>
                <a:spcPct val="100000"/>
              </a:lnSpc>
              <a:spcBef>
                <a:spcPts val="0"/>
              </a:spcBef>
              <a:spcAft>
                <a:spcPts val="0"/>
              </a:spcAft>
              <a:buSzPts val="2000"/>
              <a:buChar char="•"/>
            </a:pPr>
            <a:r>
              <a:rPr lang="en-US" sz="2000"/>
              <a:t>The above operations are not efficiently supported by the C++ STL set, Java TreeSet, Python set, they are not designed for this purpose</a:t>
            </a:r>
            <a:endParaRPr sz="2000"/>
          </a:p>
          <a:p>
            <a:pPr indent="-355600" lvl="1" marL="914400" rtl="0" algn="l">
              <a:lnSpc>
                <a:spcPct val="100000"/>
              </a:lnSpc>
              <a:spcBef>
                <a:spcPts val="0"/>
              </a:spcBef>
              <a:spcAft>
                <a:spcPts val="0"/>
              </a:spcAft>
              <a:buSzPts val="2000"/>
              <a:buChar char="•"/>
            </a:pPr>
            <a:r>
              <a:rPr lang="en-US" sz="2000"/>
              <a:t>Ex: help to find connected components in an undirected graph (section 4.2.4, 4.3.2)</a:t>
            </a:r>
            <a:endParaRPr sz="2000"/>
          </a:p>
          <a:p>
            <a:pPr indent="-355600" lvl="2" marL="1371600" rtl="0" algn="l">
              <a:lnSpc>
                <a:spcPct val="100000"/>
              </a:lnSpc>
              <a:spcBef>
                <a:spcPts val="0"/>
              </a:spcBef>
              <a:spcAft>
                <a:spcPts val="0"/>
              </a:spcAft>
              <a:buSzPts val="2000"/>
              <a:buChar char="•"/>
            </a:pPr>
            <a:r>
              <a:rPr lang="en-US" sz="2000"/>
              <a:t>Init vertex into separate disjoint set</a:t>
            </a:r>
            <a:endParaRPr sz="2000"/>
          </a:p>
          <a:p>
            <a:pPr indent="-355600" lvl="2" marL="1371600" rtl="0" algn="l">
              <a:lnSpc>
                <a:spcPct val="100000"/>
              </a:lnSpc>
              <a:spcBef>
                <a:spcPts val="0"/>
              </a:spcBef>
              <a:spcAft>
                <a:spcPts val="0"/>
              </a:spcAft>
              <a:buSzPts val="2000"/>
              <a:buChar char="•"/>
            </a:pPr>
            <a:r>
              <a:rPr lang="en-US" sz="2000"/>
              <a:t>Enumerate edges + union the corresponding vertices/sets</a:t>
            </a:r>
            <a:endParaRPr sz="2000"/>
          </a:p>
          <a:p>
            <a:pPr indent="-355600" lvl="2" marL="1371600" rtl="0" algn="l">
              <a:lnSpc>
                <a:spcPct val="100000"/>
              </a:lnSpc>
              <a:spcBef>
                <a:spcPts val="0"/>
              </a:spcBef>
              <a:spcAft>
                <a:spcPts val="0"/>
              </a:spcAft>
              <a:buSzPts val="2000"/>
              <a:buChar char="•"/>
            </a:pPr>
            <a:r>
              <a:rPr lang="en-US" sz="2000"/>
              <a:t>Now you can test if 2 vertices belong to the same component/set easily</a:t>
            </a:r>
            <a:endParaRPr sz="2000"/>
          </a:p>
          <a:p>
            <a:pPr indent="-355600" lvl="2" marL="1371600" rtl="0" algn="l">
              <a:lnSpc>
                <a:spcPct val="100000"/>
              </a:lnSpc>
              <a:spcBef>
                <a:spcPts val="0"/>
              </a:spcBef>
              <a:spcAft>
                <a:spcPts val="0"/>
              </a:spcAft>
              <a:buSzPts val="2000"/>
              <a:buChar char="•"/>
            </a:pPr>
            <a:r>
              <a:rPr lang="en-US" sz="2000"/>
              <a:t>Now you can track number of lone vertices/disjoint sets</a:t>
            </a:r>
            <a:endParaRPr sz="2000"/>
          </a:p>
          <a:p>
            <a:pPr indent="-355600" lvl="2" marL="1371600" rtl="0" algn="l">
              <a:lnSpc>
                <a:spcPct val="100000"/>
              </a:lnSpc>
              <a:spcBef>
                <a:spcPts val="0"/>
              </a:spcBef>
              <a:spcAft>
                <a:spcPts val="0"/>
              </a:spcAft>
              <a:buSzPts val="2000"/>
              <a:buChar char="•"/>
            </a:pPr>
            <a:r>
              <a:rPr lang="en-US" sz="2000"/>
              <a:t>Now you can track number of connected components of the undirected graph </a:t>
            </a:r>
            <a:endParaRPr sz="2000"/>
          </a:p>
        </p:txBody>
      </p:sp>
      <p:sp>
        <p:nvSpPr>
          <p:cNvPr id="199" name="Google Shape;199;g37e6225694e_0_90"/>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8a82980c7b_1_47"/>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Basic Idea</a:t>
            </a:r>
            <a:endParaRPr/>
          </a:p>
        </p:txBody>
      </p:sp>
      <p:sp>
        <p:nvSpPr>
          <p:cNvPr id="206" name="Google Shape;206;g38a82980c7b_1_47"/>
          <p:cNvSpPr txBox="1"/>
          <p:nvPr>
            <p:ph idx="1" type="body"/>
          </p:nvPr>
        </p:nvSpPr>
        <p:spPr>
          <a:xfrm>
            <a:off x="494675" y="1096825"/>
            <a:ext cx="11231400" cy="17232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What if each disjoint set can be represented by one unique item?</a:t>
            </a:r>
            <a:endParaRPr sz="2000"/>
          </a:p>
          <a:p>
            <a:pPr indent="-355600" lvl="0" marL="457200" rtl="0" algn="l">
              <a:lnSpc>
                <a:spcPct val="100000"/>
              </a:lnSpc>
              <a:spcBef>
                <a:spcPts val="0"/>
              </a:spcBef>
              <a:spcAft>
                <a:spcPts val="0"/>
              </a:spcAft>
              <a:buSzPts val="2000"/>
              <a:buChar char="•"/>
            </a:pPr>
            <a:r>
              <a:rPr lang="en-US" sz="2000"/>
              <a:t>Then determining if 2 items belong to the same set is easy!</a:t>
            </a:r>
            <a:endParaRPr sz="2000"/>
          </a:p>
          <a:p>
            <a:pPr indent="0" lvl="0" marL="457200" rtl="0" algn="l">
              <a:lnSpc>
                <a:spcPct val="100000"/>
              </a:lnSpc>
              <a:spcBef>
                <a:spcPts val="0"/>
              </a:spcBef>
              <a:spcAft>
                <a:spcPts val="0"/>
              </a:spcAft>
              <a:buNone/>
            </a:pPr>
            <a:r>
              <a:t/>
            </a:r>
            <a:endParaRPr sz="2000"/>
          </a:p>
          <a:p>
            <a:pPr indent="-355600" lvl="0" marL="457200" rtl="0" algn="l">
              <a:lnSpc>
                <a:spcPct val="100000"/>
              </a:lnSpc>
              <a:spcBef>
                <a:spcPts val="0"/>
              </a:spcBef>
              <a:spcAft>
                <a:spcPts val="0"/>
              </a:spcAft>
              <a:buSzPts val="2000"/>
              <a:buChar char="•"/>
            </a:pPr>
            <a:r>
              <a:rPr lang="en-US" sz="2000"/>
              <a:t>Each tree represents a disjoint set (thus a collection of disjoint sets form a forest of trees) and the root of the tree is the representative item of this disjoint set.</a:t>
            </a:r>
            <a:endParaRPr sz="2000"/>
          </a:p>
        </p:txBody>
      </p:sp>
      <p:sp>
        <p:nvSpPr>
          <p:cNvPr id="207" name="Google Shape;207;g38a82980c7b_1_47"/>
          <p:cNvSpPr txBox="1"/>
          <p:nvPr/>
        </p:nvSpPr>
        <p:spPr>
          <a:xfrm>
            <a:off x="480300" y="6249625"/>
            <a:ext cx="11231400" cy="549300"/>
          </a:xfrm>
          <a:prstGeom prst="rect">
            <a:avLst/>
          </a:prstGeom>
          <a:noFill/>
          <a:ln>
            <a:noFill/>
          </a:ln>
        </p:spPr>
        <p:txBody>
          <a:bodyPr anchorCtr="0" anchor="t" bIns="45700" lIns="91425" spcFirstLastPara="1" rIns="91425" wrap="square" tIns="45700">
            <a:normAutofit fontScale="40000" lnSpcReduction="10000"/>
          </a:bodyPr>
          <a:lstStyle/>
          <a:p>
            <a:pPr indent="-27940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27940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27940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3"/>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27940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pic>
        <p:nvPicPr>
          <p:cNvPr id="208" name="Google Shape;208;g38a82980c7b_1_47"/>
          <p:cNvPicPr preferRelativeResize="0"/>
          <p:nvPr/>
        </p:nvPicPr>
        <p:blipFill>
          <a:blip r:embed="rId5">
            <a:alphaModFix/>
          </a:blip>
          <a:stretch>
            <a:fillRect/>
          </a:stretch>
        </p:blipFill>
        <p:spPr>
          <a:xfrm>
            <a:off x="166775" y="3269025"/>
            <a:ext cx="11887199" cy="2416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8a82980c7b_1_54"/>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spcBef>
                <a:spcPts val="0"/>
              </a:spcBef>
              <a:spcAft>
                <a:spcPts val="0"/>
              </a:spcAft>
              <a:buClr>
                <a:srgbClr val="262626"/>
              </a:buClr>
              <a:buSzPct val="100000"/>
              <a:buFont typeface="Gill Sans"/>
              <a:buNone/>
            </a:pPr>
            <a:r>
              <a:rPr lang="en-US"/>
              <a:t>2.4.2 Union-Find Disjoint Sets (UFDS) – Visualization</a:t>
            </a:r>
            <a:endParaRPr/>
          </a:p>
        </p:txBody>
      </p:sp>
      <p:sp>
        <p:nvSpPr>
          <p:cNvPr id="215" name="Google Shape;215;g38a82980c7b_1_54"/>
          <p:cNvSpPr txBox="1"/>
          <p:nvPr>
            <p:ph idx="1" type="body"/>
          </p:nvPr>
        </p:nvSpPr>
        <p:spPr>
          <a:xfrm>
            <a:off x="494675" y="1096825"/>
            <a:ext cx="11231400" cy="30852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How many items (</a:t>
            </a:r>
            <a:r>
              <a:rPr b="1" lang="en-US" sz="2000"/>
              <a:t>N</a:t>
            </a:r>
            <a:r>
              <a:rPr lang="en-US" sz="2000"/>
              <a:t>) are there overall? </a:t>
            </a:r>
            <a:endParaRPr sz="2000"/>
          </a:p>
          <a:p>
            <a:pPr indent="-355600" lvl="1" marL="914400" rtl="0" algn="l">
              <a:lnSpc>
                <a:spcPct val="100000"/>
              </a:lnSpc>
              <a:spcBef>
                <a:spcPts val="0"/>
              </a:spcBef>
              <a:spcAft>
                <a:spcPts val="0"/>
              </a:spcAft>
              <a:buSzPts val="2000"/>
              <a:buChar char="•"/>
            </a:pPr>
            <a:r>
              <a:rPr lang="en-US" sz="2000"/>
              <a:t>N=13</a:t>
            </a:r>
            <a:endParaRPr sz="2000"/>
          </a:p>
          <a:p>
            <a:pPr indent="-355600" lvl="0" marL="457200" rtl="0" algn="l">
              <a:lnSpc>
                <a:spcPct val="100000"/>
              </a:lnSpc>
              <a:spcBef>
                <a:spcPts val="0"/>
              </a:spcBef>
              <a:spcAft>
                <a:spcPts val="0"/>
              </a:spcAft>
              <a:buSzPts val="2000"/>
              <a:buChar char="•"/>
            </a:pPr>
            <a:r>
              <a:rPr lang="en-US" sz="2000"/>
              <a:t>How many disjoint sets are there? </a:t>
            </a:r>
            <a:endParaRPr sz="2000"/>
          </a:p>
          <a:p>
            <a:pPr indent="-355600" lvl="1" marL="914400" rtl="0" algn="l">
              <a:spcBef>
                <a:spcPts val="0"/>
              </a:spcBef>
              <a:spcAft>
                <a:spcPts val="0"/>
              </a:spcAft>
              <a:buSzPts val="2000"/>
              <a:buChar char="•"/>
            </a:pPr>
            <a:r>
              <a:rPr lang="en-US" sz="2000"/>
              <a:t>4 disjoint sets</a:t>
            </a:r>
            <a:endParaRPr sz="2000"/>
          </a:p>
          <a:p>
            <a:pPr indent="-355600" lvl="0" marL="457200" rtl="0" algn="l">
              <a:lnSpc>
                <a:spcPct val="100000"/>
              </a:lnSpc>
              <a:spcBef>
                <a:spcPts val="0"/>
              </a:spcBef>
              <a:spcAft>
                <a:spcPts val="0"/>
              </a:spcAft>
              <a:buSzPts val="2000"/>
              <a:buChar char="•"/>
            </a:pPr>
            <a:r>
              <a:rPr lang="en-US" sz="2000"/>
              <a:t>What are the members of each disjoint set? </a:t>
            </a:r>
            <a:endParaRPr sz="2000"/>
          </a:p>
          <a:p>
            <a:pPr indent="-355600" lvl="1" marL="914400" rtl="0" algn="l">
              <a:spcBef>
                <a:spcPts val="0"/>
              </a:spcBef>
              <a:spcAft>
                <a:spcPts val="0"/>
              </a:spcAft>
              <a:buSzPts val="2000"/>
              <a:buChar char="•"/>
            </a:pPr>
            <a:r>
              <a:rPr lang="en-US" sz="2000"/>
              <a:t>{0,1,2,3,4,10}, {5,7,8,11}, {6,9}, {12}</a:t>
            </a:r>
            <a:endParaRPr sz="2000"/>
          </a:p>
          <a:p>
            <a:pPr indent="-355600" lvl="0" marL="457200" rtl="0" algn="l">
              <a:spcBef>
                <a:spcPts val="0"/>
              </a:spcBef>
              <a:spcAft>
                <a:spcPts val="0"/>
              </a:spcAft>
              <a:buSzPts val="2000"/>
              <a:buChar char="•"/>
            </a:pPr>
            <a:r>
              <a:rPr lang="en-US" sz="2000"/>
              <a:t>What is the representative item of each disjoint set?</a:t>
            </a:r>
            <a:endParaRPr sz="2000"/>
          </a:p>
          <a:p>
            <a:pPr indent="-355600" lvl="1" marL="914400" rtl="0" algn="l">
              <a:spcBef>
                <a:spcPts val="0"/>
              </a:spcBef>
              <a:spcAft>
                <a:spcPts val="0"/>
              </a:spcAft>
              <a:buSzPts val="2000"/>
              <a:buChar char="•"/>
            </a:pPr>
            <a:r>
              <a:rPr lang="en-US" sz="2000"/>
              <a:t>{0,1,2,</a:t>
            </a:r>
            <a:r>
              <a:rPr b="1" lang="en-US" sz="2000" u="sng"/>
              <a:t>3</a:t>
            </a:r>
            <a:r>
              <a:rPr lang="en-US" sz="2000"/>
              <a:t>,4,10}, {</a:t>
            </a:r>
            <a:r>
              <a:rPr b="1" lang="en-US" sz="2000" u="sng"/>
              <a:t>5</a:t>
            </a:r>
            <a:r>
              <a:rPr lang="en-US" sz="2000"/>
              <a:t>,7,8,11}, {</a:t>
            </a:r>
            <a:r>
              <a:rPr b="1" lang="en-US" sz="2000" u="sng"/>
              <a:t>6</a:t>
            </a:r>
            <a:r>
              <a:rPr lang="en-US" sz="2000"/>
              <a:t>,9}, {</a:t>
            </a:r>
            <a:r>
              <a:rPr b="1" lang="en-US" sz="2000" u="sng"/>
              <a:t>12</a:t>
            </a:r>
            <a:r>
              <a:rPr lang="en-US" sz="2000"/>
              <a:t>}</a:t>
            </a:r>
            <a:endParaRPr sz="2000"/>
          </a:p>
        </p:txBody>
      </p:sp>
      <p:sp>
        <p:nvSpPr>
          <p:cNvPr id="216" name="Google Shape;216;g38a82980c7b_1_54"/>
          <p:cNvSpPr txBox="1"/>
          <p:nvPr/>
        </p:nvSpPr>
        <p:spPr>
          <a:xfrm>
            <a:off x="480300" y="6136875"/>
            <a:ext cx="11231400" cy="662100"/>
          </a:xfrm>
          <a:prstGeom prst="rect">
            <a:avLst/>
          </a:prstGeom>
          <a:noFill/>
          <a:ln>
            <a:noFill/>
          </a:ln>
        </p:spPr>
        <p:txBody>
          <a:bodyPr anchorCtr="0" anchor="t" bIns="45700" lIns="91425" spcFirstLastPara="1" rIns="91425" wrap="square" tIns="45700">
            <a:normAutofit fontScale="55000" lnSpcReduction="20000"/>
          </a:bodyPr>
          <a:lstStyle/>
          <a:p>
            <a:pPr indent="-2984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2984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2984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3"/>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2984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pic>
        <p:nvPicPr>
          <p:cNvPr id="217" name="Google Shape;217;g38a82980c7b_1_54"/>
          <p:cNvPicPr preferRelativeResize="0"/>
          <p:nvPr/>
        </p:nvPicPr>
        <p:blipFill>
          <a:blip r:embed="rId5">
            <a:alphaModFix/>
          </a:blip>
          <a:stretch>
            <a:fillRect/>
          </a:stretch>
        </p:blipFill>
        <p:spPr>
          <a:xfrm>
            <a:off x="745225" y="3865525"/>
            <a:ext cx="10701550" cy="2175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8a82980c7b_1_61"/>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Storing Data P1</a:t>
            </a:r>
            <a:endParaRPr/>
          </a:p>
        </p:txBody>
      </p:sp>
      <p:sp>
        <p:nvSpPr>
          <p:cNvPr id="224" name="Google Shape;224;g38a82980c7b_1_61"/>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Use an </a:t>
            </a:r>
            <a:r>
              <a:rPr lang="en-US" sz="2000"/>
              <a:t>array </a:t>
            </a:r>
            <a:r>
              <a:rPr b="1" lang="en-US" sz="2000"/>
              <a:t>p</a:t>
            </a:r>
            <a:r>
              <a:rPr lang="en-US" sz="2000"/>
              <a:t> of size </a:t>
            </a:r>
            <a:r>
              <a:rPr b="1" lang="en-US" sz="2000"/>
              <a:t>N</a:t>
            </a:r>
            <a:endParaRPr b="1" sz="2000"/>
          </a:p>
          <a:p>
            <a:pPr indent="-355600" lvl="1" marL="914400" rtl="0" algn="l">
              <a:lnSpc>
                <a:spcPct val="100000"/>
              </a:lnSpc>
              <a:spcBef>
                <a:spcPts val="0"/>
              </a:spcBef>
              <a:spcAft>
                <a:spcPts val="0"/>
              </a:spcAft>
              <a:buSzPts val="2000"/>
              <a:buChar char="•"/>
            </a:pPr>
            <a:r>
              <a:rPr b="1" lang="en-US" sz="2000"/>
              <a:t>p[i]</a:t>
            </a:r>
            <a:r>
              <a:rPr lang="en-US" sz="2000"/>
              <a:t> is the parent of item i</a:t>
            </a:r>
            <a:endParaRPr sz="2000"/>
          </a:p>
          <a:p>
            <a:pPr indent="-355600" lvl="1" marL="914400" rtl="0" algn="l">
              <a:lnSpc>
                <a:spcPct val="100000"/>
              </a:lnSpc>
              <a:spcBef>
                <a:spcPts val="0"/>
              </a:spcBef>
              <a:spcAft>
                <a:spcPts val="0"/>
              </a:spcAft>
              <a:buSzPts val="2000"/>
              <a:buChar char="•"/>
            </a:pPr>
            <a:r>
              <a:rPr lang="en-US" sz="2000"/>
              <a:t>if </a:t>
            </a:r>
            <a:r>
              <a:rPr b="1" lang="en-US" sz="2000"/>
              <a:t>p[i]</a:t>
            </a:r>
            <a:r>
              <a:rPr lang="en-US" sz="2000"/>
              <a:t> == </a:t>
            </a:r>
            <a:r>
              <a:rPr b="1" lang="en-US" sz="2000"/>
              <a:t>i</a:t>
            </a:r>
            <a:endParaRPr b="1" sz="2000"/>
          </a:p>
          <a:p>
            <a:pPr indent="-355600" lvl="2" marL="1371600" rtl="0" algn="l">
              <a:lnSpc>
                <a:spcPct val="100000"/>
              </a:lnSpc>
              <a:spcBef>
                <a:spcPts val="0"/>
              </a:spcBef>
              <a:spcAft>
                <a:spcPts val="0"/>
              </a:spcAft>
              <a:buSzPts val="2000"/>
              <a:buChar char="•"/>
            </a:pPr>
            <a:r>
              <a:rPr b="1" lang="en-US" sz="2000"/>
              <a:t>i</a:t>
            </a:r>
            <a:r>
              <a:rPr lang="en-US" sz="2000"/>
              <a:t> is the root of the tree </a:t>
            </a:r>
            <a:endParaRPr sz="2000"/>
          </a:p>
          <a:p>
            <a:pPr indent="-355600" lvl="2" marL="1371600" rtl="0" algn="l">
              <a:lnSpc>
                <a:spcPct val="100000"/>
              </a:lnSpc>
              <a:spcBef>
                <a:spcPts val="0"/>
              </a:spcBef>
              <a:spcAft>
                <a:spcPts val="0"/>
              </a:spcAft>
              <a:buSzPts val="2000"/>
              <a:buChar char="•"/>
            </a:pPr>
            <a:r>
              <a:rPr b="1" lang="en-US" sz="2000"/>
              <a:t>i</a:t>
            </a:r>
            <a:r>
              <a:rPr lang="en-US" sz="2000"/>
              <a:t> is the representative item of the set that contains item </a:t>
            </a:r>
            <a:r>
              <a:rPr b="1" lang="en-US" sz="2000"/>
              <a:t>i</a:t>
            </a:r>
            <a:endParaRPr b="1" sz="2000"/>
          </a:p>
          <a:p>
            <a:pPr indent="-355600" lvl="0" marL="457200" rtl="0" algn="l">
              <a:lnSpc>
                <a:spcPct val="100000"/>
              </a:lnSpc>
              <a:spcBef>
                <a:spcPts val="0"/>
              </a:spcBef>
              <a:spcAft>
                <a:spcPts val="0"/>
              </a:spcAft>
              <a:buSzPts val="2000"/>
              <a:buChar char="•"/>
            </a:pPr>
            <a:r>
              <a:rPr lang="en-US" sz="2000"/>
              <a:t>Draw the array for the following UFDS!</a:t>
            </a:r>
            <a:endParaRPr sz="2000"/>
          </a:p>
          <a:p>
            <a:pPr indent="-355600" lvl="1" marL="914400" rtl="0" algn="l">
              <a:lnSpc>
                <a:spcPct val="100000"/>
              </a:lnSpc>
              <a:spcBef>
                <a:spcPts val="0"/>
              </a:spcBef>
              <a:spcAft>
                <a:spcPts val="0"/>
              </a:spcAft>
              <a:buSzPts val="2000"/>
              <a:buChar char="•"/>
            </a:pPr>
            <a:r>
              <a:rPr lang="en-US" sz="2000"/>
              <a:t> </a:t>
            </a:r>
            <a:r>
              <a:rPr b="1" lang="en-US" sz="2000"/>
              <a:t>p = [1, 3, 3, 3, 3, 5, 6, 5, 5, 6, 4, 8,12] </a:t>
            </a:r>
            <a:r>
              <a:rPr lang="en-US" sz="2000"/>
              <a:t>of size </a:t>
            </a:r>
            <a:r>
              <a:rPr b="1" lang="en-US" sz="2000"/>
              <a:t>N = 13</a:t>
            </a:r>
            <a:r>
              <a:rPr lang="en-US" sz="2000"/>
              <a:t> ranging from </a:t>
            </a:r>
            <a:r>
              <a:rPr b="1" lang="en-US" sz="2000"/>
              <a:t>p[0]</a:t>
            </a:r>
            <a:r>
              <a:rPr lang="en-US" sz="2000"/>
              <a:t> to </a:t>
            </a:r>
            <a:r>
              <a:rPr b="1" lang="en-US" sz="2000"/>
              <a:t>p[12]</a:t>
            </a:r>
            <a:r>
              <a:rPr lang="en-US" sz="2000"/>
              <a:t>.</a:t>
            </a:r>
            <a:endParaRPr sz="2000"/>
          </a:p>
        </p:txBody>
      </p:sp>
      <p:sp>
        <p:nvSpPr>
          <p:cNvPr id="225" name="Google Shape;225;g38a82980c7b_1_6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3"/>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pic>
        <p:nvPicPr>
          <p:cNvPr id="226" name="Google Shape;226;g38a82980c7b_1_61"/>
          <p:cNvPicPr preferRelativeResize="0"/>
          <p:nvPr/>
        </p:nvPicPr>
        <p:blipFill>
          <a:blip r:embed="rId5">
            <a:alphaModFix/>
          </a:blip>
          <a:stretch>
            <a:fillRect/>
          </a:stretch>
        </p:blipFill>
        <p:spPr>
          <a:xfrm>
            <a:off x="759600" y="3633825"/>
            <a:ext cx="10701550" cy="2175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80c4f9b096_0_13"/>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Storing Data P2</a:t>
            </a:r>
            <a:endParaRPr/>
          </a:p>
        </p:txBody>
      </p:sp>
      <p:sp>
        <p:nvSpPr>
          <p:cNvPr id="233" name="Google Shape;233;g380c4f9b096_0_13"/>
          <p:cNvSpPr txBox="1"/>
          <p:nvPr>
            <p:ph idx="1" type="body"/>
          </p:nvPr>
        </p:nvSpPr>
        <p:spPr>
          <a:xfrm>
            <a:off x="494925" y="890525"/>
            <a:ext cx="11231400" cy="2743500"/>
          </a:xfrm>
          <a:prstGeom prst="rect">
            <a:avLst/>
          </a:prstGeom>
          <a:noFill/>
          <a:ln>
            <a:noFill/>
          </a:ln>
        </p:spPr>
        <p:txBody>
          <a:bodyPr anchorCtr="0" anchor="t" bIns="45700" lIns="91425" spcFirstLastPara="1" rIns="91425" wrap="square" tIns="45700">
            <a:normAutofit lnSpcReduction="10000"/>
          </a:bodyPr>
          <a:lstStyle/>
          <a:p>
            <a:pPr indent="-355600" lvl="0" marL="457200" rtl="0" algn="l">
              <a:lnSpc>
                <a:spcPct val="100000"/>
              </a:lnSpc>
              <a:spcBef>
                <a:spcPts val="0"/>
              </a:spcBef>
              <a:spcAft>
                <a:spcPts val="0"/>
              </a:spcAft>
              <a:buSzPts val="2000"/>
              <a:buChar char="•"/>
            </a:pPr>
            <a:r>
              <a:rPr lang="en-US" sz="2000"/>
              <a:t>Use array </a:t>
            </a:r>
            <a:r>
              <a:rPr b="1" lang="en-US" sz="2000"/>
              <a:t>rank</a:t>
            </a:r>
            <a:r>
              <a:rPr lang="en-US" sz="2000"/>
              <a:t> of size </a:t>
            </a:r>
            <a:r>
              <a:rPr b="1" lang="en-US" sz="2000"/>
              <a:t>N</a:t>
            </a:r>
            <a:endParaRPr sz="2000"/>
          </a:p>
          <a:p>
            <a:pPr indent="-355600" lvl="0" marL="457200" rtl="0" algn="l">
              <a:lnSpc>
                <a:spcPct val="100000"/>
              </a:lnSpc>
              <a:spcBef>
                <a:spcPts val="0"/>
              </a:spcBef>
              <a:spcAft>
                <a:spcPts val="0"/>
              </a:spcAft>
              <a:buSzPts val="2000"/>
              <a:buChar char="•"/>
            </a:pPr>
            <a:r>
              <a:rPr b="1" lang="en-US" sz="2000"/>
              <a:t>rank[i]</a:t>
            </a:r>
            <a:r>
              <a:rPr lang="en-US" sz="2000"/>
              <a:t> is the upper-bound of the height of subtree rooted at vertex </a:t>
            </a:r>
            <a:r>
              <a:rPr b="1" lang="en-US" sz="2000"/>
              <a:t>i</a:t>
            </a:r>
            <a:r>
              <a:rPr lang="en-US" sz="2000"/>
              <a:t> that we will be used as guiding heuristic for </a:t>
            </a:r>
            <a:r>
              <a:rPr b="1" lang="en-US" sz="2000"/>
              <a:t>UnionSet(i,j) </a:t>
            </a:r>
            <a:r>
              <a:rPr lang="en-US" sz="2000"/>
              <a:t>operation</a:t>
            </a:r>
            <a:endParaRPr sz="2000"/>
          </a:p>
          <a:p>
            <a:pPr indent="-355600" lvl="0" marL="457200" rtl="0" algn="l">
              <a:lnSpc>
                <a:spcPct val="100000"/>
              </a:lnSpc>
              <a:spcBef>
                <a:spcPts val="0"/>
              </a:spcBef>
              <a:spcAft>
                <a:spcPts val="0"/>
              </a:spcAft>
              <a:buSzPts val="2000"/>
              <a:buChar char="•"/>
            </a:pPr>
            <a:r>
              <a:rPr lang="en-US" sz="2000"/>
              <a:t>What numbers have rank 0?</a:t>
            </a:r>
            <a:endParaRPr sz="2000"/>
          </a:p>
          <a:p>
            <a:pPr indent="-355600" lvl="1" marL="914400" rtl="0" algn="l">
              <a:lnSpc>
                <a:spcPct val="100000"/>
              </a:lnSpc>
              <a:spcBef>
                <a:spcPts val="0"/>
              </a:spcBef>
              <a:spcAft>
                <a:spcPts val="0"/>
              </a:spcAft>
              <a:buSzPts val="2000"/>
              <a:buChar char="•"/>
            </a:pPr>
            <a:r>
              <a:rPr lang="en-US" sz="2000"/>
              <a:t>{0, 10, 11, 9, 12}</a:t>
            </a:r>
            <a:endParaRPr sz="2000"/>
          </a:p>
          <a:p>
            <a:pPr indent="-355600" lvl="0" marL="457200" rtl="0" algn="l">
              <a:lnSpc>
                <a:spcPct val="100000"/>
              </a:lnSpc>
              <a:spcBef>
                <a:spcPts val="0"/>
              </a:spcBef>
              <a:spcAft>
                <a:spcPts val="0"/>
              </a:spcAft>
              <a:buSzPts val="2000"/>
              <a:buChar char="•"/>
            </a:pPr>
            <a:r>
              <a:rPr lang="en-US" sz="2000"/>
              <a:t>What numbers have rank 1?</a:t>
            </a:r>
            <a:endParaRPr sz="2000"/>
          </a:p>
          <a:p>
            <a:pPr indent="-355600" lvl="1" marL="914400" rtl="0" algn="l">
              <a:spcBef>
                <a:spcPts val="0"/>
              </a:spcBef>
              <a:spcAft>
                <a:spcPts val="0"/>
              </a:spcAft>
              <a:buSzPts val="2000"/>
              <a:buChar char="•"/>
            </a:pPr>
            <a:r>
              <a:rPr lang="en-US" sz="2000"/>
              <a:t>{1,4,6,8}</a:t>
            </a:r>
            <a:endParaRPr sz="2000"/>
          </a:p>
          <a:p>
            <a:pPr indent="-355600" lvl="0" marL="457200" rtl="0" algn="l">
              <a:lnSpc>
                <a:spcPct val="100000"/>
              </a:lnSpc>
              <a:spcBef>
                <a:spcPts val="0"/>
              </a:spcBef>
              <a:spcAft>
                <a:spcPts val="0"/>
              </a:spcAft>
              <a:buSzPts val="2000"/>
              <a:buChar char="•"/>
            </a:pPr>
            <a:r>
              <a:rPr lang="en-US" sz="2000"/>
              <a:t>What numbers have rank 2?</a:t>
            </a:r>
            <a:endParaRPr sz="2000"/>
          </a:p>
          <a:p>
            <a:pPr indent="-355600" lvl="1" marL="914400" rtl="0" algn="l">
              <a:lnSpc>
                <a:spcPct val="100000"/>
              </a:lnSpc>
              <a:spcBef>
                <a:spcPts val="0"/>
              </a:spcBef>
              <a:spcAft>
                <a:spcPts val="0"/>
              </a:spcAft>
              <a:buSzPts val="2000"/>
              <a:buChar char="•"/>
            </a:pPr>
            <a:r>
              <a:rPr lang="en-US" sz="2000"/>
              <a:t>{3,5}</a:t>
            </a:r>
            <a:endParaRPr sz="2000"/>
          </a:p>
        </p:txBody>
      </p:sp>
      <p:sp>
        <p:nvSpPr>
          <p:cNvPr id="234" name="Google Shape;234;g380c4f9b096_0_13"/>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3"/>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pic>
        <p:nvPicPr>
          <p:cNvPr id="235" name="Google Shape;235;g380c4f9b096_0_13"/>
          <p:cNvPicPr preferRelativeResize="0"/>
          <p:nvPr/>
        </p:nvPicPr>
        <p:blipFill>
          <a:blip r:embed="rId5">
            <a:alphaModFix/>
          </a:blip>
          <a:stretch>
            <a:fillRect/>
          </a:stretch>
        </p:blipFill>
        <p:spPr>
          <a:xfrm>
            <a:off x="760092" y="3633925"/>
            <a:ext cx="10701057" cy="2175350"/>
          </a:xfrm>
          <a:prstGeom prst="rect">
            <a:avLst/>
          </a:prstGeom>
          <a:noFill/>
          <a:ln cap="flat" cmpd="sng" w="9525">
            <a:solidFill>
              <a:schemeClr val="dk1"/>
            </a:solidFill>
            <a:prstDash val="solid"/>
            <a:round/>
            <a:headEnd len="sm" w="sm" type="none"/>
            <a:tailEnd len="sm" w="sm" type="none"/>
          </a:ln>
        </p:spPr>
      </p:pic>
      <p:cxnSp>
        <p:nvCxnSpPr>
          <p:cNvPr id="236" name="Google Shape;236;g380c4f9b096_0_13"/>
          <p:cNvCxnSpPr/>
          <p:nvPr/>
        </p:nvCxnSpPr>
        <p:spPr>
          <a:xfrm>
            <a:off x="2581200" y="4395600"/>
            <a:ext cx="648000" cy="21600"/>
          </a:xfrm>
          <a:prstGeom prst="straightConnector1">
            <a:avLst/>
          </a:prstGeom>
          <a:noFill/>
          <a:ln cap="flat" cmpd="sng" w="152400">
            <a:solidFill>
              <a:schemeClr val="dk2"/>
            </a:solidFill>
            <a:prstDash val="solid"/>
            <a:round/>
            <a:headEnd len="med" w="med" type="none"/>
            <a:tailEnd len="med" w="med" type="none"/>
          </a:ln>
        </p:spPr>
      </p:cxnSp>
      <p:cxnSp>
        <p:nvCxnSpPr>
          <p:cNvPr id="237" name="Google Shape;237;g380c4f9b096_0_13"/>
          <p:cNvCxnSpPr/>
          <p:nvPr/>
        </p:nvCxnSpPr>
        <p:spPr>
          <a:xfrm>
            <a:off x="6825600" y="4374000"/>
            <a:ext cx="583200" cy="64800"/>
          </a:xfrm>
          <a:prstGeom prst="straightConnector1">
            <a:avLst/>
          </a:prstGeom>
          <a:noFill/>
          <a:ln cap="flat" cmpd="sng" w="152400">
            <a:solidFill>
              <a:schemeClr val="dk2"/>
            </a:solidFill>
            <a:prstDash val="solid"/>
            <a:round/>
            <a:headEnd len="med" w="med" type="none"/>
            <a:tailEnd len="med" w="med" type="none"/>
          </a:ln>
        </p:spPr>
      </p:cxnSp>
      <p:cxnSp>
        <p:nvCxnSpPr>
          <p:cNvPr id="238" name="Google Shape;238;g380c4f9b096_0_13"/>
          <p:cNvCxnSpPr/>
          <p:nvPr/>
        </p:nvCxnSpPr>
        <p:spPr>
          <a:xfrm>
            <a:off x="9171600" y="4395600"/>
            <a:ext cx="904800" cy="0"/>
          </a:xfrm>
          <a:prstGeom prst="straightConnector1">
            <a:avLst/>
          </a:prstGeom>
          <a:noFill/>
          <a:ln cap="flat" cmpd="sng" w="152400">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80c4f9b096_0_21"/>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Operations</a:t>
            </a:r>
            <a:endParaRPr/>
          </a:p>
        </p:txBody>
      </p:sp>
      <p:sp>
        <p:nvSpPr>
          <p:cNvPr id="245" name="Google Shape;245;g380c4f9b096_0_21"/>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Initialize(N, M)</a:t>
            </a:r>
            <a:endParaRPr sz="2000"/>
          </a:p>
          <a:p>
            <a:pPr indent="-355600" lvl="1" marL="914400" rtl="0" algn="l">
              <a:lnSpc>
                <a:spcPct val="100000"/>
              </a:lnSpc>
              <a:spcBef>
                <a:spcPts val="0"/>
              </a:spcBef>
              <a:spcAft>
                <a:spcPts val="0"/>
              </a:spcAft>
              <a:buSzPts val="2000"/>
              <a:buChar char="•"/>
            </a:pPr>
            <a:r>
              <a:rPr lang="en-US" sz="2000"/>
              <a:t>Creates N items and form M disjoint sets with these N items</a:t>
            </a:r>
            <a:endParaRPr sz="2000"/>
          </a:p>
          <a:p>
            <a:pPr indent="-355600" lvl="0" marL="457200" rtl="0" algn="l">
              <a:lnSpc>
                <a:spcPct val="100000"/>
              </a:lnSpc>
              <a:spcBef>
                <a:spcPts val="0"/>
              </a:spcBef>
              <a:spcAft>
                <a:spcPts val="0"/>
              </a:spcAft>
              <a:buSzPts val="2000"/>
              <a:buChar char="•"/>
            </a:pPr>
            <a:r>
              <a:rPr lang="en-US" sz="2000"/>
              <a:t>F</a:t>
            </a:r>
            <a:r>
              <a:rPr lang="en-US" sz="2000"/>
              <a:t>ind</a:t>
            </a:r>
            <a:r>
              <a:rPr lang="en-US" sz="2000"/>
              <a:t>S</a:t>
            </a:r>
            <a:r>
              <a:rPr lang="en-US" sz="2000"/>
              <a:t>et(i)</a:t>
            </a:r>
            <a:endParaRPr sz="2000"/>
          </a:p>
          <a:p>
            <a:pPr indent="-355600" lvl="1" marL="914400" rtl="0" algn="l">
              <a:spcBef>
                <a:spcPts val="0"/>
              </a:spcBef>
              <a:spcAft>
                <a:spcPts val="0"/>
              </a:spcAft>
              <a:buSzPts val="2000"/>
              <a:buChar char="•"/>
            </a:pPr>
            <a:r>
              <a:rPr lang="en-US" sz="2000"/>
              <a:t>Finds the representative item of a set (finds which set i belongs to)</a:t>
            </a:r>
            <a:endParaRPr sz="2000"/>
          </a:p>
          <a:p>
            <a:pPr indent="-355600" lvl="0" marL="457200" rtl="0" algn="l">
              <a:lnSpc>
                <a:spcPct val="100000"/>
              </a:lnSpc>
              <a:spcBef>
                <a:spcPts val="0"/>
              </a:spcBef>
              <a:spcAft>
                <a:spcPts val="0"/>
              </a:spcAft>
              <a:buSzPts val="2000"/>
              <a:buChar char="•"/>
            </a:pPr>
            <a:r>
              <a:rPr lang="en-US" sz="2000"/>
              <a:t>IsSameSet(</a:t>
            </a:r>
            <a:r>
              <a:rPr lang="en-US" sz="2000"/>
              <a:t>i</a:t>
            </a:r>
            <a:r>
              <a:rPr lang="en-US" sz="2000"/>
              <a:t>, j)</a:t>
            </a:r>
            <a:endParaRPr sz="2000"/>
          </a:p>
          <a:p>
            <a:pPr indent="-355600" lvl="1" marL="914400" rtl="0" algn="l">
              <a:lnSpc>
                <a:spcPct val="100000"/>
              </a:lnSpc>
              <a:spcBef>
                <a:spcPts val="0"/>
              </a:spcBef>
              <a:spcAft>
                <a:spcPts val="0"/>
              </a:spcAft>
              <a:buSzPts val="2000"/>
              <a:buChar char="•"/>
            </a:pPr>
            <a:r>
              <a:rPr lang="en-US" sz="2000"/>
              <a:t>Returns True or False if i and j belong to the same set or not</a:t>
            </a:r>
            <a:endParaRPr sz="2000"/>
          </a:p>
          <a:p>
            <a:pPr indent="-355600" lvl="0" marL="457200" rtl="0" algn="l">
              <a:lnSpc>
                <a:spcPct val="100000"/>
              </a:lnSpc>
              <a:spcBef>
                <a:spcPts val="0"/>
              </a:spcBef>
              <a:spcAft>
                <a:spcPts val="0"/>
              </a:spcAft>
              <a:buSzPts val="2000"/>
              <a:buChar char="•"/>
            </a:pPr>
            <a:r>
              <a:rPr lang="en-US" sz="2000"/>
              <a:t>UnionSet(i, j)</a:t>
            </a:r>
            <a:endParaRPr sz="2000"/>
          </a:p>
          <a:p>
            <a:pPr indent="-355600" lvl="1" marL="914400" rtl="0" algn="l">
              <a:lnSpc>
                <a:spcPct val="100000"/>
              </a:lnSpc>
              <a:spcBef>
                <a:spcPts val="0"/>
              </a:spcBef>
              <a:spcAft>
                <a:spcPts val="0"/>
              </a:spcAft>
              <a:buSzPts val="2000"/>
              <a:buChar char="•"/>
            </a:pPr>
            <a:r>
              <a:rPr lang="en-US" sz="2000"/>
              <a:t>Unite a disjoint set that contains item i with a different disjoint set that contains item j</a:t>
            </a:r>
            <a:endParaRPr sz="2000"/>
          </a:p>
          <a:p>
            <a:pPr indent="0" lvl="0" marL="457200" rtl="0" algn="l">
              <a:lnSpc>
                <a:spcPct val="100000"/>
              </a:lnSpc>
              <a:spcBef>
                <a:spcPts val="0"/>
              </a:spcBef>
              <a:spcAft>
                <a:spcPts val="0"/>
              </a:spcAft>
              <a:buNone/>
            </a:pPr>
            <a:r>
              <a:t/>
            </a:r>
            <a:endParaRPr sz="2000"/>
          </a:p>
          <a:p>
            <a:pPr indent="-355600" lvl="0" marL="457200" rtl="0" algn="l">
              <a:lnSpc>
                <a:spcPct val="100000"/>
              </a:lnSpc>
              <a:spcBef>
                <a:spcPts val="0"/>
              </a:spcBef>
              <a:spcAft>
                <a:spcPts val="0"/>
              </a:spcAft>
              <a:buSzPts val="2000"/>
              <a:buChar char="•"/>
            </a:pPr>
            <a:r>
              <a:rPr lang="en-US" sz="2000"/>
              <a:t>Optional operations:</a:t>
            </a:r>
            <a:endParaRPr sz="2000"/>
          </a:p>
          <a:p>
            <a:pPr indent="-355600" lvl="1" marL="914400" rtl="0" algn="l">
              <a:lnSpc>
                <a:spcPct val="100000"/>
              </a:lnSpc>
              <a:spcBef>
                <a:spcPts val="0"/>
              </a:spcBef>
              <a:spcAft>
                <a:spcPts val="0"/>
              </a:spcAft>
              <a:buSzPts val="2000"/>
              <a:buChar char="•"/>
            </a:pPr>
            <a:r>
              <a:rPr lang="en-US" sz="2000"/>
              <a:t>numDisjointSets()</a:t>
            </a:r>
            <a:endParaRPr sz="2000"/>
          </a:p>
          <a:p>
            <a:pPr indent="-355600" lvl="2" marL="1371600" rtl="0" algn="l">
              <a:spcBef>
                <a:spcPts val="0"/>
              </a:spcBef>
              <a:spcAft>
                <a:spcPts val="0"/>
              </a:spcAft>
              <a:buSzPts val="2000"/>
              <a:buChar char="•"/>
            </a:pPr>
            <a:r>
              <a:rPr lang="en-US" sz="2000"/>
              <a:t>returns the number of disjoint sets currently in the UFDS data structure</a:t>
            </a:r>
            <a:endParaRPr sz="2000"/>
          </a:p>
          <a:p>
            <a:pPr indent="-355600" lvl="1" marL="914400" rtl="0" algn="l">
              <a:lnSpc>
                <a:spcPct val="100000"/>
              </a:lnSpc>
              <a:spcBef>
                <a:spcPts val="0"/>
              </a:spcBef>
              <a:spcAft>
                <a:spcPts val="0"/>
              </a:spcAft>
              <a:buSzPts val="2000"/>
              <a:buChar char="•"/>
            </a:pPr>
            <a:r>
              <a:rPr lang="en-US" sz="2000"/>
              <a:t>sizeOfSet(i)</a:t>
            </a:r>
            <a:endParaRPr sz="2000"/>
          </a:p>
          <a:p>
            <a:pPr indent="-355600" lvl="2" marL="1371600" rtl="0" algn="l">
              <a:spcBef>
                <a:spcPts val="0"/>
              </a:spcBef>
              <a:spcAft>
                <a:spcPts val="0"/>
              </a:spcAft>
              <a:buSzPts val="2000"/>
              <a:buChar char="•"/>
            </a:pPr>
            <a:r>
              <a:rPr lang="en-US" sz="2000"/>
              <a:t>returns the number of items (including item i) that the set that contains item i has</a:t>
            </a:r>
            <a:endParaRPr sz="2000"/>
          </a:p>
        </p:txBody>
      </p:sp>
      <p:sp>
        <p:nvSpPr>
          <p:cNvPr id="246" name="Google Shape;246;g380c4f9b096_0_2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3"/>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80c4f9b096_0_41"/>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Initialize(N, M)</a:t>
            </a:r>
            <a:endParaRPr/>
          </a:p>
        </p:txBody>
      </p:sp>
      <p:sp>
        <p:nvSpPr>
          <p:cNvPr id="253" name="Google Shape;253;g380c4f9b096_0_41"/>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Creates N items and form M disjoint sets with these N items</a:t>
            </a:r>
            <a:endParaRPr sz="2000"/>
          </a:p>
          <a:p>
            <a:pPr indent="-355600" lvl="0" marL="457200" rtl="0" algn="l">
              <a:lnSpc>
                <a:spcPct val="100000"/>
              </a:lnSpc>
              <a:spcBef>
                <a:spcPts val="0"/>
              </a:spcBef>
              <a:spcAft>
                <a:spcPts val="0"/>
              </a:spcAft>
              <a:buSzPts val="2000"/>
              <a:buChar char="•"/>
            </a:pPr>
            <a:r>
              <a:rPr lang="en-US" sz="2000"/>
              <a:t>Randomly pick 2 disjoint sets and merge them until we have M random disjoint sets</a:t>
            </a:r>
            <a:endParaRPr sz="2000"/>
          </a:p>
          <a:p>
            <a:pPr indent="-355600" lvl="0" marL="457200" rtl="0" algn="l">
              <a:lnSpc>
                <a:spcPct val="100000"/>
              </a:lnSpc>
              <a:spcBef>
                <a:spcPts val="0"/>
              </a:spcBef>
              <a:spcAft>
                <a:spcPts val="0"/>
              </a:spcAft>
              <a:buSzPts val="2000"/>
              <a:buChar char="•"/>
            </a:pPr>
            <a:r>
              <a:rPr lang="en-US" sz="2000"/>
              <a:t>Due to union-by-rank heuristics (we will see this in a few slides) + randomness, it is unlikely that this will create a tall tree</a:t>
            </a:r>
            <a:endParaRPr sz="2000"/>
          </a:p>
          <a:p>
            <a:pPr indent="0" lvl="0" marL="457200" rtl="0" algn="l">
              <a:lnSpc>
                <a:spcPct val="100000"/>
              </a:lnSpc>
              <a:spcBef>
                <a:spcPts val="0"/>
              </a:spcBef>
              <a:spcAft>
                <a:spcPts val="0"/>
              </a:spcAft>
              <a:buNone/>
            </a:pPr>
            <a:r>
              <a:t/>
            </a:r>
            <a:endParaRPr sz="2000"/>
          </a:p>
          <a:p>
            <a:pPr indent="-355600" lvl="0" marL="457200" rtl="0" algn="l">
              <a:lnSpc>
                <a:spcPct val="100000"/>
              </a:lnSpc>
              <a:spcBef>
                <a:spcPts val="0"/>
              </a:spcBef>
              <a:spcAft>
                <a:spcPts val="0"/>
              </a:spcAft>
              <a:buSzPts val="2000"/>
              <a:buChar char="•"/>
            </a:pPr>
            <a:r>
              <a:rPr lang="en-US" sz="2000"/>
              <a:t>Usual default values:</a:t>
            </a:r>
            <a:endParaRPr sz="2000"/>
          </a:p>
          <a:p>
            <a:pPr indent="-355600" lvl="1" marL="914400" rtl="0" algn="l">
              <a:lnSpc>
                <a:spcPct val="100000"/>
              </a:lnSpc>
              <a:spcBef>
                <a:spcPts val="0"/>
              </a:spcBef>
              <a:spcAft>
                <a:spcPts val="0"/>
              </a:spcAft>
              <a:buSzPts val="2000"/>
              <a:buChar char="•"/>
            </a:pPr>
            <a:r>
              <a:rPr lang="en-US" sz="2000"/>
              <a:t>M = N (i.e. Initialize(N, N))</a:t>
            </a:r>
            <a:endParaRPr sz="2000"/>
          </a:p>
          <a:p>
            <a:pPr indent="-355600" lvl="1" marL="914400" rtl="0" algn="l">
              <a:lnSpc>
                <a:spcPct val="100000"/>
              </a:lnSpc>
              <a:spcBef>
                <a:spcPts val="0"/>
              </a:spcBef>
              <a:spcAft>
                <a:spcPts val="0"/>
              </a:spcAft>
              <a:buSzPts val="2000"/>
              <a:buChar char="•"/>
            </a:pPr>
            <a:r>
              <a:rPr lang="en-US" sz="2000"/>
              <a:t>p[i] = i</a:t>
            </a:r>
            <a:endParaRPr sz="2000"/>
          </a:p>
          <a:p>
            <a:pPr indent="-355600" lvl="1" marL="914400" rtl="0" algn="l">
              <a:lnSpc>
                <a:spcPct val="100000"/>
              </a:lnSpc>
              <a:spcBef>
                <a:spcPts val="0"/>
              </a:spcBef>
              <a:spcAft>
                <a:spcPts val="0"/>
              </a:spcAft>
              <a:buSzPts val="2000"/>
              <a:buChar char="•"/>
            </a:pPr>
            <a:r>
              <a:rPr lang="en-US" sz="2000"/>
              <a:t>rank[i] = 0</a:t>
            </a:r>
            <a:endParaRPr sz="2000"/>
          </a:p>
          <a:p>
            <a:pPr indent="-355600" lvl="0" marL="457200" rtl="0" algn="l">
              <a:lnSpc>
                <a:spcPct val="100000"/>
              </a:lnSpc>
              <a:spcBef>
                <a:spcPts val="0"/>
              </a:spcBef>
              <a:spcAft>
                <a:spcPts val="0"/>
              </a:spcAft>
              <a:buSzPts val="2000"/>
              <a:buChar char="•"/>
            </a:pPr>
            <a:r>
              <a:rPr lang="en-US" sz="2000"/>
              <a:t>Time complexity is O(N)</a:t>
            </a:r>
            <a:endParaRPr sz="2000"/>
          </a:p>
        </p:txBody>
      </p:sp>
      <p:sp>
        <p:nvSpPr>
          <p:cNvPr id="254" name="Google Shape;254;g380c4f9b096_0_4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3"/>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380c4f9b096_0_52"/>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FindSet(i)</a:t>
            </a:r>
            <a:endParaRPr/>
          </a:p>
        </p:txBody>
      </p:sp>
      <p:sp>
        <p:nvSpPr>
          <p:cNvPr id="261" name="Google Shape;261;g380c4f9b096_0_52"/>
          <p:cNvSpPr txBox="1"/>
          <p:nvPr>
            <p:ph idx="1" type="body"/>
          </p:nvPr>
        </p:nvSpPr>
        <p:spPr>
          <a:xfrm>
            <a:off x="494675" y="1096825"/>
            <a:ext cx="11298900" cy="3752400"/>
          </a:xfrm>
          <a:prstGeom prst="rect">
            <a:avLst/>
          </a:prstGeom>
          <a:noFill/>
          <a:ln>
            <a:noFill/>
          </a:ln>
        </p:spPr>
        <p:txBody>
          <a:bodyPr anchorCtr="0" anchor="t" bIns="45700" lIns="91425" spcFirstLastPara="1" rIns="91425" wrap="square" tIns="45700">
            <a:normAutofit lnSpcReduction="10000"/>
          </a:bodyPr>
          <a:lstStyle/>
          <a:p>
            <a:pPr indent="-355600" lvl="0" marL="457200" rtl="0" algn="l">
              <a:spcBef>
                <a:spcPts val="0"/>
              </a:spcBef>
              <a:spcAft>
                <a:spcPts val="0"/>
              </a:spcAft>
              <a:buSzPts val="2000"/>
              <a:buChar char="•"/>
            </a:pPr>
            <a:r>
              <a:rPr lang="en-US" sz="2000"/>
              <a:t>findSet(i) calls findSet(p[i]) recursively to find the representative item of a set</a:t>
            </a:r>
            <a:endParaRPr sz="2000"/>
          </a:p>
          <a:p>
            <a:pPr indent="-355600" lvl="1" marL="914400" rtl="0" algn="l">
              <a:spcBef>
                <a:spcPts val="0"/>
              </a:spcBef>
              <a:spcAft>
                <a:spcPts val="0"/>
              </a:spcAft>
              <a:buSzPts val="2000"/>
              <a:buChar char="•"/>
            </a:pPr>
            <a:r>
              <a:rPr lang="en-US" sz="2000"/>
              <a:t>returning findSet(p[i]) if p[i] != i and i otherwise</a:t>
            </a:r>
            <a:endParaRPr sz="2000"/>
          </a:p>
          <a:p>
            <a:pPr indent="-355600" lvl="0" marL="457200" rtl="0" algn="l">
              <a:spcBef>
                <a:spcPts val="0"/>
              </a:spcBef>
              <a:spcAft>
                <a:spcPts val="0"/>
              </a:spcAft>
              <a:buSzPts val="2000"/>
              <a:buChar char="•"/>
            </a:pPr>
            <a:r>
              <a:rPr lang="en-US" sz="2000"/>
              <a:t>To speed things up, we use path compression!</a:t>
            </a:r>
            <a:endParaRPr sz="2000"/>
          </a:p>
          <a:p>
            <a:pPr indent="-355600" lvl="1" marL="914400" rtl="0" algn="l">
              <a:spcBef>
                <a:spcPts val="0"/>
              </a:spcBef>
              <a:spcAft>
                <a:spcPts val="0"/>
              </a:spcAft>
              <a:buSzPts val="2000"/>
              <a:buChar char="•"/>
            </a:pPr>
            <a:r>
              <a:rPr lang="en-US" sz="2000"/>
              <a:t>When</a:t>
            </a:r>
            <a:r>
              <a:rPr lang="en-US" sz="2000"/>
              <a:t> we find the representative (root) item of a disjoint set by following the chain of ‘parent’ edges from a given item, we can set the parent of all items traversed to point directly to the root</a:t>
            </a:r>
            <a:endParaRPr sz="2000"/>
          </a:p>
          <a:p>
            <a:pPr indent="-355600" lvl="0" marL="457200" rtl="0" algn="l">
              <a:spcBef>
                <a:spcPts val="0"/>
              </a:spcBef>
              <a:spcAft>
                <a:spcPts val="0"/>
              </a:spcAft>
              <a:buSzPts val="2000"/>
              <a:buChar char="•"/>
            </a:pPr>
            <a:r>
              <a:rPr lang="en-US" sz="2000"/>
              <a:t>Won’t path compression mess with our rank values?</a:t>
            </a:r>
            <a:endParaRPr sz="2000"/>
          </a:p>
          <a:p>
            <a:pPr indent="-355600" lvl="1" marL="914400" rtl="0" algn="l">
              <a:spcBef>
                <a:spcPts val="0"/>
              </a:spcBef>
              <a:spcAft>
                <a:spcPts val="0"/>
              </a:spcAft>
              <a:buSzPts val="2000"/>
              <a:buChar char="•"/>
            </a:pPr>
            <a:r>
              <a:rPr lang="en-US" sz="2000"/>
              <a:t>Yes! Hence why we defined rank as reflecting only the upper bound of the actual height of the tree</a:t>
            </a:r>
            <a:endParaRPr sz="2000"/>
          </a:p>
          <a:p>
            <a:pPr indent="-355600" lvl="1" marL="914400" rtl="0" algn="l">
              <a:spcBef>
                <a:spcPts val="0"/>
              </a:spcBef>
              <a:spcAft>
                <a:spcPts val="0"/>
              </a:spcAft>
              <a:buSzPts val="2000"/>
              <a:buChar char="•"/>
            </a:pPr>
            <a:r>
              <a:rPr lang="en-US" sz="2000"/>
              <a:t>We don’t update ranks because it is too costly and only used for ‘guiding heuristic’ during unionSet(i, j) operations</a:t>
            </a:r>
            <a:endParaRPr sz="2000"/>
          </a:p>
          <a:p>
            <a:pPr indent="-355600" lvl="0" marL="457200" rtl="0" algn="l">
              <a:spcBef>
                <a:spcPts val="0"/>
              </a:spcBef>
              <a:spcAft>
                <a:spcPts val="0"/>
              </a:spcAft>
              <a:buSzPts val="2000"/>
              <a:buChar char="•"/>
            </a:pPr>
            <a:r>
              <a:rPr lang="en-US" sz="2000"/>
              <a:t>There are some cases where the time complexity is not O(1) BUT for competitive programming where n &lt; 1M, then we can treat it as O(1)</a:t>
            </a:r>
            <a:endParaRPr sz="2000"/>
          </a:p>
          <a:p>
            <a:pPr indent="-355600" lvl="1" marL="914400" rtl="0" algn="l">
              <a:spcBef>
                <a:spcPts val="0"/>
              </a:spcBef>
              <a:spcAft>
                <a:spcPts val="0"/>
              </a:spcAft>
              <a:buSzPts val="2000"/>
              <a:buChar char="•"/>
            </a:pPr>
            <a:r>
              <a:rPr lang="en-US" sz="2000"/>
              <a:t>See textbook Section 2.4.2 on UFDS Operation: O(1) findSet(i) for more detailed information about time complexity</a:t>
            </a:r>
            <a:endParaRPr sz="2000"/>
          </a:p>
        </p:txBody>
      </p:sp>
      <p:sp>
        <p:nvSpPr>
          <p:cNvPr id="262" name="Google Shape;262;g380c4f9b096_0_52"/>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3"/>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pic>
        <p:nvPicPr>
          <p:cNvPr id="263" name="Google Shape;263;g380c4f9b096_0_52"/>
          <p:cNvPicPr preferRelativeResize="0"/>
          <p:nvPr/>
        </p:nvPicPr>
        <p:blipFill>
          <a:blip r:embed="rId5">
            <a:alphaModFix/>
          </a:blip>
          <a:stretch>
            <a:fillRect/>
          </a:stretch>
        </p:blipFill>
        <p:spPr>
          <a:xfrm>
            <a:off x="6223375" y="4592325"/>
            <a:ext cx="5968626" cy="2265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380c4f9b096_0_85"/>
          <p:cNvSpPr txBox="1"/>
          <p:nvPr>
            <p:ph type="title"/>
          </p:nvPr>
        </p:nvSpPr>
        <p:spPr>
          <a:xfrm>
            <a:off x="2050349" y="239625"/>
            <a:ext cx="80913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FindSet(i) Example</a:t>
            </a:r>
            <a:endParaRPr/>
          </a:p>
        </p:txBody>
      </p:sp>
      <p:sp>
        <p:nvSpPr>
          <p:cNvPr id="270" name="Google Shape;270;g380c4f9b096_0_85"/>
          <p:cNvSpPr txBox="1"/>
          <p:nvPr>
            <p:ph idx="1" type="body"/>
          </p:nvPr>
        </p:nvSpPr>
        <p:spPr>
          <a:xfrm>
            <a:off x="494675" y="1096825"/>
            <a:ext cx="11298900" cy="4601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Let’s watch it in action! (example “4 sets” on visualgo UFDS)</a:t>
            </a:r>
            <a:endParaRPr sz="2000"/>
          </a:p>
          <a:p>
            <a:pPr indent="-355600" lvl="1" marL="914400" rtl="0" algn="l">
              <a:spcBef>
                <a:spcPts val="0"/>
              </a:spcBef>
              <a:spcAft>
                <a:spcPts val="0"/>
              </a:spcAft>
              <a:buSzPts val="2000"/>
              <a:buChar char="•"/>
            </a:pPr>
            <a:r>
              <a:rPr lang="en-US" sz="2000" u="sng">
                <a:solidFill>
                  <a:schemeClr val="hlink"/>
                </a:solidFill>
                <a:hlinkClick r:id="rId3"/>
              </a:rPr>
              <a:t>https://visualgo.net/en/ufds</a:t>
            </a:r>
            <a:r>
              <a:rPr lang="en-US" sz="2000"/>
              <a:t> </a:t>
            </a:r>
            <a:endParaRPr sz="2000"/>
          </a:p>
          <a:p>
            <a:pPr indent="-355600" lvl="0" marL="457200" rtl="0" algn="l">
              <a:spcBef>
                <a:spcPts val="0"/>
              </a:spcBef>
              <a:spcAft>
                <a:spcPts val="0"/>
              </a:spcAft>
              <a:buSzPts val="2000"/>
              <a:buChar char="•"/>
            </a:pPr>
            <a:r>
              <a:rPr lang="en-US" sz="2000"/>
              <a:t>Try:</a:t>
            </a:r>
            <a:endParaRPr sz="2000"/>
          </a:p>
          <a:p>
            <a:pPr indent="-355600" lvl="1" marL="914400" rtl="0" algn="l">
              <a:spcBef>
                <a:spcPts val="0"/>
              </a:spcBef>
              <a:spcAft>
                <a:spcPts val="0"/>
              </a:spcAft>
              <a:buSzPts val="2000"/>
              <a:buChar char="•"/>
            </a:pPr>
            <a:r>
              <a:rPr lang="en-US" sz="2000"/>
              <a:t>FindSet(12)</a:t>
            </a:r>
            <a:endParaRPr sz="2000"/>
          </a:p>
          <a:p>
            <a:pPr indent="-355600" lvl="2" marL="1371600" rtl="0" algn="l">
              <a:spcBef>
                <a:spcPts val="0"/>
              </a:spcBef>
              <a:spcAft>
                <a:spcPts val="0"/>
              </a:spcAft>
              <a:buSzPts val="2000"/>
              <a:buChar char="•"/>
            </a:pPr>
            <a:r>
              <a:rPr lang="en-US" sz="2000"/>
              <a:t>get vertex 12</a:t>
            </a:r>
            <a:endParaRPr sz="2000"/>
          </a:p>
          <a:p>
            <a:pPr indent="-355600" lvl="1" marL="914400" rtl="0" algn="l">
              <a:spcBef>
                <a:spcPts val="0"/>
              </a:spcBef>
              <a:spcAft>
                <a:spcPts val="0"/>
              </a:spcAft>
              <a:buSzPts val="2000"/>
              <a:buChar char="•"/>
            </a:pPr>
            <a:r>
              <a:rPr lang="en-US" sz="2000"/>
              <a:t>FindSet(9)</a:t>
            </a:r>
            <a:endParaRPr sz="2000"/>
          </a:p>
          <a:p>
            <a:pPr indent="-355600" lvl="2" marL="1371600" rtl="0" algn="l">
              <a:spcBef>
                <a:spcPts val="0"/>
              </a:spcBef>
              <a:spcAft>
                <a:spcPts val="0"/>
              </a:spcAft>
              <a:buSzPts val="2000"/>
              <a:buChar char="•"/>
            </a:pPr>
            <a:r>
              <a:rPr lang="en-US" sz="2000"/>
              <a:t>get vertex 6 after 1 stop</a:t>
            </a:r>
            <a:endParaRPr sz="2000"/>
          </a:p>
          <a:p>
            <a:pPr indent="-355600" lvl="1" marL="914400" rtl="0" algn="l">
              <a:spcBef>
                <a:spcPts val="0"/>
              </a:spcBef>
              <a:spcAft>
                <a:spcPts val="0"/>
              </a:spcAft>
              <a:buSzPts val="2000"/>
              <a:buChar char="•"/>
            </a:pPr>
            <a:r>
              <a:rPr lang="en-US" sz="2000"/>
              <a:t>FindSet(0)</a:t>
            </a:r>
            <a:endParaRPr sz="2000"/>
          </a:p>
          <a:p>
            <a:pPr indent="-355600" lvl="2" marL="1371600" rtl="0" algn="l">
              <a:spcBef>
                <a:spcPts val="0"/>
              </a:spcBef>
              <a:spcAft>
                <a:spcPts val="0"/>
              </a:spcAft>
              <a:buSzPts val="2000"/>
              <a:buChar char="•"/>
            </a:pPr>
            <a:r>
              <a:rPr lang="en-US" sz="2000"/>
              <a:t>UFDS will modify structure due to path-compression</a:t>
            </a:r>
            <a:endParaRPr sz="2000"/>
          </a:p>
          <a:p>
            <a:pPr indent="-355600" lvl="2" marL="1371600" rtl="0" algn="l">
              <a:spcBef>
                <a:spcPts val="0"/>
              </a:spcBef>
              <a:spcAft>
                <a:spcPts val="0"/>
              </a:spcAft>
              <a:buSzPts val="2000"/>
              <a:buChar char="•"/>
            </a:pPr>
            <a:r>
              <a:rPr lang="en-US" sz="2000"/>
              <a:t>Now if you try again, it’ll be a lot faster!</a:t>
            </a:r>
            <a:endParaRPr sz="2000"/>
          </a:p>
          <a:p>
            <a:pPr indent="-355600" lvl="2" marL="1371600" rtl="0" algn="l">
              <a:spcBef>
                <a:spcPts val="0"/>
              </a:spcBef>
              <a:spcAft>
                <a:spcPts val="0"/>
              </a:spcAft>
              <a:buSzPts val="2000"/>
              <a:buChar char="•"/>
            </a:pPr>
            <a:r>
              <a:rPr lang="en-US" sz="2000"/>
              <a:t>Notice that the rank is wrong now and we don’t bother to change it (too costly and not enough benefit)</a:t>
            </a:r>
            <a:endParaRPr sz="2000"/>
          </a:p>
          <a:p>
            <a:pPr indent="-355600" lvl="0" marL="457200" rtl="0" algn="l">
              <a:spcBef>
                <a:spcPts val="0"/>
              </a:spcBef>
              <a:spcAft>
                <a:spcPts val="0"/>
              </a:spcAft>
              <a:buSzPts val="2000"/>
              <a:buChar char="•"/>
            </a:pPr>
            <a:r>
              <a:rPr lang="en-US" sz="2000"/>
              <a:t>Try “1 tree of rank 4” example and do FindSet(0)!</a:t>
            </a:r>
            <a:endParaRPr sz="2000"/>
          </a:p>
          <a:p>
            <a:pPr indent="-355600" lvl="1" marL="914400" rtl="0" algn="l">
              <a:spcBef>
                <a:spcPts val="0"/>
              </a:spcBef>
              <a:spcAft>
                <a:spcPts val="0"/>
              </a:spcAft>
              <a:buSzPts val="2000"/>
              <a:buChar char="•"/>
            </a:pPr>
            <a:r>
              <a:rPr lang="en-US" sz="2000"/>
              <a:t>You’ll see path-compression in action!</a:t>
            </a:r>
            <a:endParaRPr sz="2000"/>
          </a:p>
        </p:txBody>
      </p:sp>
      <p:sp>
        <p:nvSpPr>
          <p:cNvPr id="271" name="Google Shape;271;g380c4f9b096_0_85"/>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5"/>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pic>
        <p:nvPicPr>
          <p:cNvPr id="272" name="Google Shape;272;g380c4f9b096_0_85"/>
          <p:cNvPicPr preferRelativeResize="0"/>
          <p:nvPr/>
        </p:nvPicPr>
        <p:blipFill>
          <a:blip r:embed="rId6">
            <a:alphaModFix/>
          </a:blip>
          <a:stretch>
            <a:fillRect/>
          </a:stretch>
        </p:blipFill>
        <p:spPr>
          <a:xfrm>
            <a:off x="6223375" y="4592325"/>
            <a:ext cx="5968626" cy="2265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80c4f9b096_0_61"/>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IsSameSet(i, j)</a:t>
            </a:r>
            <a:endParaRPr/>
          </a:p>
        </p:txBody>
      </p:sp>
      <p:sp>
        <p:nvSpPr>
          <p:cNvPr id="279" name="Google Shape;279;g380c4f9b096_0_61"/>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Easy!</a:t>
            </a:r>
            <a:endParaRPr sz="2000"/>
          </a:p>
          <a:p>
            <a:pPr indent="-355600" lvl="0" marL="457200" rtl="0" algn="l">
              <a:lnSpc>
                <a:spcPct val="100000"/>
              </a:lnSpc>
              <a:spcBef>
                <a:spcPts val="0"/>
              </a:spcBef>
              <a:spcAft>
                <a:spcPts val="0"/>
              </a:spcAft>
              <a:buSzPts val="2000"/>
              <a:buChar char="•"/>
            </a:pPr>
            <a:r>
              <a:rPr lang="en-US" sz="2000"/>
              <a:t>Check if FindSet(i) == FindSet(j) or not!</a:t>
            </a:r>
            <a:endParaRPr sz="2000"/>
          </a:p>
          <a:p>
            <a:pPr indent="-355600" lvl="0" marL="457200" rtl="0" algn="l">
              <a:lnSpc>
                <a:spcPct val="100000"/>
              </a:lnSpc>
              <a:spcBef>
                <a:spcPts val="0"/>
              </a:spcBef>
              <a:spcAft>
                <a:spcPts val="0"/>
              </a:spcAft>
              <a:buSzPts val="2000"/>
              <a:buChar char="•"/>
            </a:pPr>
            <a:r>
              <a:rPr lang="en-US" sz="2000"/>
              <a:t>Notice that it </a:t>
            </a:r>
            <a:r>
              <a:rPr lang="en-US" sz="2000"/>
              <a:t>implicitly</a:t>
            </a:r>
            <a:r>
              <a:rPr lang="en-US" sz="2000"/>
              <a:t> uses the path-compression as FindSet() is used</a:t>
            </a:r>
            <a:endParaRPr sz="2000"/>
          </a:p>
          <a:p>
            <a:pPr indent="-355600" lvl="0" marL="457200" rtl="0" algn="l">
              <a:lnSpc>
                <a:spcPct val="100000"/>
              </a:lnSpc>
              <a:spcBef>
                <a:spcPts val="0"/>
              </a:spcBef>
              <a:spcAft>
                <a:spcPts val="0"/>
              </a:spcAft>
              <a:buSzPts val="2000"/>
              <a:buChar char="•"/>
            </a:pPr>
            <a:r>
              <a:rPr lang="en-US" sz="2000"/>
              <a:t>Used extensively in Kruskal’s MST (Minimum Spanning Tree) algorithm (We will cover that in a future workshop!)</a:t>
            </a:r>
            <a:endParaRPr sz="2000"/>
          </a:p>
          <a:p>
            <a:pPr indent="-355600" lvl="0" marL="457200" rtl="0" algn="l">
              <a:lnSpc>
                <a:spcPct val="100000"/>
              </a:lnSpc>
              <a:spcBef>
                <a:spcPts val="0"/>
              </a:spcBef>
              <a:spcAft>
                <a:spcPts val="0"/>
              </a:spcAft>
              <a:buSzPts val="2000"/>
              <a:buChar char="•"/>
            </a:pPr>
            <a:r>
              <a:rPr lang="en-US" sz="2000"/>
              <a:t>We assume that it also runs in O(1)</a:t>
            </a:r>
            <a:endParaRPr sz="2000"/>
          </a:p>
          <a:p>
            <a:pPr indent="0" lvl="0" marL="457200" rtl="0" algn="l">
              <a:lnSpc>
                <a:spcPct val="100000"/>
              </a:lnSpc>
              <a:spcBef>
                <a:spcPts val="0"/>
              </a:spcBef>
              <a:spcAft>
                <a:spcPts val="0"/>
              </a:spcAft>
              <a:buNone/>
            </a:pPr>
            <a:r>
              <a:t/>
            </a:r>
            <a:endParaRPr sz="2000"/>
          </a:p>
          <a:p>
            <a:pPr indent="-355600" lvl="0" marL="457200" rtl="0" algn="l">
              <a:lnSpc>
                <a:spcPct val="100000"/>
              </a:lnSpc>
              <a:spcBef>
                <a:spcPts val="0"/>
              </a:spcBef>
              <a:spcAft>
                <a:spcPts val="0"/>
              </a:spcAft>
              <a:buSzPts val="2000"/>
              <a:buChar char="•"/>
            </a:pPr>
            <a:r>
              <a:rPr lang="en-US" sz="2000"/>
              <a:t>Let’s see it in action using example “4 sets”!</a:t>
            </a:r>
            <a:endParaRPr sz="2000"/>
          </a:p>
          <a:p>
            <a:pPr indent="-355600" lvl="1" marL="914400" rtl="0" algn="l">
              <a:spcBef>
                <a:spcPts val="0"/>
              </a:spcBef>
              <a:spcAft>
                <a:spcPts val="0"/>
              </a:spcAft>
              <a:buSzPts val="2000"/>
              <a:buChar char="•"/>
            </a:pPr>
            <a:r>
              <a:rPr lang="en-US" sz="2000" u="sng">
                <a:solidFill>
                  <a:schemeClr val="hlink"/>
                </a:solidFill>
                <a:hlinkClick r:id="rId3"/>
              </a:rPr>
              <a:t>https://visualgo.net/en/ufds</a:t>
            </a:r>
            <a:endParaRPr sz="2000"/>
          </a:p>
          <a:p>
            <a:pPr indent="-355600" lvl="1" marL="914400" rtl="0" algn="l">
              <a:spcBef>
                <a:spcPts val="0"/>
              </a:spcBef>
              <a:spcAft>
                <a:spcPts val="0"/>
              </a:spcAft>
              <a:buSzPts val="2000"/>
              <a:buChar char="•"/>
            </a:pPr>
            <a:r>
              <a:rPr lang="en-US" sz="2000"/>
              <a:t>Try IsSameSet(3, 5)</a:t>
            </a:r>
            <a:endParaRPr sz="2000"/>
          </a:p>
          <a:p>
            <a:pPr indent="-355600" lvl="2" marL="1371600" rtl="0" algn="l">
              <a:spcBef>
                <a:spcPts val="0"/>
              </a:spcBef>
              <a:spcAft>
                <a:spcPts val="0"/>
              </a:spcAft>
              <a:buSzPts val="2000"/>
              <a:buChar char="•"/>
            </a:pPr>
            <a:r>
              <a:rPr lang="en-US" sz="2000"/>
              <a:t>We get False</a:t>
            </a:r>
            <a:endParaRPr sz="2000"/>
          </a:p>
          <a:p>
            <a:pPr indent="-355600" lvl="1" marL="914400" rtl="0" algn="l">
              <a:spcBef>
                <a:spcPts val="0"/>
              </a:spcBef>
              <a:spcAft>
                <a:spcPts val="0"/>
              </a:spcAft>
              <a:buSzPts val="2000"/>
              <a:buChar char="•"/>
            </a:pPr>
            <a:r>
              <a:rPr lang="en-US" sz="2000"/>
              <a:t>Try IsSameSet(0, 11)</a:t>
            </a:r>
            <a:endParaRPr sz="2000"/>
          </a:p>
          <a:p>
            <a:pPr indent="-355600" lvl="2" marL="1371600" rtl="0" algn="l">
              <a:spcBef>
                <a:spcPts val="0"/>
              </a:spcBef>
              <a:spcAft>
                <a:spcPts val="0"/>
              </a:spcAft>
              <a:buSzPts val="2000"/>
              <a:buChar char="•"/>
            </a:pPr>
            <a:r>
              <a:rPr lang="en-US" sz="2000"/>
              <a:t>We see path compression and we get False as well!</a:t>
            </a:r>
            <a:endParaRPr sz="2000"/>
          </a:p>
        </p:txBody>
      </p:sp>
      <p:sp>
        <p:nvSpPr>
          <p:cNvPr id="280" name="Google Shape;280;g380c4f9b096_0_6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5"/>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80c4f9b096_0_69"/>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UnionSet(i, j)</a:t>
            </a:r>
            <a:endParaRPr/>
          </a:p>
        </p:txBody>
      </p:sp>
      <p:sp>
        <p:nvSpPr>
          <p:cNvPr id="287" name="Google Shape;287;g380c4f9b096_0_69"/>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Unite a disjoint set that contains item i with a different disjoint set that contains item j</a:t>
            </a:r>
            <a:endParaRPr sz="2000"/>
          </a:p>
          <a:p>
            <a:pPr indent="-355600" lvl="1" marL="914400" rtl="0" algn="l">
              <a:lnSpc>
                <a:spcPct val="100000"/>
              </a:lnSpc>
              <a:spcBef>
                <a:spcPts val="0"/>
              </a:spcBef>
              <a:spcAft>
                <a:spcPts val="0"/>
              </a:spcAft>
              <a:buSzPts val="2000"/>
              <a:buChar char="•"/>
            </a:pPr>
            <a:r>
              <a:rPr lang="en-US" sz="2000"/>
              <a:t>i.e. let x = findSet(i), y = findSet(j), and x != y</a:t>
            </a:r>
            <a:endParaRPr sz="2000"/>
          </a:p>
          <a:p>
            <a:pPr indent="-355600" lvl="0" marL="457200" rtl="0" algn="l">
              <a:lnSpc>
                <a:spcPct val="100000"/>
              </a:lnSpc>
              <a:spcBef>
                <a:spcPts val="0"/>
              </a:spcBef>
              <a:spcAft>
                <a:spcPts val="0"/>
              </a:spcAft>
              <a:buSzPts val="2000"/>
              <a:buChar char="•"/>
            </a:pPr>
            <a:r>
              <a:rPr lang="en-US" sz="2000"/>
              <a:t>Check ranks to make shortest tree possible, we want to link the shorter disjoint set to the representative item of the taller disjoint set.</a:t>
            </a:r>
            <a:endParaRPr sz="2000"/>
          </a:p>
          <a:p>
            <a:pPr indent="-355600" lvl="1" marL="914400" rtl="0" algn="l">
              <a:lnSpc>
                <a:spcPct val="100000"/>
              </a:lnSpc>
              <a:spcBef>
                <a:spcPts val="0"/>
              </a:spcBef>
              <a:spcAft>
                <a:spcPts val="0"/>
              </a:spcAft>
              <a:buSzPts val="2000"/>
              <a:buChar char="•"/>
            </a:pPr>
            <a:r>
              <a:rPr lang="en-US" sz="2000"/>
              <a:t>if rank[x] &gt; rank[y]</a:t>
            </a:r>
            <a:endParaRPr sz="2000"/>
          </a:p>
          <a:p>
            <a:pPr indent="-355600" lvl="2" marL="1371600" rtl="0" algn="l">
              <a:lnSpc>
                <a:spcPct val="100000"/>
              </a:lnSpc>
              <a:spcBef>
                <a:spcPts val="0"/>
              </a:spcBef>
              <a:spcAft>
                <a:spcPts val="0"/>
              </a:spcAft>
              <a:buSzPts val="2000"/>
              <a:buChar char="•"/>
            </a:pPr>
            <a:r>
              <a:rPr lang="en-US" sz="2000"/>
              <a:t>swap x and y </a:t>
            </a:r>
            <a:endParaRPr sz="2000"/>
          </a:p>
          <a:p>
            <a:pPr indent="-355600" lvl="1" marL="914400" rtl="0" algn="l">
              <a:lnSpc>
                <a:spcPct val="100000"/>
              </a:lnSpc>
              <a:spcBef>
                <a:spcPts val="0"/>
              </a:spcBef>
              <a:spcAft>
                <a:spcPts val="0"/>
              </a:spcAft>
              <a:buSzPts val="2000"/>
              <a:buChar char="•"/>
            </a:pPr>
            <a:r>
              <a:rPr lang="en-US" sz="2000"/>
              <a:t>if rank[x] &lt; rank[y]</a:t>
            </a:r>
            <a:endParaRPr sz="2000"/>
          </a:p>
          <a:p>
            <a:pPr indent="-355600" lvl="2" marL="1371600" rtl="0" algn="l">
              <a:lnSpc>
                <a:spcPct val="100000"/>
              </a:lnSpc>
              <a:spcBef>
                <a:spcPts val="0"/>
              </a:spcBef>
              <a:spcAft>
                <a:spcPts val="0"/>
              </a:spcAft>
              <a:buSzPts val="2000"/>
              <a:buChar char="•"/>
            </a:pPr>
            <a:r>
              <a:rPr lang="en-US" sz="2000"/>
              <a:t>Set representative item of shorter tree to be child of representative item of taller tree</a:t>
            </a:r>
            <a:endParaRPr sz="2000"/>
          </a:p>
          <a:p>
            <a:pPr indent="-355600" lvl="2" marL="1371600" rtl="0" algn="l">
              <a:lnSpc>
                <a:spcPct val="100000"/>
              </a:lnSpc>
              <a:spcBef>
                <a:spcPts val="0"/>
              </a:spcBef>
              <a:spcAft>
                <a:spcPts val="0"/>
              </a:spcAft>
              <a:buSzPts val="2000"/>
              <a:buChar char="•"/>
            </a:pPr>
            <a:r>
              <a:rPr lang="en-US" sz="2000"/>
              <a:t>Note that the rank is preserved</a:t>
            </a:r>
            <a:endParaRPr sz="2000"/>
          </a:p>
          <a:p>
            <a:pPr indent="-355600" lvl="1" marL="914400" rtl="0" algn="l">
              <a:lnSpc>
                <a:spcPct val="100000"/>
              </a:lnSpc>
              <a:spcBef>
                <a:spcPts val="0"/>
              </a:spcBef>
              <a:spcAft>
                <a:spcPts val="0"/>
              </a:spcAft>
              <a:buSzPts val="2000"/>
              <a:buChar char="•"/>
            </a:pPr>
            <a:r>
              <a:rPr lang="en-US" sz="2000"/>
              <a:t>if rank[x] == rank[y]</a:t>
            </a:r>
            <a:endParaRPr sz="2000"/>
          </a:p>
          <a:p>
            <a:pPr indent="-355600" lvl="2" marL="1371600" rtl="0" algn="l">
              <a:lnSpc>
                <a:spcPct val="100000"/>
              </a:lnSpc>
              <a:spcBef>
                <a:spcPts val="0"/>
              </a:spcBef>
              <a:spcAft>
                <a:spcPts val="0"/>
              </a:spcAft>
              <a:buSzPts val="2000"/>
              <a:buChar char="•"/>
            </a:pPr>
            <a:r>
              <a:rPr lang="en-US" sz="2000"/>
              <a:t>Choose either to be the new parent, then add 1 to the rank</a:t>
            </a:r>
            <a:endParaRPr sz="2000"/>
          </a:p>
          <a:p>
            <a:pPr indent="-355600" lvl="0" marL="457200" rtl="0" algn="l">
              <a:lnSpc>
                <a:spcPct val="100000"/>
              </a:lnSpc>
              <a:spcBef>
                <a:spcPts val="0"/>
              </a:spcBef>
              <a:spcAft>
                <a:spcPts val="0"/>
              </a:spcAft>
              <a:buSzPts val="2000"/>
              <a:buChar char="•"/>
            </a:pPr>
            <a:r>
              <a:rPr lang="en-US" sz="2000"/>
              <a:t>We assume that it runs in O(1)</a:t>
            </a:r>
            <a:endParaRPr sz="2000"/>
          </a:p>
          <a:p>
            <a:pPr indent="-355600" lvl="1" marL="914400" rtl="0" algn="l">
              <a:lnSpc>
                <a:spcPct val="100000"/>
              </a:lnSpc>
              <a:spcBef>
                <a:spcPts val="0"/>
              </a:spcBef>
              <a:spcAft>
                <a:spcPts val="0"/>
              </a:spcAft>
              <a:buSzPts val="2000"/>
              <a:buChar char="•"/>
            </a:pPr>
            <a:r>
              <a:rPr lang="en-US" sz="2000"/>
              <a:t>Note </a:t>
            </a:r>
            <a:r>
              <a:rPr lang="en-US" sz="2000"/>
              <a:t>that</a:t>
            </a:r>
            <a:r>
              <a:rPr lang="en-US" sz="2000"/>
              <a:t> this also uses FindSet() and hence path-compression</a:t>
            </a:r>
            <a:endParaRPr sz="2000"/>
          </a:p>
        </p:txBody>
      </p:sp>
      <p:sp>
        <p:nvSpPr>
          <p:cNvPr id="288" name="Google Shape;288;g380c4f9b096_0_69"/>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3"/>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80c4f9b096_0_101"/>
          <p:cNvSpPr txBox="1"/>
          <p:nvPr>
            <p:ph type="title"/>
          </p:nvPr>
        </p:nvSpPr>
        <p:spPr>
          <a:xfrm>
            <a:off x="1728874" y="228425"/>
            <a:ext cx="87630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UnionSet(i, j) Example</a:t>
            </a:r>
            <a:endParaRPr/>
          </a:p>
        </p:txBody>
      </p:sp>
      <p:sp>
        <p:nvSpPr>
          <p:cNvPr id="295" name="Google Shape;295;g380c4f9b096_0_101"/>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Let’s see it in action using example “4 sets”!</a:t>
            </a:r>
            <a:endParaRPr sz="2000"/>
          </a:p>
          <a:p>
            <a:pPr indent="-355600" lvl="1" marL="914400" rtl="0" algn="l">
              <a:spcBef>
                <a:spcPts val="0"/>
              </a:spcBef>
              <a:spcAft>
                <a:spcPts val="0"/>
              </a:spcAft>
              <a:buSzPts val="2000"/>
              <a:buChar char="•"/>
            </a:pPr>
            <a:r>
              <a:rPr lang="en-US" sz="2000" u="sng">
                <a:solidFill>
                  <a:schemeClr val="hlink"/>
                </a:solidFill>
                <a:hlinkClick r:id="rId3"/>
              </a:rPr>
              <a:t>https://visualgo.net/en/ufds</a:t>
            </a:r>
            <a:endParaRPr sz="2000"/>
          </a:p>
          <a:p>
            <a:pPr indent="-355600" lvl="1" marL="914400" rtl="0" algn="l">
              <a:spcBef>
                <a:spcPts val="0"/>
              </a:spcBef>
              <a:spcAft>
                <a:spcPts val="0"/>
              </a:spcAft>
              <a:buSzPts val="2000"/>
              <a:buChar char="•"/>
            </a:pPr>
            <a:r>
              <a:rPr lang="en-US" sz="2000"/>
              <a:t>Try UnionSet(9, 12)</a:t>
            </a:r>
            <a:endParaRPr sz="2000"/>
          </a:p>
          <a:p>
            <a:pPr indent="-355600" lvl="2" marL="1371600" rtl="0" algn="l">
              <a:spcBef>
                <a:spcPts val="0"/>
              </a:spcBef>
              <a:spcAft>
                <a:spcPts val="0"/>
              </a:spcAft>
              <a:buSzPts val="2000"/>
              <a:buChar char="•"/>
            </a:pPr>
            <a:r>
              <a:rPr lang="en-US" sz="2000"/>
              <a:t>Shorter disjoint set {12} is slotter under vertex 6 without increasing height of combined tree</a:t>
            </a:r>
            <a:endParaRPr sz="2000"/>
          </a:p>
          <a:p>
            <a:pPr indent="-355600" lvl="1" marL="914400" rtl="0" algn="l">
              <a:spcBef>
                <a:spcPts val="0"/>
              </a:spcBef>
              <a:spcAft>
                <a:spcPts val="0"/>
              </a:spcAft>
              <a:buSzPts val="2000"/>
              <a:buChar char="•"/>
            </a:pPr>
            <a:r>
              <a:rPr lang="en-US" sz="2000"/>
              <a:t>Try UnionSet(0, 11)</a:t>
            </a:r>
            <a:endParaRPr sz="2000"/>
          </a:p>
          <a:p>
            <a:pPr indent="-355600" lvl="2" marL="1371600" rtl="0" algn="l">
              <a:spcBef>
                <a:spcPts val="0"/>
              </a:spcBef>
              <a:spcAft>
                <a:spcPts val="0"/>
              </a:spcAft>
              <a:buSzPts val="2000"/>
              <a:buChar char="•"/>
            </a:pPr>
            <a:r>
              <a:rPr lang="en-US" sz="2000"/>
              <a:t>Notice ranks that the of vertex 3 and vertex 5 are the same (rank[3] = rank[5] = 2)</a:t>
            </a:r>
            <a:endParaRPr sz="2000"/>
          </a:p>
          <a:p>
            <a:pPr indent="-355600" lvl="2" marL="1371600" rtl="0" algn="l">
              <a:spcBef>
                <a:spcPts val="0"/>
              </a:spcBef>
              <a:spcAft>
                <a:spcPts val="0"/>
              </a:spcAft>
              <a:buSzPts val="2000"/>
              <a:buChar char="•"/>
            </a:pPr>
            <a:r>
              <a:rPr lang="en-US" sz="2000"/>
              <a:t>We can then choose either to be the new parent</a:t>
            </a:r>
            <a:endParaRPr sz="2000"/>
          </a:p>
          <a:p>
            <a:pPr indent="-355600" lvl="2" marL="1371600" rtl="0" algn="l">
              <a:spcBef>
                <a:spcPts val="0"/>
              </a:spcBef>
              <a:spcAft>
                <a:spcPts val="0"/>
              </a:spcAft>
              <a:buSzPts val="2000"/>
              <a:buChar char="•"/>
            </a:pPr>
            <a:r>
              <a:rPr lang="en-US" sz="2000"/>
              <a:t>The resulting height of the combined tree will increase by 1</a:t>
            </a:r>
            <a:endParaRPr sz="2000"/>
          </a:p>
          <a:p>
            <a:pPr indent="-355600" lvl="2" marL="1371600" rtl="0" algn="l">
              <a:spcBef>
                <a:spcPts val="0"/>
              </a:spcBef>
              <a:spcAft>
                <a:spcPts val="0"/>
              </a:spcAft>
              <a:buSzPts val="2000"/>
              <a:buChar char="•"/>
            </a:pPr>
            <a:r>
              <a:rPr lang="en-US" sz="2000"/>
              <a:t>Notice the indirect path-compression in action!</a:t>
            </a:r>
            <a:endParaRPr sz="2000"/>
          </a:p>
        </p:txBody>
      </p:sp>
      <p:sp>
        <p:nvSpPr>
          <p:cNvPr id="296" name="Google Shape;296;g380c4f9b096_0_10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5"/>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80c4f9b096_0_121"/>
          <p:cNvSpPr txBox="1"/>
          <p:nvPr>
            <p:ph type="title"/>
          </p:nvPr>
        </p:nvSpPr>
        <p:spPr>
          <a:xfrm>
            <a:off x="1728874" y="228425"/>
            <a:ext cx="87630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Code</a:t>
            </a:r>
            <a:endParaRPr/>
          </a:p>
        </p:txBody>
      </p:sp>
      <p:sp>
        <p:nvSpPr>
          <p:cNvPr id="303" name="Google Shape;303;g380c4f9b096_0_121"/>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You can get the textbook’s implementation for Java, C++, Python, and ml at the following link:</a:t>
            </a:r>
            <a:endParaRPr sz="2000"/>
          </a:p>
          <a:p>
            <a:pPr indent="-355600" lvl="1" marL="914400" rtl="0" algn="l">
              <a:spcBef>
                <a:spcPts val="0"/>
              </a:spcBef>
              <a:spcAft>
                <a:spcPts val="0"/>
              </a:spcAft>
              <a:buSzPts val="2000"/>
              <a:buChar char="•"/>
            </a:pPr>
            <a:r>
              <a:rPr lang="en-US" sz="2000" u="sng">
                <a:solidFill>
                  <a:schemeClr val="hlink"/>
                </a:solidFill>
                <a:hlinkClick r:id="rId3"/>
              </a:rPr>
              <a:t>https://github.com/stevenhalim/cpbook-code/tree/master/ch2/ourown</a:t>
            </a:r>
            <a:r>
              <a:rPr lang="en-US" sz="2000"/>
              <a:t> </a:t>
            </a:r>
            <a:endParaRPr sz="2000"/>
          </a:p>
        </p:txBody>
      </p:sp>
      <p:sp>
        <p:nvSpPr>
          <p:cNvPr id="304" name="Google Shape;304;g380c4f9b096_0_12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5"/>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380c4f9b096_0_109"/>
          <p:cNvSpPr txBox="1"/>
          <p:nvPr>
            <p:ph type="title"/>
          </p:nvPr>
        </p:nvSpPr>
        <p:spPr>
          <a:xfrm>
            <a:off x="1728874" y="228425"/>
            <a:ext cx="87630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N</a:t>
            </a:r>
            <a:r>
              <a:rPr lang="en-US"/>
              <a:t>umDisjointSets()</a:t>
            </a:r>
            <a:endParaRPr/>
          </a:p>
        </p:txBody>
      </p:sp>
      <p:sp>
        <p:nvSpPr>
          <p:cNvPr id="311" name="Google Shape;311;g380c4f9b096_0_109"/>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R</a:t>
            </a:r>
            <a:r>
              <a:rPr lang="en-US" sz="2000"/>
              <a:t>eturns the number of disjoint sets currently in the UFDS data structure</a:t>
            </a:r>
            <a:endParaRPr sz="2000"/>
          </a:p>
          <a:p>
            <a:pPr indent="-355600" lvl="0" marL="457200" rtl="0" algn="l">
              <a:spcBef>
                <a:spcPts val="0"/>
              </a:spcBef>
              <a:spcAft>
                <a:spcPts val="0"/>
              </a:spcAft>
              <a:buSzPts val="2000"/>
              <a:buChar char="•"/>
            </a:pPr>
            <a:r>
              <a:rPr lang="en-US" sz="2000"/>
              <a:t>Add one more internal counter variable </a:t>
            </a:r>
            <a:r>
              <a:rPr b="1" lang="en-US" sz="2000"/>
              <a:t>numSets</a:t>
            </a:r>
            <a:r>
              <a:rPr lang="en-US" sz="2000"/>
              <a:t> </a:t>
            </a:r>
            <a:endParaRPr sz="2000"/>
          </a:p>
          <a:p>
            <a:pPr indent="-355600" lvl="1" marL="914400" rtl="0" algn="l">
              <a:spcBef>
                <a:spcPts val="0"/>
              </a:spcBef>
              <a:spcAft>
                <a:spcPts val="0"/>
              </a:spcAft>
              <a:buSzPts val="2000"/>
              <a:buChar char="•"/>
            </a:pPr>
            <a:r>
              <a:rPr b="1" lang="en-US" sz="2000"/>
              <a:t>numSets</a:t>
            </a:r>
            <a:r>
              <a:rPr lang="en-US" sz="2000"/>
              <a:t> is initially set to </a:t>
            </a:r>
            <a:r>
              <a:rPr b="1" lang="en-US" sz="2000"/>
              <a:t>N</a:t>
            </a:r>
            <a:r>
              <a:rPr lang="en-US" sz="2000"/>
              <a:t> </a:t>
            </a:r>
            <a:endParaRPr sz="2000"/>
          </a:p>
          <a:p>
            <a:pPr indent="-355600" lvl="1" marL="914400" rtl="0" algn="l">
              <a:spcBef>
                <a:spcPts val="0"/>
              </a:spcBef>
              <a:spcAft>
                <a:spcPts val="0"/>
              </a:spcAft>
              <a:buSzPts val="2000"/>
              <a:buChar char="•"/>
            </a:pPr>
            <a:r>
              <a:rPr lang="en-US" sz="2000"/>
              <a:t>Reduce </a:t>
            </a:r>
            <a:r>
              <a:rPr b="1" lang="en-US" sz="2000"/>
              <a:t>numSets</a:t>
            </a:r>
            <a:r>
              <a:rPr lang="en-US" sz="2000"/>
              <a:t> by one every time a successful </a:t>
            </a:r>
            <a:r>
              <a:rPr b="1" lang="en-US" sz="2000"/>
              <a:t>unionSet(i, j)</a:t>
            </a:r>
            <a:r>
              <a:rPr lang="en-US" sz="2000"/>
              <a:t> is performed</a:t>
            </a:r>
            <a:endParaRPr sz="2000"/>
          </a:p>
          <a:p>
            <a:pPr indent="-355600" lvl="0" marL="457200" rtl="0" algn="l">
              <a:spcBef>
                <a:spcPts val="0"/>
              </a:spcBef>
              <a:spcAft>
                <a:spcPts val="0"/>
              </a:spcAft>
              <a:buSzPts val="2000"/>
              <a:buChar char="•"/>
            </a:pPr>
            <a:r>
              <a:rPr lang="en-US" sz="2000"/>
              <a:t>Return </a:t>
            </a:r>
            <a:r>
              <a:rPr b="1" lang="en-US" sz="2000"/>
              <a:t>numSets</a:t>
            </a:r>
            <a:r>
              <a:rPr lang="en-US" sz="2000"/>
              <a:t> when called</a:t>
            </a:r>
            <a:endParaRPr sz="2000"/>
          </a:p>
        </p:txBody>
      </p:sp>
      <p:sp>
        <p:nvSpPr>
          <p:cNvPr id="312" name="Google Shape;312;g380c4f9b096_0_109"/>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380c4f9b096_0_130"/>
          <p:cNvSpPr txBox="1"/>
          <p:nvPr>
            <p:ph type="title"/>
          </p:nvPr>
        </p:nvSpPr>
        <p:spPr>
          <a:xfrm>
            <a:off x="1728874" y="228425"/>
            <a:ext cx="87630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S</a:t>
            </a:r>
            <a:r>
              <a:rPr lang="en-US"/>
              <a:t>izeOfSet(i)</a:t>
            </a:r>
            <a:endParaRPr/>
          </a:p>
        </p:txBody>
      </p:sp>
      <p:sp>
        <p:nvSpPr>
          <p:cNvPr id="319" name="Google Shape;319;g380c4f9b096_0_130"/>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R</a:t>
            </a:r>
            <a:r>
              <a:rPr lang="en-US" sz="2000"/>
              <a:t>eturns the number of items (including item i) that the set that contains item i has</a:t>
            </a:r>
            <a:endParaRPr sz="2000"/>
          </a:p>
          <a:p>
            <a:pPr indent="-355600" lvl="0" marL="457200" rtl="0" algn="l">
              <a:spcBef>
                <a:spcPts val="0"/>
              </a:spcBef>
              <a:spcAft>
                <a:spcPts val="0"/>
              </a:spcAft>
              <a:buSzPts val="2000"/>
              <a:buChar char="•"/>
            </a:pPr>
            <a:r>
              <a:rPr lang="en-US" sz="2000"/>
              <a:t>Create additional integer array </a:t>
            </a:r>
            <a:r>
              <a:rPr b="1" lang="en-US" sz="2000"/>
              <a:t>setSize</a:t>
            </a:r>
            <a:r>
              <a:rPr lang="en-US" sz="2000"/>
              <a:t> of size </a:t>
            </a:r>
            <a:r>
              <a:rPr b="1" lang="en-US" sz="2000"/>
              <a:t>N</a:t>
            </a:r>
            <a:endParaRPr b="1" sz="2000"/>
          </a:p>
          <a:p>
            <a:pPr indent="-355600" lvl="1" marL="914400" rtl="0" algn="l">
              <a:spcBef>
                <a:spcPts val="0"/>
              </a:spcBef>
              <a:spcAft>
                <a:spcPts val="0"/>
              </a:spcAft>
              <a:buSzPts val="2000"/>
              <a:buChar char="•"/>
            </a:pPr>
            <a:r>
              <a:rPr lang="en-US" sz="2000"/>
              <a:t>Initialize all disjoint sets to have size 1 initially. </a:t>
            </a:r>
            <a:endParaRPr sz="2000"/>
          </a:p>
          <a:p>
            <a:pPr indent="-355600" lvl="1" marL="914400" rtl="0" algn="l">
              <a:spcBef>
                <a:spcPts val="0"/>
              </a:spcBef>
              <a:spcAft>
                <a:spcPts val="0"/>
              </a:spcAft>
              <a:buSzPts val="2000"/>
              <a:buChar char="•"/>
            </a:pPr>
            <a:r>
              <a:rPr lang="en-US" sz="2000"/>
              <a:t>Whenever a successful </a:t>
            </a:r>
            <a:r>
              <a:rPr b="1" lang="en-US" sz="2000"/>
              <a:t>unionSet(i, j)</a:t>
            </a:r>
            <a:r>
              <a:rPr lang="en-US" sz="2000"/>
              <a:t> is performed, sum the two sizes of the sets and store the information in the representative item of the combined set.</a:t>
            </a:r>
            <a:endParaRPr sz="2000"/>
          </a:p>
          <a:p>
            <a:pPr indent="-355600" lvl="0" marL="457200" rtl="0" algn="l">
              <a:spcBef>
                <a:spcPts val="0"/>
              </a:spcBef>
              <a:spcAft>
                <a:spcPts val="0"/>
              </a:spcAft>
              <a:buSzPts val="2000"/>
              <a:buChar char="•"/>
            </a:pPr>
            <a:r>
              <a:rPr lang="en-US" sz="2000"/>
              <a:t>Return setSize[findSet(i)]</a:t>
            </a:r>
            <a:endParaRPr sz="2000"/>
          </a:p>
        </p:txBody>
      </p:sp>
      <p:sp>
        <p:nvSpPr>
          <p:cNvPr id="320" name="Google Shape;320;g380c4f9b096_0_130"/>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g3816e0e644b_0_158"/>
          <p:cNvSpPr txBox="1"/>
          <p:nvPr>
            <p:ph type="ctrTitle"/>
          </p:nvPr>
        </p:nvSpPr>
        <p:spPr>
          <a:xfrm>
            <a:off x="1600200" y="1124869"/>
            <a:ext cx="8991600" cy="164580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a:t>3.2.1 Iterative Complete Search</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38a82980c7b_2_15"/>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3.2.1 Iterative Complete Search</a:t>
            </a:r>
            <a:endParaRPr/>
          </a:p>
        </p:txBody>
      </p:sp>
      <p:sp>
        <p:nvSpPr>
          <p:cNvPr id="333" name="Google Shape;333;g38a82980c7b_2_15"/>
          <p:cNvSpPr txBox="1"/>
          <p:nvPr>
            <p:ph idx="1" type="body"/>
          </p:nvPr>
        </p:nvSpPr>
        <p:spPr>
          <a:xfrm>
            <a:off x="494675" y="1096825"/>
            <a:ext cx="11231400" cy="4762200"/>
          </a:xfrm>
          <a:prstGeom prst="rect">
            <a:avLst/>
          </a:prstGeom>
          <a:noFill/>
          <a:ln>
            <a:noFill/>
          </a:ln>
        </p:spPr>
        <p:txBody>
          <a:bodyPr anchorCtr="0" anchor="t" bIns="45700" lIns="91425" spcFirstLastPara="1" rIns="91425" wrap="square" tIns="45700">
            <a:normAutofit lnSpcReduction="10000"/>
          </a:bodyPr>
          <a:lstStyle/>
          <a:p>
            <a:pPr indent="-355600" lvl="0" marL="457200" rtl="0" algn="l">
              <a:lnSpc>
                <a:spcPct val="100000"/>
              </a:lnSpc>
              <a:spcBef>
                <a:spcPts val="0"/>
              </a:spcBef>
              <a:spcAft>
                <a:spcPts val="0"/>
              </a:spcAft>
              <a:buSzPts val="2000"/>
              <a:buChar char="•"/>
            </a:pPr>
            <a:r>
              <a:rPr lang="en-US" sz="2000"/>
              <a:t>Iterative Complete Search </a:t>
            </a:r>
            <a:endParaRPr sz="2000"/>
          </a:p>
          <a:p>
            <a:pPr indent="-355600" lvl="1" marL="914400" rtl="0" algn="l">
              <a:lnSpc>
                <a:spcPct val="100000"/>
              </a:lnSpc>
              <a:spcBef>
                <a:spcPts val="0"/>
              </a:spcBef>
              <a:spcAft>
                <a:spcPts val="0"/>
              </a:spcAft>
              <a:buSzPts val="2000"/>
              <a:buChar char="•"/>
            </a:pPr>
            <a:r>
              <a:rPr lang="en-US" sz="2000"/>
              <a:t>Nested Loops</a:t>
            </a:r>
            <a:endParaRPr sz="2000"/>
          </a:p>
          <a:p>
            <a:pPr indent="-355600" lvl="2" marL="1371600" rtl="0" algn="l">
              <a:lnSpc>
                <a:spcPct val="100000"/>
              </a:lnSpc>
              <a:spcBef>
                <a:spcPts val="0"/>
              </a:spcBef>
              <a:spcAft>
                <a:spcPts val="0"/>
              </a:spcAft>
              <a:buSzPts val="2000"/>
              <a:buChar char="•"/>
            </a:pPr>
            <a:r>
              <a:rPr lang="en-US" sz="2000"/>
              <a:t>Try em’ all</a:t>
            </a:r>
            <a:endParaRPr sz="2000"/>
          </a:p>
          <a:p>
            <a:pPr indent="-355600" lvl="1" marL="914400" rtl="0" algn="l">
              <a:lnSpc>
                <a:spcPct val="115000"/>
              </a:lnSpc>
              <a:spcBef>
                <a:spcPts val="0"/>
              </a:spcBef>
              <a:spcAft>
                <a:spcPts val="0"/>
              </a:spcAft>
              <a:buSzPts val="2000"/>
              <a:buChar char="•"/>
            </a:pPr>
            <a:r>
              <a:rPr lang="en-US" sz="2000"/>
              <a:t>Loops + Pruning</a:t>
            </a:r>
            <a:endParaRPr sz="2000"/>
          </a:p>
          <a:p>
            <a:pPr indent="-355600" lvl="2" marL="1371600" rtl="0" algn="l">
              <a:lnSpc>
                <a:spcPct val="115000"/>
              </a:lnSpc>
              <a:spcBef>
                <a:spcPts val="0"/>
              </a:spcBef>
              <a:spcAft>
                <a:spcPts val="0"/>
              </a:spcAft>
              <a:buSzPts val="2000"/>
              <a:buChar char="•"/>
            </a:pPr>
            <a:r>
              <a:rPr lang="en-US" sz="2000"/>
              <a:t>use if statements and short circuiting to skip loops</a:t>
            </a:r>
            <a:endParaRPr sz="2000"/>
          </a:p>
          <a:p>
            <a:pPr indent="-355600" lvl="3" marL="1828800" rtl="0" algn="l">
              <a:lnSpc>
                <a:spcPct val="115000"/>
              </a:lnSpc>
              <a:spcBef>
                <a:spcPts val="0"/>
              </a:spcBef>
              <a:spcAft>
                <a:spcPts val="0"/>
              </a:spcAft>
              <a:buSzPts val="2000"/>
              <a:buChar char="•"/>
            </a:pPr>
            <a:r>
              <a:rPr lang="en-US" sz="2000"/>
              <a:t>bool expressions (X and Y) if X is False then Y isn’t checked</a:t>
            </a:r>
            <a:endParaRPr sz="2000"/>
          </a:p>
          <a:p>
            <a:pPr indent="-355600" lvl="3" marL="1828800" rtl="0" algn="l">
              <a:lnSpc>
                <a:spcPct val="115000"/>
              </a:lnSpc>
              <a:spcBef>
                <a:spcPts val="0"/>
              </a:spcBef>
              <a:spcAft>
                <a:spcPts val="0"/>
              </a:spcAft>
              <a:buSzPts val="2000"/>
              <a:buChar char="•"/>
            </a:pPr>
            <a:r>
              <a:rPr lang="en-US" sz="2000"/>
              <a:t>bool expressions (X or Y) if X is True then Y isn’t checked</a:t>
            </a:r>
            <a:endParaRPr sz="2000"/>
          </a:p>
          <a:p>
            <a:pPr indent="-355600" lvl="2" marL="1371600" rtl="0" algn="l">
              <a:lnSpc>
                <a:spcPct val="115000"/>
              </a:lnSpc>
              <a:spcBef>
                <a:spcPts val="0"/>
              </a:spcBef>
              <a:spcAft>
                <a:spcPts val="0"/>
              </a:spcAft>
              <a:buSzPts val="2000"/>
              <a:buChar char="•"/>
            </a:pPr>
            <a:r>
              <a:rPr lang="en-US" sz="2000"/>
              <a:t>use break/continue to stop/skip loops</a:t>
            </a:r>
            <a:endParaRPr sz="2000"/>
          </a:p>
          <a:p>
            <a:pPr indent="-355600" lvl="1" marL="914400" rtl="0" algn="l">
              <a:lnSpc>
                <a:spcPct val="115000"/>
              </a:lnSpc>
              <a:spcBef>
                <a:spcPts val="0"/>
              </a:spcBef>
              <a:spcAft>
                <a:spcPts val="0"/>
              </a:spcAft>
              <a:buSzPts val="2000"/>
              <a:buChar char="•"/>
            </a:pPr>
            <a:r>
              <a:rPr lang="en-US" sz="2000"/>
              <a:t>Permutations</a:t>
            </a:r>
            <a:endParaRPr sz="2000"/>
          </a:p>
          <a:p>
            <a:pPr indent="-355600" lvl="2" marL="1371600" rtl="0" algn="l">
              <a:lnSpc>
                <a:spcPct val="115000"/>
              </a:lnSpc>
              <a:spcBef>
                <a:spcPts val="0"/>
              </a:spcBef>
              <a:spcAft>
                <a:spcPts val="0"/>
              </a:spcAft>
              <a:buSzPts val="2000"/>
              <a:buChar char="•"/>
            </a:pPr>
            <a:r>
              <a:rPr lang="en-US" sz="2000"/>
              <a:t>C++ use next_permutations</a:t>
            </a:r>
            <a:endParaRPr sz="2000"/>
          </a:p>
          <a:p>
            <a:pPr indent="-355600" lvl="2" marL="1371600" rtl="0" algn="l">
              <a:lnSpc>
                <a:spcPct val="115000"/>
              </a:lnSpc>
              <a:spcBef>
                <a:spcPts val="0"/>
              </a:spcBef>
              <a:spcAft>
                <a:spcPts val="0"/>
              </a:spcAft>
              <a:buSzPts val="2000"/>
              <a:buChar char="•"/>
            </a:pPr>
            <a:r>
              <a:rPr lang="en-US" sz="2000"/>
              <a:t>Python use itertools</a:t>
            </a:r>
            <a:endParaRPr sz="2000"/>
          </a:p>
          <a:p>
            <a:pPr indent="-355600" lvl="1" marL="914400" rtl="0" algn="l">
              <a:lnSpc>
                <a:spcPct val="115000"/>
              </a:lnSpc>
              <a:spcBef>
                <a:spcPts val="0"/>
              </a:spcBef>
              <a:spcAft>
                <a:spcPts val="0"/>
              </a:spcAft>
              <a:buSzPts val="2000"/>
              <a:buChar char="•"/>
            </a:pPr>
            <a:r>
              <a:rPr lang="en-US" sz="2000"/>
              <a:t>Subsets</a:t>
            </a:r>
            <a:endParaRPr sz="2000"/>
          </a:p>
          <a:p>
            <a:pPr indent="-355600" lvl="2" marL="1371600" rtl="0" algn="l">
              <a:lnSpc>
                <a:spcPct val="115000"/>
              </a:lnSpc>
              <a:spcBef>
                <a:spcPts val="0"/>
              </a:spcBef>
              <a:spcAft>
                <a:spcPts val="0"/>
              </a:spcAft>
              <a:buSzPts val="2000"/>
              <a:buChar char="•"/>
            </a:pPr>
            <a:r>
              <a:rPr lang="en-US" sz="2000"/>
              <a:t>use bitmasks</a:t>
            </a:r>
            <a:endParaRPr sz="2000"/>
          </a:p>
          <a:p>
            <a:pPr indent="-355600" lvl="0" marL="457200" rtl="0" algn="l">
              <a:lnSpc>
                <a:spcPct val="115000"/>
              </a:lnSpc>
              <a:spcBef>
                <a:spcPts val="0"/>
              </a:spcBef>
              <a:spcAft>
                <a:spcPts val="0"/>
              </a:spcAft>
              <a:buSzPts val="2000"/>
              <a:buChar char="•"/>
            </a:pPr>
            <a:r>
              <a:rPr lang="en-US" sz="2000"/>
              <a:t>Section 3.2.1 Works through an example for each of the above concepts, take a look!</a:t>
            </a:r>
            <a:endParaRPr sz="2000"/>
          </a:p>
        </p:txBody>
      </p:sp>
      <p:sp>
        <p:nvSpPr>
          <p:cNvPr id="334" name="Google Shape;334;g38a82980c7b_2_15"/>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Competitive Programming 4 section 3.2.1</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8a82980c7b_2_22"/>
          <p:cNvSpPr txBox="1"/>
          <p:nvPr>
            <p:ph type="title"/>
          </p:nvPr>
        </p:nvSpPr>
        <p:spPr>
          <a:xfrm>
            <a:off x="1436225" y="218800"/>
            <a:ext cx="93483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2.2.3 Bitmask – Enumerate all Proper Subsets of a Given Bitmask </a:t>
            </a:r>
            <a:endParaRPr/>
          </a:p>
        </p:txBody>
      </p:sp>
      <p:sp>
        <p:nvSpPr>
          <p:cNvPr id="341" name="Google Shape;341;g38a82980c7b_2_22"/>
          <p:cNvSpPr txBox="1"/>
          <p:nvPr>
            <p:ph idx="1" type="body"/>
          </p:nvPr>
        </p:nvSpPr>
        <p:spPr>
          <a:xfrm>
            <a:off x="494675" y="1096825"/>
            <a:ext cx="11231400" cy="22707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A proper subset of a mask is all the subsets with set bits (including bit 0) that is strictly smaller than the mask</a:t>
            </a:r>
            <a:endParaRPr sz="2000"/>
          </a:p>
          <a:p>
            <a:pPr indent="-355600" lvl="0" marL="457200" rtl="0" algn="l">
              <a:lnSpc>
                <a:spcPct val="100000"/>
              </a:lnSpc>
              <a:spcBef>
                <a:spcPts val="0"/>
              </a:spcBef>
              <a:spcAft>
                <a:spcPts val="0"/>
              </a:spcAft>
              <a:buSzPts val="2000"/>
              <a:buChar char="•"/>
            </a:pPr>
            <a:r>
              <a:rPr lang="en-US" sz="2000"/>
              <a:t>e.g. mask = (11)</a:t>
            </a:r>
            <a:r>
              <a:rPr baseline="-25000" lang="en-US" sz="2000"/>
              <a:t>10</a:t>
            </a:r>
            <a:r>
              <a:rPr lang="en-US" sz="2000"/>
              <a:t> = (1011)</a:t>
            </a:r>
            <a:r>
              <a:rPr baseline="-25000" lang="en-US" sz="2000"/>
              <a:t>2</a:t>
            </a:r>
            <a:r>
              <a:rPr lang="en-US" sz="2000"/>
              <a:t> or {0, 1, 3}</a:t>
            </a:r>
            <a:endParaRPr sz="2000"/>
          </a:p>
        </p:txBody>
      </p:sp>
      <p:sp>
        <p:nvSpPr>
          <p:cNvPr id="342" name="Google Shape;342;g38a82980c7b_2_22"/>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marR="0" rtl="0" algn="l">
              <a:lnSpc>
                <a:spcPct val="100000"/>
              </a:lnSpc>
              <a:spcBef>
                <a:spcPts val="0"/>
              </a:spcBef>
              <a:spcAft>
                <a:spcPts val="0"/>
              </a:spcAft>
              <a:buClr>
                <a:srgbClr val="9BAFB5"/>
              </a:buClr>
              <a:buSzPts val="2000"/>
              <a:buFont typeface="Arial"/>
              <a:buChar char="•"/>
            </a:pPr>
            <a:r>
              <a:rPr b="0" i="0" lang="en-US" sz="2000" u="none" cap="none" strike="noStrike">
                <a:solidFill>
                  <a:srgbClr val="262626"/>
                </a:solidFill>
                <a:latin typeface="Gill Sans"/>
                <a:ea typeface="Gill Sans"/>
                <a:cs typeface="Gill Sans"/>
                <a:sym typeface="Gill Sans"/>
              </a:rPr>
              <a:t>Sources:</a:t>
            </a:r>
            <a:endParaRPr b="0" i="0" sz="2000" u="none" cap="none" strike="noStrike">
              <a:solidFill>
                <a:srgbClr val="262626"/>
              </a:solidFill>
              <a:latin typeface="Gill Sans"/>
              <a:ea typeface="Gill Sans"/>
              <a:cs typeface="Gill Sans"/>
              <a:sym typeface="Gill Sans"/>
            </a:endParaRPr>
          </a:p>
          <a:p>
            <a:pPr indent="-355600" lvl="1" marL="914400" marR="0" rtl="0" algn="l">
              <a:lnSpc>
                <a:spcPct val="100000"/>
              </a:lnSpc>
              <a:spcBef>
                <a:spcPts val="0"/>
              </a:spcBef>
              <a:spcAft>
                <a:spcPts val="0"/>
              </a:spcAft>
              <a:buClr>
                <a:srgbClr val="262626"/>
              </a:buClr>
              <a:buSzPts val="2000"/>
              <a:buFont typeface="Gill Sans"/>
              <a:buChar char="•"/>
            </a:pPr>
            <a:r>
              <a:rPr b="0" i="0" lang="en-US" sz="2000" u="none" cap="none" strike="noStrike">
                <a:solidFill>
                  <a:srgbClr val="262626"/>
                </a:solidFill>
                <a:latin typeface="Gill Sans"/>
                <a:ea typeface="Gill Sans"/>
                <a:cs typeface="Gill Sans"/>
                <a:sym typeface="Gill Sans"/>
              </a:rPr>
              <a:t>Competitive Programming 4 Section 2.2.3</a:t>
            </a:r>
            <a:endParaRPr b="0" i="0" sz="2000" u="none" cap="none" strike="noStrike">
              <a:solidFill>
                <a:srgbClr val="262626"/>
              </a:solidFill>
              <a:latin typeface="Gill Sans"/>
              <a:ea typeface="Gill Sans"/>
              <a:cs typeface="Gill Sans"/>
              <a:sym typeface="Gill Sans"/>
            </a:endParaRPr>
          </a:p>
        </p:txBody>
      </p:sp>
      <p:pic>
        <p:nvPicPr>
          <p:cNvPr id="343" name="Google Shape;343;g38a82980c7b_2_22"/>
          <p:cNvPicPr preferRelativeResize="0"/>
          <p:nvPr/>
        </p:nvPicPr>
        <p:blipFill rotWithShape="1">
          <a:blip r:embed="rId3">
            <a:alphaModFix/>
          </a:blip>
          <a:srcRect b="0" l="0" r="0" t="0"/>
          <a:stretch/>
        </p:blipFill>
        <p:spPr>
          <a:xfrm>
            <a:off x="700900" y="4600216"/>
            <a:ext cx="6883375" cy="878062"/>
          </a:xfrm>
          <a:prstGeom prst="rect">
            <a:avLst/>
          </a:prstGeom>
          <a:noFill/>
          <a:ln>
            <a:noFill/>
          </a:ln>
        </p:spPr>
      </p:pic>
      <p:sp>
        <p:nvSpPr>
          <p:cNvPr id="344" name="Google Shape;344;g38a82980c7b_2_22"/>
          <p:cNvSpPr txBox="1"/>
          <p:nvPr>
            <p:ph idx="1" type="body"/>
          </p:nvPr>
        </p:nvSpPr>
        <p:spPr>
          <a:xfrm>
            <a:off x="700900" y="2102148"/>
            <a:ext cx="1217400" cy="3705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SzPts val="1800"/>
              <a:buNone/>
            </a:pPr>
            <a:r>
              <a:rPr lang="en-US" sz="2000"/>
              <a:t>Python</a:t>
            </a:r>
            <a:endParaRPr sz="2000"/>
          </a:p>
        </p:txBody>
      </p:sp>
      <p:sp>
        <p:nvSpPr>
          <p:cNvPr id="345" name="Google Shape;345;g38a82980c7b_2_22"/>
          <p:cNvSpPr txBox="1"/>
          <p:nvPr>
            <p:ph idx="1" type="body"/>
          </p:nvPr>
        </p:nvSpPr>
        <p:spPr>
          <a:xfrm>
            <a:off x="700900" y="4213248"/>
            <a:ext cx="1217400" cy="3705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SzPts val="1800"/>
              <a:buNone/>
            </a:pPr>
            <a:r>
              <a:rPr lang="en-US" sz="2000"/>
              <a:t>C/C++</a:t>
            </a:r>
            <a:endParaRPr sz="2000"/>
          </a:p>
        </p:txBody>
      </p:sp>
      <p:pic>
        <p:nvPicPr>
          <p:cNvPr id="346" name="Google Shape;346;g38a82980c7b_2_22"/>
          <p:cNvPicPr preferRelativeResize="0"/>
          <p:nvPr/>
        </p:nvPicPr>
        <p:blipFill rotWithShape="1">
          <a:blip r:embed="rId4">
            <a:alphaModFix/>
          </a:blip>
          <a:srcRect b="0" l="0" r="0" t="0"/>
          <a:stretch/>
        </p:blipFill>
        <p:spPr>
          <a:xfrm>
            <a:off x="700900" y="2472641"/>
            <a:ext cx="3545595" cy="1526750"/>
          </a:xfrm>
          <a:prstGeom prst="rect">
            <a:avLst/>
          </a:prstGeom>
          <a:noFill/>
          <a:ln>
            <a:noFill/>
          </a:ln>
        </p:spPr>
      </p:pic>
      <p:sp>
        <p:nvSpPr>
          <p:cNvPr id="347" name="Google Shape;347;g38a82980c7b_2_22"/>
          <p:cNvSpPr txBox="1"/>
          <p:nvPr>
            <p:ph idx="1" type="body"/>
          </p:nvPr>
        </p:nvSpPr>
        <p:spPr>
          <a:xfrm>
            <a:off x="1150925" y="5564599"/>
            <a:ext cx="9918900" cy="5157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1800"/>
              <a:buNone/>
            </a:pPr>
            <a:r>
              <a:rPr lang="en-US" sz="2000"/>
              <a:t>Let’s take a look at the Google Collab file to see more detail on what’s going on…</a:t>
            </a:r>
            <a:endParaRPr sz="2000"/>
          </a:p>
        </p:txBody>
      </p:sp>
      <p:graphicFrame>
        <p:nvGraphicFramePr>
          <p:cNvPr id="348" name="Google Shape;348;g38a82980c7b_2_22"/>
          <p:cNvGraphicFramePr/>
          <p:nvPr/>
        </p:nvGraphicFramePr>
        <p:xfrm>
          <a:off x="8622525" y="1892175"/>
          <a:ext cx="3000000" cy="3000000"/>
        </p:xfrm>
        <a:graphic>
          <a:graphicData uri="http://schemas.openxmlformats.org/drawingml/2006/table">
            <a:tbl>
              <a:tblPr>
                <a:noFill/>
                <a:tableStyleId>{D18316BD-7C57-4478-9AA7-1E6121FCA798}</a:tableStyleId>
              </a:tblPr>
              <a:tblGrid>
                <a:gridCol w="1079050"/>
                <a:gridCol w="1079050"/>
                <a:gridCol w="1079050"/>
              </a:tblGrid>
              <a:tr h="3732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Base 10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Base 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Subset</a:t>
                      </a:r>
                      <a:endParaRPr sz="1400" u="none" cap="none" strike="noStrike"/>
                    </a:p>
                  </a:txBody>
                  <a:tcPr marT="91425" marB="91425" marR="91425" marL="91425"/>
                </a:tc>
              </a:tr>
              <a:tr h="3732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0000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t>
                      </a:r>
                      <a:endParaRPr sz="1400" u="none" cap="none" strike="noStrike"/>
                    </a:p>
                  </a:txBody>
                  <a:tcPr marT="91425" marB="91425" marR="91425" marL="91425"/>
                </a:tc>
              </a:tr>
              <a:tr h="3732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0001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t>
                      </a:r>
                      <a:r>
                        <a:rPr lang="en-US"/>
                        <a:t>0</a:t>
                      </a:r>
                      <a:r>
                        <a:rPr lang="en-US" sz="1400" u="none" cap="none" strike="noStrike"/>
                        <a:t>}</a:t>
                      </a:r>
                      <a:endParaRPr sz="1400" u="none" cap="none" strike="noStrike"/>
                    </a:p>
                  </a:txBody>
                  <a:tcPr marT="91425" marB="91425" marR="91425" marL="91425"/>
                </a:tc>
              </a:tr>
              <a:tr h="3732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0010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t>
                      </a:r>
                      <a:r>
                        <a:rPr lang="en-US"/>
                        <a:t>1</a:t>
                      </a:r>
                      <a:r>
                        <a:rPr lang="en-US" sz="1400" u="none" cap="none" strike="noStrike"/>
                        <a:t>}</a:t>
                      </a:r>
                      <a:endParaRPr sz="1400" u="none" cap="none" strike="noStrike"/>
                    </a:p>
                  </a:txBody>
                  <a:tcPr marT="91425" marB="91425" marR="91425" marL="91425"/>
                </a:tc>
              </a:tr>
              <a:tr h="3732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0011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t>
                      </a:r>
                      <a:r>
                        <a:rPr lang="en-US"/>
                        <a:t>0, 1</a:t>
                      </a:r>
                      <a:r>
                        <a:rPr lang="en-US" sz="1400" u="none" cap="none" strike="noStrike"/>
                        <a:t>}</a:t>
                      </a:r>
                      <a:endParaRPr sz="1400" u="none" cap="none" strike="noStrike"/>
                    </a:p>
                  </a:txBody>
                  <a:tcPr marT="91425" marB="91425" marR="91425" marL="91425"/>
                </a:tc>
              </a:tr>
              <a:tr h="3732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8</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1000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a:t>
                      </a:r>
                      <a:endParaRPr sz="1400" u="none" cap="none" strike="noStrike"/>
                    </a:p>
                  </a:txBody>
                  <a:tcPr marT="91425" marB="91425" marR="91425" marL="91425"/>
                </a:tc>
              </a:tr>
              <a:tr h="3732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9</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1001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 3}</a:t>
                      </a:r>
                      <a:endParaRPr sz="1400" u="none" cap="none" strike="noStrike"/>
                    </a:p>
                  </a:txBody>
                  <a:tcPr marT="91425" marB="91425" marR="91425" marL="91425"/>
                </a:tc>
              </a:tr>
              <a:tr h="3732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US" sz="1400" u="none" cap="none" strike="noStrike">
                          <a:solidFill>
                            <a:schemeClr val="dk1"/>
                          </a:solidFill>
                        </a:rPr>
                        <a:t>1010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US" sz="1400" u="none" cap="none" strike="noStrike">
                          <a:solidFill>
                            <a:schemeClr val="dk1"/>
                          </a:solidFill>
                        </a:rPr>
                        <a:t>{1, 3}</a:t>
                      </a:r>
                      <a:endParaRPr sz="1400" u="none" cap="none" strike="noStrike"/>
                    </a:p>
                  </a:txBody>
                  <a:tcPr marT="91425" marB="91425" marR="91425" marL="91425"/>
                </a:tc>
              </a:tr>
            </a:tbl>
          </a:graphicData>
        </a:graphic>
      </p:graphicFrame>
      <p:graphicFrame>
        <p:nvGraphicFramePr>
          <p:cNvPr id="349" name="Google Shape;349;g38a82980c7b_2_22"/>
          <p:cNvGraphicFramePr/>
          <p:nvPr/>
        </p:nvGraphicFramePr>
        <p:xfrm>
          <a:off x="4887888" y="2232250"/>
          <a:ext cx="3000000" cy="3000000"/>
        </p:xfrm>
        <a:graphic>
          <a:graphicData uri="http://schemas.openxmlformats.org/drawingml/2006/table">
            <a:tbl>
              <a:tblPr>
                <a:noFill/>
                <a:tableStyleId>{D18316BD-7C57-4478-9AA7-1E6121FCA798}</a:tableStyleId>
              </a:tblPr>
              <a:tblGrid>
                <a:gridCol w="947975"/>
                <a:gridCol w="947975"/>
                <a:gridCol w="9479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Mask</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Element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In Mask?</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0001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Yes</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0010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Yes</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0100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1000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Yes</a:t>
                      </a:r>
                      <a:endParaRPr sz="1400" u="none" cap="none" strike="noStrike"/>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3816e0e644b_0_166"/>
          <p:cNvSpPr txBox="1"/>
          <p:nvPr>
            <p:ph type="ctrTitle"/>
          </p:nvPr>
        </p:nvSpPr>
        <p:spPr>
          <a:xfrm>
            <a:off x="1600200" y="1124869"/>
            <a:ext cx="8991600" cy="164580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a:t>3.2.3 Complete Search Tips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3816e0e644b_0_180"/>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8-Queens Chess Reference Problem</a:t>
            </a:r>
            <a:endParaRPr/>
          </a:p>
        </p:txBody>
      </p:sp>
      <p:sp>
        <p:nvSpPr>
          <p:cNvPr id="362" name="Google Shape;362;g3816e0e644b_0_180"/>
          <p:cNvSpPr txBox="1"/>
          <p:nvPr>
            <p:ph idx="1" type="body"/>
          </p:nvPr>
        </p:nvSpPr>
        <p:spPr>
          <a:xfrm>
            <a:off x="494675" y="1096825"/>
            <a:ext cx="11231400" cy="33102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We will dive more in depth into the solution of this problem next week when we cover recursion</a:t>
            </a:r>
            <a:endParaRPr sz="2000"/>
          </a:p>
          <a:p>
            <a:pPr indent="-355600" lvl="0" marL="457200" rtl="0" algn="l">
              <a:spcBef>
                <a:spcPts val="0"/>
              </a:spcBef>
              <a:spcAft>
                <a:spcPts val="0"/>
              </a:spcAft>
              <a:buSzPts val="2000"/>
              <a:buChar char="•"/>
            </a:pPr>
            <a:r>
              <a:rPr lang="en-US" sz="2000"/>
              <a:t>In standard chess (with an 8 x 8 board), it is possible to place 8-Queens on the board such that no two Queens attack each other. </a:t>
            </a:r>
            <a:endParaRPr sz="2000"/>
          </a:p>
          <a:p>
            <a:pPr indent="-355600" lvl="0" marL="457200" rtl="0" algn="l">
              <a:spcBef>
                <a:spcPts val="0"/>
              </a:spcBef>
              <a:spcAft>
                <a:spcPts val="0"/>
              </a:spcAft>
              <a:buSzPts val="2000"/>
              <a:buChar char="•"/>
            </a:pPr>
            <a:r>
              <a:rPr lang="en-US" sz="2000"/>
              <a:t>Determine all such possible arrangements given the position of one of the Queens (i.e., coordinate (a, b) must contain a Queen). </a:t>
            </a:r>
            <a:endParaRPr sz="2000"/>
          </a:p>
          <a:p>
            <a:pPr indent="-355600" lvl="0" marL="457200" rtl="0" algn="l">
              <a:spcBef>
                <a:spcPts val="0"/>
              </a:spcBef>
              <a:spcAft>
                <a:spcPts val="0"/>
              </a:spcAft>
              <a:buSzPts val="2000"/>
              <a:buChar char="•"/>
            </a:pPr>
            <a:r>
              <a:rPr lang="en-US" sz="2000"/>
              <a:t>Output the possibilities in lexicographical (sorted) order.</a:t>
            </a:r>
            <a:endParaRPr sz="2000"/>
          </a:p>
        </p:txBody>
      </p:sp>
      <p:sp>
        <p:nvSpPr>
          <p:cNvPr id="363" name="Google Shape;363;g3816e0e644b_0_180"/>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38a82980c7b_1_23"/>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1</a:t>
            </a:r>
            <a:endParaRPr/>
          </a:p>
          <a:p>
            <a:pPr indent="0" lvl="0" marL="0" rtl="0" algn="ctr">
              <a:lnSpc>
                <a:spcPct val="90000"/>
              </a:lnSpc>
              <a:spcBef>
                <a:spcPts val="0"/>
              </a:spcBef>
              <a:spcAft>
                <a:spcPts val="0"/>
              </a:spcAft>
              <a:buClr>
                <a:srgbClr val="262626"/>
              </a:buClr>
              <a:buSzPct val="100000"/>
              <a:buFont typeface="Gill Sans"/>
              <a:buNone/>
            </a:pPr>
            <a:r>
              <a:rPr lang="en-US"/>
              <a:t>Filtering versus Generating</a:t>
            </a:r>
            <a:endParaRPr/>
          </a:p>
        </p:txBody>
      </p:sp>
      <p:sp>
        <p:nvSpPr>
          <p:cNvPr id="370" name="Google Shape;370;g38a82980c7b_1_23"/>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Filters:</a:t>
            </a:r>
            <a:endParaRPr sz="2000"/>
          </a:p>
          <a:p>
            <a:pPr indent="-355600" lvl="1" marL="914400" rtl="0" algn="l">
              <a:spcBef>
                <a:spcPts val="0"/>
              </a:spcBef>
              <a:spcAft>
                <a:spcPts val="0"/>
              </a:spcAft>
              <a:buSzPts val="2000"/>
              <a:buChar char="•"/>
            </a:pPr>
            <a:r>
              <a:rPr lang="en-US" sz="2000"/>
              <a:t>Programs that examine lots of (if not all) candidate solutions and choose the ones that are correct (or remove the incorrect ones) </a:t>
            </a:r>
            <a:endParaRPr sz="2000"/>
          </a:p>
          <a:p>
            <a:pPr indent="-355600" lvl="1" marL="914400" rtl="0" algn="l">
              <a:spcBef>
                <a:spcPts val="0"/>
              </a:spcBef>
              <a:spcAft>
                <a:spcPts val="0"/>
              </a:spcAft>
              <a:buSzPts val="2000"/>
              <a:buChar char="•"/>
            </a:pPr>
            <a:r>
              <a:rPr lang="en-US" sz="2000"/>
              <a:t>Usually iterative algorithms</a:t>
            </a:r>
            <a:endParaRPr sz="2000"/>
          </a:p>
          <a:p>
            <a:pPr indent="-355600" lvl="1" marL="914400" rtl="0" algn="l">
              <a:spcBef>
                <a:spcPts val="0"/>
              </a:spcBef>
              <a:spcAft>
                <a:spcPts val="0"/>
              </a:spcAft>
              <a:buSzPts val="2000"/>
              <a:buChar char="•"/>
            </a:pPr>
            <a:r>
              <a:rPr lang="en-US" sz="2000"/>
              <a:t>Usually easier to code, but run slower due to difficulty in pruning more of the search space</a:t>
            </a:r>
            <a:endParaRPr sz="2000"/>
          </a:p>
          <a:p>
            <a:pPr indent="-355600" lvl="1" marL="914400" rtl="0" algn="l">
              <a:spcBef>
                <a:spcPts val="0"/>
              </a:spcBef>
              <a:spcAft>
                <a:spcPts val="0"/>
              </a:spcAft>
              <a:buSzPts val="2000"/>
              <a:buChar char="•"/>
            </a:pPr>
            <a:r>
              <a:rPr lang="en-US" sz="2000"/>
              <a:t>ex. The naïve 8-Queen solution is to generate all combinations </a:t>
            </a:r>
            <a:r>
              <a:rPr baseline="-25000" lang="en-US" sz="2000"/>
              <a:t>64</a:t>
            </a:r>
            <a:r>
              <a:rPr lang="en-US" sz="2000"/>
              <a:t>C</a:t>
            </a:r>
            <a:r>
              <a:rPr baseline="-25000" lang="en-US" sz="2000"/>
              <a:t>8</a:t>
            </a:r>
            <a:r>
              <a:rPr lang="en-US" sz="2000"/>
              <a:t> (8</a:t>
            </a:r>
            <a:r>
              <a:rPr baseline="30000" lang="en-US" sz="2000"/>
              <a:t>8</a:t>
            </a:r>
            <a:r>
              <a:rPr lang="en-US" sz="2000"/>
              <a:t>)</a:t>
            </a:r>
            <a:endParaRPr i="1" sz="2000"/>
          </a:p>
          <a:p>
            <a:pPr indent="-355600" lvl="0" marL="457200" rtl="0" algn="l">
              <a:spcBef>
                <a:spcPts val="0"/>
              </a:spcBef>
              <a:spcAft>
                <a:spcPts val="0"/>
              </a:spcAft>
              <a:buSzPts val="2000"/>
              <a:buChar char="•"/>
            </a:pPr>
            <a:r>
              <a:rPr lang="en-US" sz="2000"/>
              <a:t>Generators:</a:t>
            </a:r>
            <a:endParaRPr sz="2000"/>
          </a:p>
          <a:p>
            <a:pPr indent="-355600" lvl="1" marL="914400" rtl="0" algn="l">
              <a:spcBef>
                <a:spcPts val="0"/>
              </a:spcBef>
              <a:spcAft>
                <a:spcPts val="0"/>
              </a:spcAft>
              <a:buSzPts val="2000"/>
              <a:buChar char="•"/>
            </a:pPr>
            <a:r>
              <a:rPr lang="en-US" sz="2000"/>
              <a:t>Gradually build the solutions and immediately prune invalid partial solutions</a:t>
            </a:r>
            <a:endParaRPr sz="2000"/>
          </a:p>
          <a:p>
            <a:pPr indent="-355600" lvl="1" marL="914400" rtl="0" algn="l">
              <a:spcBef>
                <a:spcPts val="0"/>
              </a:spcBef>
              <a:spcAft>
                <a:spcPts val="0"/>
              </a:spcAft>
              <a:buSzPts val="2000"/>
              <a:buChar char="•"/>
            </a:pPr>
            <a:r>
              <a:rPr lang="en-US" sz="2000"/>
              <a:t>Usually recursive algorithms</a:t>
            </a:r>
            <a:endParaRPr sz="2000"/>
          </a:p>
          <a:p>
            <a:pPr indent="-355600" lvl="1" marL="914400" rtl="0" algn="l">
              <a:spcBef>
                <a:spcPts val="0"/>
              </a:spcBef>
              <a:spcAft>
                <a:spcPts val="0"/>
              </a:spcAft>
              <a:buSzPts val="2000"/>
              <a:buChar char="•"/>
            </a:pPr>
            <a:r>
              <a:rPr lang="en-US" sz="2000"/>
              <a:t>ex. The recursing 8-Queen solution that prunes as it generates solutions</a:t>
            </a:r>
            <a:endParaRPr sz="2000"/>
          </a:p>
        </p:txBody>
      </p:sp>
      <p:sp>
        <p:nvSpPr>
          <p:cNvPr id="371" name="Google Shape;371;g38a82980c7b_1_23"/>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38a82980c7b_2_204"/>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2</a:t>
            </a:r>
            <a:endParaRPr/>
          </a:p>
          <a:p>
            <a:pPr indent="0" lvl="0" marL="0" rtl="0" algn="ctr">
              <a:lnSpc>
                <a:spcPct val="90000"/>
              </a:lnSpc>
              <a:spcBef>
                <a:spcPts val="0"/>
              </a:spcBef>
              <a:spcAft>
                <a:spcPts val="0"/>
              </a:spcAft>
              <a:buClr>
                <a:srgbClr val="262626"/>
              </a:buClr>
              <a:buSzPct val="100000"/>
              <a:buFont typeface="Gill Sans"/>
              <a:buNone/>
            </a:pPr>
            <a:r>
              <a:rPr lang="en-US"/>
              <a:t>Prune Infeasible/Inferior Search Space Early</a:t>
            </a:r>
            <a:endParaRPr/>
          </a:p>
        </p:txBody>
      </p:sp>
      <p:sp>
        <p:nvSpPr>
          <p:cNvPr id="378" name="Google Shape;378;g38a82980c7b_2_204"/>
          <p:cNvSpPr txBox="1"/>
          <p:nvPr>
            <p:ph idx="1" type="body"/>
          </p:nvPr>
        </p:nvSpPr>
        <p:spPr>
          <a:xfrm>
            <a:off x="480325" y="1257775"/>
            <a:ext cx="11231400" cy="46392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Note: We will do a review on recursion next week…</a:t>
            </a:r>
            <a:endParaRPr sz="2000"/>
          </a:p>
          <a:p>
            <a:pPr indent="0" lvl="0" marL="457200" rtl="0" algn="l">
              <a:spcBef>
                <a:spcPts val="0"/>
              </a:spcBef>
              <a:spcAft>
                <a:spcPts val="0"/>
              </a:spcAft>
              <a:buNone/>
            </a:pPr>
            <a:r>
              <a:t/>
            </a:r>
            <a:endParaRPr sz="2000"/>
          </a:p>
          <a:p>
            <a:pPr indent="-355600" lvl="0" marL="457200" rtl="0" algn="l">
              <a:spcBef>
                <a:spcPts val="0"/>
              </a:spcBef>
              <a:spcAft>
                <a:spcPts val="0"/>
              </a:spcAft>
              <a:buSzPts val="2000"/>
              <a:buChar char="•"/>
            </a:pPr>
            <a:r>
              <a:rPr lang="en-US" sz="2000"/>
              <a:t>When generating solutions using recursive backtracking (see tip above), we may encounter a partial solution that will never lead to a full solution</a:t>
            </a:r>
            <a:endParaRPr sz="2000"/>
          </a:p>
          <a:p>
            <a:pPr indent="-355600" lvl="1" marL="914400" rtl="0" algn="l">
              <a:spcBef>
                <a:spcPts val="0"/>
              </a:spcBef>
              <a:spcAft>
                <a:spcPts val="0"/>
              </a:spcAft>
              <a:buSzPts val="2000"/>
              <a:buChar char="•"/>
            </a:pPr>
            <a:r>
              <a:rPr lang="en-US" sz="2000"/>
              <a:t>Prune the search there and explore other parts of the search space</a:t>
            </a:r>
            <a:endParaRPr sz="2000"/>
          </a:p>
          <a:p>
            <a:pPr indent="-355600" lvl="1" marL="914400" rtl="0" algn="l">
              <a:spcBef>
                <a:spcPts val="0"/>
              </a:spcBef>
              <a:spcAft>
                <a:spcPts val="0"/>
              </a:spcAft>
              <a:buSzPts val="2000"/>
              <a:buChar char="•"/>
            </a:pPr>
            <a:r>
              <a:rPr lang="en-US" sz="2000"/>
              <a:t>Ex. In the queens problem, a</a:t>
            </a:r>
            <a:r>
              <a:rPr lang="en-US" sz="2000"/>
              <a:t>s soon as you find 2 queens “attacking” each other, you don’t have to explore that solution further</a:t>
            </a:r>
            <a:endParaRPr sz="2000"/>
          </a:p>
          <a:p>
            <a:pPr indent="-355600" lvl="0" marL="457200" rtl="0" algn="l">
              <a:spcBef>
                <a:spcPts val="0"/>
              </a:spcBef>
              <a:spcAft>
                <a:spcPts val="0"/>
              </a:spcAft>
              <a:buSzPts val="2000"/>
              <a:buChar char="•"/>
            </a:pPr>
            <a:r>
              <a:rPr lang="en-US" sz="2000"/>
              <a:t>Rule of thumb, the earlier you can prune the search space, the better</a:t>
            </a:r>
            <a:endParaRPr sz="2000"/>
          </a:p>
          <a:p>
            <a:pPr indent="-355600" lvl="0" marL="457200" rtl="0" algn="l">
              <a:lnSpc>
                <a:spcPct val="115000"/>
              </a:lnSpc>
              <a:spcBef>
                <a:spcPts val="0"/>
              </a:spcBef>
              <a:spcAft>
                <a:spcPts val="0"/>
              </a:spcAft>
              <a:buSzPts val="2000"/>
              <a:buChar char="•"/>
            </a:pPr>
            <a:r>
              <a:rPr lang="en-US" sz="2000"/>
              <a:t>In other problems, we may be able to compute the ‘potential worth’ of a partial (and still valid) solution. </a:t>
            </a:r>
            <a:endParaRPr sz="2000"/>
          </a:p>
          <a:p>
            <a:pPr indent="-355600" lvl="1" marL="914400" rtl="0" algn="l">
              <a:lnSpc>
                <a:spcPct val="115000"/>
              </a:lnSpc>
              <a:spcBef>
                <a:spcPts val="0"/>
              </a:spcBef>
              <a:spcAft>
                <a:spcPts val="0"/>
              </a:spcAft>
              <a:buSzPts val="2000"/>
              <a:buChar char="•"/>
            </a:pPr>
            <a:r>
              <a:rPr lang="en-US" sz="2000"/>
              <a:t>If the potential worth is inferior to the worth of the current best found valid solution so far, we can prune the search there.</a:t>
            </a:r>
            <a:endParaRPr sz="2000"/>
          </a:p>
        </p:txBody>
      </p:sp>
      <p:sp>
        <p:nvSpPr>
          <p:cNvPr id="379" name="Google Shape;379;g38a82980c7b_2_204"/>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g38a82980c7b_2_295"/>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3</a:t>
            </a:r>
            <a:endParaRPr/>
          </a:p>
          <a:p>
            <a:pPr indent="0" lvl="0" marL="0" rtl="0" algn="ctr">
              <a:lnSpc>
                <a:spcPct val="90000"/>
              </a:lnSpc>
              <a:spcBef>
                <a:spcPts val="0"/>
              </a:spcBef>
              <a:spcAft>
                <a:spcPts val="0"/>
              </a:spcAft>
              <a:buClr>
                <a:srgbClr val="262626"/>
              </a:buClr>
              <a:buSzPct val="100000"/>
              <a:buFont typeface="Gill Sans"/>
              <a:buNone/>
            </a:pPr>
            <a:r>
              <a:rPr lang="en-US"/>
              <a:t>Utilize Symmetries</a:t>
            </a:r>
            <a:endParaRPr/>
          </a:p>
        </p:txBody>
      </p:sp>
      <p:sp>
        <p:nvSpPr>
          <p:cNvPr id="386" name="Google Shape;386;g38a82980c7b_2_295"/>
          <p:cNvSpPr txBox="1"/>
          <p:nvPr>
            <p:ph idx="1" type="body"/>
          </p:nvPr>
        </p:nvSpPr>
        <p:spPr>
          <a:xfrm>
            <a:off x="480325" y="1170125"/>
            <a:ext cx="11231400" cy="46392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Some problems have symmetries that can be exploited to reduce execution time.</a:t>
            </a:r>
            <a:endParaRPr sz="2000"/>
          </a:p>
          <a:p>
            <a:pPr indent="-355600" lvl="0" marL="457200" rtl="0" algn="l">
              <a:spcBef>
                <a:spcPts val="0"/>
              </a:spcBef>
              <a:spcAft>
                <a:spcPts val="0"/>
              </a:spcAft>
              <a:buSzPts val="2000"/>
              <a:buChar char="•"/>
            </a:pPr>
            <a:r>
              <a:rPr lang="en-US" sz="2000"/>
              <a:t>8-Queens example:</a:t>
            </a:r>
            <a:endParaRPr sz="2000"/>
          </a:p>
          <a:p>
            <a:pPr indent="-355600" lvl="1" marL="914400" rtl="0" algn="l">
              <a:spcBef>
                <a:spcPts val="0"/>
              </a:spcBef>
              <a:spcAft>
                <a:spcPts val="0"/>
              </a:spcAft>
              <a:buSzPts val="2000"/>
              <a:buChar char="•"/>
            </a:pPr>
            <a:r>
              <a:rPr lang="en-US" sz="2000"/>
              <a:t>Total solutions = 92</a:t>
            </a:r>
            <a:endParaRPr sz="2000"/>
          </a:p>
          <a:p>
            <a:pPr indent="-355600" lvl="1" marL="914400" rtl="0" algn="l">
              <a:spcBef>
                <a:spcPts val="0"/>
              </a:spcBef>
              <a:spcAft>
                <a:spcPts val="0"/>
              </a:spcAft>
              <a:buSzPts val="2000"/>
              <a:buChar char="•"/>
            </a:pPr>
            <a:r>
              <a:rPr lang="en-US" sz="2000"/>
              <a:t>Unique (fundamental) solutions = 12 (due to rotational and reflection symmetries)</a:t>
            </a:r>
            <a:endParaRPr sz="2000"/>
          </a:p>
          <a:p>
            <a:pPr indent="-355600" lvl="1" marL="914400" rtl="0" algn="l">
              <a:spcBef>
                <a:spcPts val="0"/>
              </a:spcBef>
              <a:spcAft>
                <a:spcPts val="0"/>
              </a:spcAft>
              <a:buSzPts val="2000"/>
              <a:buChar char="•"/>
            </a:pPr>
            <a:r>
              <a:rPr lang="en-US" sz="2000"/>
              <a:t>Strategy:</a:t>
            </a:r>
            <a:endParaRPr sz="2000"/>
          </a:p>
          <a:p>
            <a:pPr indent="-355600" lvl="2" marL="1371600" rtl="0" algn="l">
              <a:spcBef>
                <a:spcPts val="0"/>
              </a:spcBef>
              <a:spcAft>
                <a:spcPts val="0"/>
              </a:spcAft>
              <a:buSzPts val="2000"/>
              <a:buChar char="•"/>
            </a:pPr>
            <a:r>
              <a:rPr lang="en-US" sz="2000"/>
              <a:t>Generate only the 12 unique solutions.</a:t>
            </a:r>
            <a:endParaRPr sz="2000"/>
          </a:p>
          <a:p>
            <a:pPr indent="-355600" lvl="2" marL="1371600" rtl="0" algn="l">
              <a:spcBef>
                <a:spcPts val="0"/>
              </a:spcBef>
              <a:spcAft>
                <a:spcPts val="0"/>
              </a:spcAft>
              <a:buSzPts val="2000"/>
              <a:buChar char="•"/>
            </a:pPr>
            <a:r>
              <a:rPr lang="en-US" sz="2000"/>
              <a:t>Derive the full 92 by applying rotations/reflections.</a:t>
            </a:r>
            <a:endParaRPr sz="2000"/>
          </a:p>
          <a:p>
            <a:pPr indent="-355600" lvl="0" marL="457200" rtl="0" algn="l">
              <a:spcBef>
                <a:spcPts val="0"/>
              </a:spcBef>
              <a:spcAft>
                <a:spcPts val="0"/>
              </a:spcAft>
              <a:buSzPts val="2000"/>
              <a:buChar char="•"/>
            </a:pPr>
            <a:r>
              <a:rPr lang="en-US" sz="2000"/>
              <a:t>Caution:</a:t>
            </a:r>
            <a:endParaRPr sz="2000"/>
          </a:p>
          <a:p>
            <a:pPr indent="-355600" lvl="1" marL="914400" rtl="0" algn="l">
              <a:spcBef>
                <a:spcPts val="0"/>
              </a:spcBef>
              <a:spcAft>
                <a:spcPts val="0"/>
              </a:spcAft>
              <a:buSzPts val="2000"/>
              <a:buChar char="•"/>
            </a:pPr>
            <a:r>
              <a:rPr lang="en-US" sz="2000"/>
              <a:t>Considering symmetries may complicate code.</a:t>
            </a:r>
            <a:endParaRPr sz="2000"/>
          </a:p>
          <a:p>
            <a:pPr indent="-355600" lvl="1" marL="914400" rtl="0" algn="l">
              <a:spcBef>
                <a:spcPts val="0"/>
              </a:spcBef>
              <a:spcAft>
                <a:spcPts val="0"/>
              </a:spcAft>
              <a:buSzPts val="2000"/>
              <a:buChar char="•"/>
            </a:pPr>
            <a:r>
              <a:rPr lang="en-US" sz="2000"/>
              <a:t>In competitive programming, shorter/cleaner code is usually better (fewer bugs).</a:t>
            </a:r>
            <a:endParaRPr sz="2000"/>
          </a:p>
          <a:p>
            <a:pPr indent="-355600" lvl="1" marL="914400" rtl="0" algn="l">
              <a:spcBef>
                <a:spcPts val="0"/>
              </a:spcBef>
              <a:spcAft>
                <a:spcPts val="0"/>
              </a:spcAft>
              <a:buSzPts val="2000"/>
              <a:buChar char="•"/>
            </a:pPr>
            <a:r>
              <a:rPr lang="en-US" sz="2000"/>
              <a:t>If symmetry handling doesn’t give significant benefit, it’s best to ignore it.</a:t>
            </a:r>
            <a:endParaRPr sz="2000"/>
          </a:p>
        </p:txBody>
      </p:sp>
      <p:sp>
        <p:nvSpPr>
          <p:cNvPr id="387" name="Google Shape;387;g38a82980c7b_2_295"/>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pic>
        <p:nvPicPr>
          <p:cNvPr id="388" name="Google Shape;388;g38a82980c7b_2_295"/>
          <p:cNvPicPr preferRelativeResize="0"/>
          <p:nvPr/>
        </p:nvPicPr>
        <p:blipFill>
          <a:blip r:embed="rId3">
            <a:alphaModFix/>
          </a:blip>
          <a:stretch>
            <a:fillRect/>
          </a:stretch>
        </p:blipFill>
        <p:spPr>
          <a:xfrm>
            <a:off x="7196400" y="2510233"/>
            <a:ext cx="1099850" cy="1222725"/>
          </a:xfrm>
          <a:prstGeom prst="rect">
            <a:avLst/>
          </a:prstGeom>
          <a:noFill/>
          <a:ln>
            <a:noFill/>
          </a:ln>
        </p:spPr>
      </p:pic>
      <p:pic>
        <p:nvPicPr>
          <p:cNvPr id="389" name="Google Shape;389;g38a82980c7b_2_295"/>
          <p:cNvPicPr preferRelativeResize="0"/>
          <p:nvPr/>
        </p:nvPicPr>
        <p:blipFill>
          <a:blip r:embed="rId3">
            <a:alphaModFix/>
          </a:blip>
          <a:stretch>
            <a:fillRect/>
          </a:stretch>
        </p:blipFill>
        <p:spPr>
          <a:xfrm rot="5400000">
            <a:off x="8419950" y="2510233"/>
            <a:ext cx="1099850" cy="1222725"/>
          </a:xfrm>
          <a:prstGeom prst="rect">
            <a:avLst/>
          </a:prstGeom>
          <a:noFill/>
          <a:ln>
            <a:noFill/>
          </a:ln>
        </p:spPr>
      </p:pic>
      <p:pic>
        <p:nvPicPr>
          <p:cNvPr id="390" name="Google Shape;390;g38a82980c7b_2_295"/>
          <p:cNvPicPr preferRelativeResize="0"/>
          <p:nvPr/>
        </p:nvPicPr>
        <p:blipFill>
          <a:blip r:embed="rId3">
            <a:alphaModFix/>
          </a:blip>
          <a:stretch>
            <a:fillRect/>
          </a:stretch>
        </p:blipFill>
        <p:spPr>
          <a:xfrm rot="10800000">
            <a:off x="9643538" y="2448770"/>
            <a:ext cx="1099850" cy="1222725"/>
          </a:xfrm>
          <a:prstGeom prst="rect">
            <a:avLst/>
          </a:prstGeom>
          <a:noFill/>
          <a:ln>
            <a:noFill/>
          </a:ln>
        </p:spPr>
      </p:pic>
      <p:pic>
        <p:nvPicPr>
          <p:cNvPr id="391" name="Google Shape;391;g38a82980c7b_2_295"/>
          <p:cNvPicPr preferRelativeResize="0"/>
          <p:nvPr/>
        </p:nvPicPr>
        <p:blipFill>
          <a:blip r:embed="rId3">
            <a:alphaModFix/>
          </a:blip>
          <a:stretch>
            <a:fillRect/>
          </a:stretch>
        </p:blipFill>
        <p:spPr>
          <a:xfrm rot="-5400000">
            <a:off x="10867125" y="2510220"/>
            <a:ext cx="1099850" cy="1222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g38a82980c7b_2_211"/>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4</a:t>
            </a:r>
            <a:endParaRPr/>
          </a:p>
          <a:p>
            <a:pPr indent="0" lvl="0" marL="0" rtl="0" algn="ctr">
              <a:lnSpc>
                <a:spcPct val="90000"/>
              </a:lnSpc>
              <a:spcBef>
                <a:spcPts val="0"/>
              </a:spcBef>
              <a:spcAft>
                <a:spcPts val="0"/>
              </a:spcAft>
              <a:buClr>
                <a:srgbClr val="262626"/>
              </a:buClr>
              <a:buSzPct val="100000"/>
              <a:buFont typeface="Gill Sans"/>
              <a:buNone/>
            </a:pPr>
            <a:r>
              <a:rPr lang="en-US"/>
              <a:t>Pre-Computation a.k.a Pre-Calculation</a:t>
            </a:r>
            <a:endParaRPr/>
          </a:p>
        </p:txBody>
      </p:sp>
      <p:sp>
        <p:nvSpPr>
          <p:cNvPr id="398" name="Google Shape;398;g38a82980c7b_2_211"/>
          <p:cNvSpPr txBox="1"/>
          <p:nvPr>
            <p:ph idx="1" type="body"/>
          </p:nvPr>
        </p:nvSpPr>
        <p:spPr>
          <a:xfrm>
            <a:off x="480325" y="1170125"/>
            <a:ext cx="11231400" cy="46392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Pre-computation:</a:t>
            </a:r>
            <a:endParaRPr sz="2000"/>
          </a:p>
          <a:p>
            <a:pPr indent="-355600" lvl="1" marL="914400" rtl="0" algn="l">
              <a:spcBef>
                <a:spcPts val="0"/>
              </a:spcBef>
              <a:spcAft>
                <a:spcPts val="0"/>
              </a:spcAft>
              <a:buSzPts val="2000"/>
              <a:buChar char="•"/>
            </a:pPr>
            <a:r>
              <a:rPr lang="en-US" sz="2000"/>
              <a:t>Generate tables/data structures before execution to speed up lookups.</a:t>
            </a:r>
            <a:endParaRPr sz="2000"/>
          </a:p>
          <a:p>
            <a:pPr indent="-355600" lvl="1" marL="914400" rtl="0" algn="l">
              <a:spcBef>
                <a:spcPts val="0"/>
              </a:spcBef>
              <a:spcAft>
                <a:spcPts val="0"/>
              </a:spcAft>
              <a:buSzPts val="2000"/>
              <a:buChar char="•"/>
            </a:pPr>
            <a:r>
              <a:rPr lang="en-US" sz="2000"/>
              <a:t>Trades memory/space for time.</a:t>
            </a:r>
            <a:endParaRPr sz="2000"/>
          </a:p>
          <a:p>
            <a:pPr indent="-355600" lvl="0" marL="457200" rtl="0" algn="l">
              <a:spcBef>
                <a:spcPts val="0"/>
              </a:spcBef>
              <a:spcAft>
                <a:spcPts val="0"/>
              </a:spcAft>
              <a:buSzPts val="2000"/>
              <a:buChar char="•"/>
            </a:pPr>
            <a:r>
              <a:rPr lang="en-US" sz="2000"/>
              <a:t>Example (8-Queens problem):</a:t>
            </a:r>
            <a:endParaRPr sz="2000"/>
          </a:p>
          <a:p>
            <a:pPr indent="-355600" lvl="1" marL="914400" rtl="0" algn="l">
              <a:spcBef>
                <a:spcPts val="0"/>
              </a:spcBef>
              <a:spcAft>
                <a:spcPts val="0"/>
              </a:spcAft>
              <a:buSzPts val="2000"/>
              <a:buChar char="•"/>
            </a:pPr>
            <a:r>
              <a:rPr lang="en-US" sz="2000"/>
              <a:t>Only 92 valid solutions exist.</a:t>
            </a:r>
            <a:endParaRPr sz="2000"/>
          </a:p>
          <a:p>
            <a:pPr indent="-355600" lvl="1" marL="914400" rtl="0" algn="l">
              <a:spcBef>
                <a:spcPts val="0"/>
              </a:spcBef>
              <a:spcAft>
                <a:spcPts val="0"/>
              </a:spcAft>
              <a:buSzPts val="2000"/>
              <a:buChar char="•"/>
            </a:pPr>
            <a:r>
              <a:rPr lang="en-US" sz="2000"/>
              <a:t>Store them in a 2D array solution[92][8].</a:t>
            </a:r>
            <a:endParaRPr sz="2000"/>
          </a:p>
          <a:p>
            <a:pPr indent="-355600" lvl="2" marL="1371600" rtl="0" algn="l">
              <a:spcBef>
                <a:spcPts val="0"/>
              </a:spcBef>
              <a:spcAft>
                <a:spcPts val="0"/>
              </a:spcAft>
              <a:buSzPts val="2000"/>
              <a:buChar char="•"/>
            </a:pPr>
            <a:r>
              <a:rPr lang="en-US" sz="2000"/>
              <a:t>Use a generator program to pre-fill this array.</a:t>
            </a:r>
            <a:endParaRPr sz="2000"/>
          </a:p>
          <a:p>
            <a:pPr indent="-355600" lvl="1" marL="914400" rtl="0" algn="l">
              <a:spcBef>
                <a:spcPts val="0"/>
              </a:spcBef>
              <a:spcAft>
                <a:spcPts val="0"/>
              </a:spcAft>
              <a:buSzPts val="2000"/>
              <a:buChar char="•"/>
            </a:pPr>
            <a:r>
              <a:rPr lang="en-US" sz="2000"/>
              <a:t>Later, another program can quickly retrieve solutions from it.</a:t>
            </a:r>
            <a:endParaRPr sz="2000"/>
          </a:p>
          <a:p>
            <a:pPr indent="-355600" lvl="0" marL="457200" rtl="0" algn="l">
              <a:spcBef>
                <a:spcPts val="0"/>
              </a:spcBef>
              <a:spcAft>
                <a:spcPts val="0"/>
              </a:spcAft>
              <a:buSzPts val="2000"/>
              <a:buChar char="•"/>
            </a:pPr>
            <a:r>
              <a:rPr lang="en-US" sz="2000"/>
              <a:t>Limitations:</a:t>
            </a:r>
            <a:endParaRPr sz="2000"/>
          </a:p>
          <a:p>
            <a:pPr indent="-355600" lvl="1" marL="914400" rtl="0" algn="l">
              <a:spcBef>
                <a:spcPts val="0"/>
              </a:spcBef>
              <a:spcAft>
                <a:spcPts val="0"/>
              </a:spcAft>
              <a:buSzPts val="2000"/>
              <a:buChar char="•"/>
            </a:pPr>
            <a:r>
              <a:rPr lang="en-US" sz="2000"/>
              <a:t>Rarely applicable in modern programming contests.</a:t>
            </a:r>
            <a:endParaRPr sz="2000"/>
          </a:p>
          <a:p>
            <a:pPr indent="-355600" lvl="1" marL="914400" rtl="0" algn="l">
              <a:spcBef>
                <a:spcPts val="0"/>
              </a:spcBef>
              <a:spcAft>
                <a:spcPts val="0"/>
              </a:spcAft>
              <a:buSzPts val="2000"/>
              <a:buChar char="•"/>
            </a:pPr>
            <a:r>
              <a:rPr lang="en-US" sz="2000"/>
              <a:t>Not useful for most Complete Search problems.</a:t>
            </a:r>
            <a:endParaRPr sz="2000"/>
          </a:p>
          <a:p>
            <a:pPr indent="-355600" lvl="1" marL="914400" rtl="0" algn="l">
              <a:spcBef>
                <a:spcPts val="0"/>
              </a:spcBef>
              <a:spcAft>
                <a:spcPts val="0"/>
              </a:spcAft>
              <a:buSzPts val="2000"/>
              <a:buChar char="•"/>
            </a:pPr>
            <a:r>
              <a:rPr lang="en-US" sz="2000"/>
              <a:t>Some exercises (at the end of section 2.2) can still benefit from it.</a:t>
            </a:r>
            <a:endParaRPr sz="2000"/>
          </a:p>
        </p:txBody>
      </p:sp>
      <p:sp>
        <p:nvSpPr>
          <p:cNvPr id="399" name="Google Shape;399;g38a82980c7b_2_21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g38a82980c7b_2_218"/>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5</a:t>
            </a:r>
            <a:endParaRPr/>
          </a:p>
          <a:p>
            <a:pPr indent="0" lvl="0" marL="0" rtl="0" algn="ctr">
              <a:lnSpc>
                <a:spcPct val="90000"/>
              </a:lnSpc>
              <a:spcBef>
                <a:spcPts val="0"/>
              </a:spcBef>
              <a:spcAft>
                <a:spcPts val="0"/>
              </a:spcAft>
              <a:buClr>
                <a:srgbClr val="262626"/>
              </a:buClr>
              <a:buSzPct val="100000"/>
              <a:buFont typeface="Gill Sans"/>
              <a:buNone/>
            </a:pPr>
            <a:r>
              <a:rPr lang="en-US"/>
              <a:t>Try Solving the Problem Backwards</a:t>
            </a:r>
            <a:endParaRPr/>
          </a:p>
        </p:txBody>
      </p:sp>
      <p:sp>
        <p:nvSpPr>
          <p:cNvPr id="406" name="Google Shape;406;g38a82980c7b_2_218"/>
          <p:cNvSpPr txBox="1"/>
          <p:nvPr>
            <p:ph idx="1" type="body"/>
          </p:nvPr>
        </p:nvSpPr>
        <p:spPr>
          <a:xfrm>
            <a:off x="146075" y="1170125"/>
            <a:ext cx="11880300" cy="4639200"/>
          </a:xfrm>
          <a:prstGeom prst="rect">
            <a:avLst/>
          </a:prstGeom>
          <a:noFill/>
          <a:ln>
            <a:noFill/>
          </a:ln>
        </p:spPr>
        <p:txBody>
          <a:bodyPr anchorCtr="0" anchor="t" bIns="45700" lIns="91425" spcFirstLastPara="1" rIns="91425" wrap="square" tIns="45700">
            <a:normAutofit lnSpcReduction="10000"/>
          </a:bodyPr>
          <a:lstStyle/>
          <a:p>
            <a:pPr indent="-355600" lvl="0" marL="457200" rtl="0" algn="l">
              <a:lnSpc>
                <a:spcPct val="100000"/>
              </a:lnSpc>
              <a:spcBef>
                <a:spcPts val="0"/>
              </a:spcBef>
              <a:spcAft>
                <a:spcPts val="0"/>
              </a:spcAft>
              <a:buSzPts val="2000"/>
              <a:buChar char="•"/>
            </a:pPr>
            <a:r>
              <a:rPr lang="en-US" sz="2000"/>
              <a:t>Some problems are easier when solved “backwards” (unconventional angle) instead of the obvious way.</a:t>
            </a:r>
            <a:endParaRPr sz="2000"/>
          </a:p>
          <a:p>
            <a:pPr indent="-355600" lvl="0" marL="457200" rtl="0" algn="l">
              <a:lnSpc>
                <a:spcPct val="100000"/>
              </a:lnSpc>
              <a:spcBef>
                <a:spcPts val="0"/>
              </a:spcBef>
              <a:spcAft>
                <a:spcPts val="0"/>
              </a:spcAft>
              <a:buSzPts val="2000"/>
              <a:buChar char="•"/>
            </a:pPr>
            <a:r>
              <a:rPr lang="en-US" sz="2000"/>
              <a:t>Ex: UVa 10360 – Rat Attack:</a:t>
            </a:r>
            <a:endParaRPr sz="2000"/>
          </a:p>
          <a:p>
            <a:pPr indent="-355600" lvl="1" marL="914400" rtl="0" algn="l">
              <a:lnSpc>
                <a:spcPct val="100000"/>
              </a:lnSpc>
              <a:spcBef>
                <a:spcPts val="0"/>
              </a:spcBef>
              <a:spcAft>
                <a:spcPts val="0"/>
              </a:spcAft>
              <a:buSzPts val="2000"/>
              <a:buChar char="•"/>
            </a:pPr>
            <a:r>
              <a:rPr lang="en-US" sz="2000"/>
              <a:t>Descriptions:</a:t>
            </a:r>
            <a:endParaRPr sz="2000"/>
          </a:p>
          <a:p>
            <a:pPr indent="-355600" lvl="2" marL="1371600" rtl="0" algn="l">
              <a:lnSpc>
                <a:spcPct val="100000"/>
              </a:lnSpc>
              <a:spcBef>
                <a:spcPts val="0"/>
              </a:spcBef>
              <a:spcAft>
                <a:spcPts val="0"/>
              </a:spcAft>
              <a:buSzPts val="2000"/>
              <a:buChar char="•"/>
            </a:pPr>
            <a:r>
              <a:rPr lang="en-US" sz="2000"/>
              <a:t>1025x1025 grid where there are n ≤ 20’000 rats across the cells</a:t>
            </a:r>
            <a:endParaRPr sz="2000"/>
          </a:p>
          <a:p>
            <a:pPr indent="-355600" lvl="2" marL="1371600" rtl="0" algn="l">
              <a:lnSpc>
                <a:spcPct val="100000"/>
              </a:lnSpc>
              <a:spcBef>
                <a:spcPts val="0"/>
              </a:spcBef>
              <a:spcAft>
                <a:spcPts val="0"/>
              </a:spcAft>
              <a:buSzPts val="2000"/>
              <a:buChar char="•"/>
            </a:pPr>
            <a:r>
              <a:rPr lang="en-US" sz="2000"/>
              <a:t>Find which cell (x, y) should be gas-bombed so that the number of rats killed in a square box (x-d, y-d) to (x+d, y+d) is maximized</a:t>
            </a:r>
            <a:endParaRPr sz="2000"/>
          </a:p>
          <a:p>
            <a:pPr indent="-355600" lvl="2" marL="1371600" rtl="0" algn="l">
              <a:lnSpc>
                <a:spcPct val="100000"/>
              </a:lnSpc>
              <a:spcBef>
                <a:spcPts val="0"/>
              </a:spcBef>
              <a:spcAft>
                <a:spcPts val="0"/>
              </a:spcAft>
              <a:buSzPts val="2000"/>
              <a:buChar char="•"/>
            </a:pPr>
            <a:r>
              <a:rPr lang="en-US" sz="2000"/>
              <a:t>d is power of gas-bomb (d ≤ 50)</a:t>
            </a:r>
            <a:endParaRPr sz="2000"/>
          </a:p>
          <a:p>
            <a:pPr indent="-355600" lvl="1" marL="914400" rtl="0" algn="l">
              <a:lnSpc>
                <a:spcPct val="100000"/>
              </a:lnSpc>
              <a:spcBef>
                <a:spcPts val="0"/>
              </a:spcBef>
              <a:spcAft>
                <a:spcPts val="0"/>
              </a:spcAft>
              <a:buSzPts val="2000"/>
              <a:buChar char="•"/>
            </a:pPr>
            <a:r>
              <a:rPr lang="en-US" sz="2000"/>
              <a:t>Naïve approach (frontal attack):</a:t>
            </a:r>
            <a:endParaRPr sz="2000"/>
          </a:p>
          <a:p>
            <a:pPr indent="-355600" lvl="2" marL="1371600" rtl="0" algn="l">
              <a:lnSpc>
                <a:spcPct val="100000"/>
              </a:lnSpc>
              <a:spcBef>
                <a:spcPts val="0"/>
              </a:spcBef>
              <a:spcAft>
                <a:spcPts val="0"/>
              </a:spcAft>
              <a:buSzPts val="2000"/>
              <a:buChar char="•"/>
            </a:pPr>
            <a:r>
              <a:rPr lang="en-US" sz="2000"/>
              <a:t>Let’s bomb every cell and count the kills with a O(d</a:t>
            </a:r>
            <a:r>
              <a:rPr baseline="30000" lang="en-US" sz="2000"/>
              <a:t>2</a:t>
            </a:r>
            <a:r>
              <a:rPr lang="en-US" sz="2000"/>
              <a:t>) scan (each cell in the bombing radius)</a:t>
            </a:r>
            <a:endParaRPr sz="2000"/>
          </a:p>
          <a:p>
            <a:pPr indent="-355600" lvl="2" marL="1371600" rtl="0" algn="l">
              <a:lnSpc>
                <a:spcPct val="100000"/>
              </a:lnSpc>
              <a:spcBef>
                <a:spcPts val="0"/>
              </a:spcBef>
              <a:spcAft>
                <a:spcPts val="0"/>
              </a:spcAft>
              <a:buSzPts val="2000"/>
              <a:buChar char="•"/>
            </a:pPr>
            <a:r>
              <a:rPr lang="en-US" sz="2000"/>
              <a:t>Worse case: 1025</a:t>
            </a:r>
            <a:r>
              <a:rPr baseline="30000" lang="en-US" sz="2000"/>
              <a:t>2</a:t>
            </a:r>
            <a:r>
              <a:rPr lang="en-US" sz="2000"/>
              <a:t>x50</a:t>
            </a:r>
            <a:r>
              <a:rPr baseline="30000" lang="en-US" sz="2000"/>
              <a:t>2</a:t>
            </a:r>
            <a:r>
              <a:rPr lang="en-US" sz="2000"/>
              <a:t> = ~2626 million or ~2.6 billions operations TLE!</a:t>
            </a:r>
            <a:endParaRPr sz="2000"/>
          </a:p>
          <a:p>
            <a:pPr indent="-355600" lvl="1" marL="914400" rtl="0" algn="l">
              <a:lnSpc>
                <a:spcPct val="100000"/>
              </a:lnSpc>
              <a:spcBef>
                <a:spcPts val="0"/>
              </a:spcBef>
              <a:spcAft>
                <a:spcPts val="0"/>
              </a:spcAft>
              <a:buSzPts val="2000"/>
              <a:buChar char="•"/>
            </a:pPr>
            <a:r>
              <a:rPr lang="en-US" sz="2000"/>
              <a:t>Backward approach</a:t>
            </a:r>
            <a:endParaRPr sz="2000"/>
          </a:p>
          <a:p>
            <a:pPr indent="-355600" lvl="2" marL="1371600" rtl="0" algn="l">
              <a:lnSpc>
                <a:spcPct val="100000"/>
              </a:lnSpc>
              <a:spcBef>
                <a:spcPts val="0"/>
              </a:spcBef>
              <a:spcAft>
                <a:spcPts val="0"/>
              </a:spcAft>
              <a:buSzPts val="2000"/>
              <a:buChar char="•"/>
            </a:pPr>
            <a:r>
              <a:rPr lang="en-US" sz="2000"/>
              <a:t>Create array </a:t>
            </a:r>
            <a:r>
              <a:rPr lang="en-US" sz="2000"/>
              <a:t>int killed[1025][1025]</a:t>
            </a:r>
            <a:endParaRPr sz="2000"/>
          </a:p>
          <a:p>
            <a:pPr indent="-355600" lvl="2" marL="1371600" rtl="0" algn="l">
              <a:lnSpc>
                <a:spcPct val="100000"/>
              </a:lnSpc>
              <a:spcBef>
                <a:spcPts val="0"/>
              </a:spcBef>
              <a:spcAft>
                <a:spcPts val="0"/>
              </a:spcAft>
              <a:buSzPts val="2000"/>
              <a:buChar char="•"/>
            </a:pPr>
            <a:r>
              <a:rPr lang="en-US" sz="2000"/>
              <a:t>For each rat at (x, y) add 1 to killed[i][j] where |i - x| ≤ d and |j - y| ≤ d</a:t>
            </a:r>
            <a:endParaRPr sz="2000"/>
          </a:p>
          <a:p>
            <a:pPr indent="-355600" lvl="3" marL="1828800" rtl="0" algn="l">
              <a:lnSpc>
                <a:spcPct val="100000"/>
              </a:lnSpc>
              <a:spcBef>
                <a:spcPts val="0"/>
              </a:spcBef>
              <a:spcAft>
                <a:spcPts val="0"/>
              </a:spcAft>
              <a:buSzPts val="2000"/>
              <a:buChar char="•"/>
            </a:pPr>
            <a:r>
              <a:rPr lang="en-US" sz="2000"/>
              <a:t>O(n x d</a:t>
            </a:r>
            <a:r>
              <a:rPr baseline="30000" lang="en-US" sz="2000"/>
              <a:t>2</a:t>
            </a:r>
            <a:r>
              <a:rPr lang="en-US" sz="2000"/>
              <a:t>)</a:t>
            </a:r>
            <a:endParaRPr sz="2000"/>
          </a:p>
          <a:p>
            <a:pPr indent="-355600" lvl="2" marL="1371600" rtl="0" algn="l">
              <a:lnSpc>
                <a:spcPct val="100000"/>
              </a:lnSpc>
              <a:spcBef>
                <a:spcPts val="0"/>
              </a:spcBef>
              <a:spcAft>
                <a:spcPts val="0"/>
              </a:spcAft>
              <a:buSzPts val="2000"/>
              <a:buChar char="•"/>
            </a:pPr>
            <a:r>
              <a:rPr lang="en-US" sz="2000"/>
              <a:t>Find coordinate of highest entry in array killed in 1025</a:t>
            </a:r>
            <a:r>
              <a:rPr baseline="30000" lang="en-US" sz="2000"/>
              <a:t>2</a:t>
            </a:r>
            <a:r>
              <a:rPr lang="en-US" sz="2000"/>
              <a:t> operations</a:t>
            </a:r>
            <a:endParaRPr sz="2000"/>
          </a:p>
          <a:p>
            <a:pPr indent="-355600" lvl="2" marL="1371600" rtl="0" algn="l">
              <a:lnSpc>
                <a:spcPct val="100000"/>
              </a:lnSpc>
              <a:spcBef>
                <a:spcPts val="0"/>
              </a:spcBef>
              <a:spcAft>
                <a:spcPts val="0"/>
              </a:spcAft>
              <a:buSzPts val="2000"/>
              <a:buChar char="•"/>
            </a:pPr>
            <a:r>
              <a:rPr lang="en-US" sz="2000"/>
              <a:t>Total is 20’000x50</a:t>
            </a:r>
            <a:r>
              <a:rPr baseline="30000" lang="en-US" sz="2000"/>
              <a:t>2</a:t>
            </a:r>
            <a:r>
              <a:rPr lang="en-US" sz="2000"/>
              <a:t>+1025</a:t>
            </a:r>
            <a:r>
              <a:rPr baseline="30000" lang="en-US" sz="2000"/>
              <a:t>2</a:t>
            </a:r>
            <a:r>
              <a:rPr lang="en-US" sz="2000"/>
              <a:t>=51Million operations for (n=20’000, d=50)</a:t>
            </a:r>
            <a:endParaRPr sz="2000"/>
          </a:p>
        </p:txBody>
      </p:sp>
      <p:sp>
        <p:nvSpPr>
          <p:cNvPr id="407" name="Google Shape;407;g38a82980c7b_2_218"/>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pic>
        <p:nvPicPr>
          <p:cNvPr id="408" name="Google Shape;408;g38a82980c7b_2_218"/>
          <p:cNvPicPr preferRelativeResize="0"/>
          <p:nvPr/>
        </p:nvPicPr>
        <p:blipFill>
          <a:blip r:embed="rId3">
            <a:alphaModFix/>
          </a:blip>
          <a:stretch>
            <a:fillRect/>
          </a:stretch>
        </p:blipFill>
        <p:spPr>
          <a:xfrm>
            <a:off x="9867725" y="4014388"/>
            <a:ext cx="2019300" cy="2276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14" st="1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g38a82980c7b_2_225"/>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6</a:t>
            </a:r>
            <a:endParaRPr/>
          </a:p>
          <a:p>
            <a:pPr indent="0" lvl="0" marL="0" rtl="0" algn="ctr">
              <a:lnSpc>
                <a:spcPct val="90000"/>
              </a:lnSpc>
              <a:spcBef>
                <a:spcPts val="0"/>
              </a:spcBef>
              <a:spcAft>
                <a:spcPts val="0"/>
              </a:spcAft>
              <a:buClr>
                <a:srgbClr val="262626"/>
              </a:buClr>
              <a:buSzPct val="100000"/>
              <a:buFont typeface="Gill Sans"/>
              <a:buNone/>
            </a:pPr>
            <a:r>
              <a:rPr lang="en-US"/>
              <a:t>Data Compression</a:t>
            </a:r>
            <a:endParaRPr/>
          </a:p>
        </p:txBody>
      </p:sp>
      <p:sp>
        <p:nvSpPr>
          <p:cNvPr id="415" name="Google Shape;415;g38a82980c7b_2_225"/>
          <p:cNvSpPr txBox="1"/>
          <p:nvPr>
            <p:ph idx="1" type="body"/>
          </p:nvPr>
        </p:nvSpPr>
        <p:spPr>
          <a:xfrm>
            <a:off x="494675" y="1170125"/>
            <a:ext cx="11231400" cy="4639200"/>
          </a:xfrm>
          <a:prstGeom prst="rect">
            <a:avLst/>
          </a:prstGeom>
          <a:noFill/>
          <a:ln>
            <a:noFill/>
          </a:ln>
        </p:spPr>
        <p:txBody>
          <a:bodyPr anchorCtr="0" anchor="t" bIns="45700" lIns="91425" spcFirstLastPara="1" rIns="91425" wrap="square" tIns="45700">
            <a:normAutofit lnSpcReduction="20000"/>
          </a:bodyPr>
          <a:lstStyle/>
          <a:p>
            <a:pPr indent="-355600" lvl="0" marL="457200" rtl="0" algn="l">
              <a:spcBef>
                <a:spcPts val="0"/>
              </a:spcBef>
              <a:spcAft>
                <a:spcPts val="0"/>
              </a:spcAft>
              <a:buSzPts val="2000"/>
              <a:buChar char="•"/>
            </a:pPr>
            <a:r>
              <a:rPr lang="en-US" sz="2000"/>
              <a:t>Some problems disguise input constraints to look too big for Complete Search.</a:t>
            </a:r>
            <a:endParaRPr sz="2000"/>
          </a:p>
          <a:p>
            <a:pPr indent="-355600" lvl="0" marL="457200" rtl="0" algn="l">
              <a:spcBef>
                <a:spcPts val="0"/>
              </a:spcBef>
              <a:spcAft>
                <a:spcPts val="0"/>
              </a:spcAft>
              <a:buSzPts val="2000"/>
              <a:buChar char="•"/>
            </a:pPr>
            <a:r>
              <a:rPr lang="en-US" sz="2000"/>
              <a:t>Careful reading can reveal remarks that shrink the search space.</a:t>
            </a:r>
            <a:endParaRPr sz="2000"/>
          </a:p>
          <a:p>
            <a:pPr indent="-355600" lvl="0" marL="457200" rtl="0" algn="l">
              <a:spcBef>
                <a:spcPts val="0"/>
              </a:spcBef>
              <a:spcAft>
                <a:spcPts val="0"/>
              </a:spcAft>
              <a:buSzPts val="2000"/>
              <a:buChar char="•"/>
            </a:pPr>
            <a:r>
              <a:rPr lang="en-US" sz="2000"/>
              <a:t>Ex:</a:t>
            </a:r>
            <a:endParaRPr sz="2000"/>
          </a:p>
          <a:p>
            <a:pPr indent="-355600" lvl="1" marL="914400" rtl="0" algn="l">
              <a:lnSpc>
                <a:spcPct val="115000"/>
              </a:lnSpc>
              <a:spcBef>
                <a:spcPts val="0"/>
              </a:spcBef>
              <a:spcAft>
                <a:spcPts val="0"/>
              </a:spcAft>
              <a:buSzPts val="2000"/>
              <a:buChar char="•"/>
            </a:pPr>
            <a:r>
              <a:rPr lang="en-US" sz="2000"/>
              <a:t>Given a multiset S of M = 100K integers, we want to know how many different integers that we can form if we pick two (not necessarily distinct) integers from S and sum them</a:t>
            </a:r>
            <a:r>
              <a:rPr lang="en-US" sz="2000"/>
              <a:t>. </a:t>
            </a:r>
            <a:endParaRPr sz="2000"/>
          </a:p>
          <a:p>
            <a:pPr indent="-355600" lvl="1" marL="914400" rtl="0" algn="l">
              <a:lnSpc>
                <a:spcPct val="115000"/>
              </a:lnSpc>
              <a:spcBef>
                <a:spcPts val="0"/>
              </a:spcBef>
              <a:spcAft>
                <a:spcPts val="0"/>
              </a:spcAft>
              <a:buSzPts val="2000"/>
              <a:buChar char="•"/>
            </a:pPr>
            <a:r>
              <a:rPr lang="en-US" sz="2000"/>
              <a:t>The content of multiset S is prime numbers not more than 20K</a:t>
            </a:r>
            <a:r>
              <a:rPr lang="en-US" sz="2000"/>
              <a:t>. </a:t>
            </a:r>
            <a:endParaRPr sz="2000"/>
          </a:p>
          <a:p>
            <a:pPr indent="-355600" lvl="0" marL="457200" rtl="0" algn="l">
              <a:lnSpc>
                <a:spcPct val="115000"/>
              </a:lnSpc>
              <a:spcBef>
                <a:spcPts val="0"/>
              </a:spcBef>
              <a:spcAft>
                <a:spcPts val="0"/>
              </a:spcAft>
              <a:buSzPts val="2000"/>
              <a:buChar char="•"/>
            </a:pPr>
            <a:r>
              <a:rPr lang="en-US" sz="2000"/>
              <a:t>Direct Method:</a:t>
            </a:r>
            <a:endParaRPr sz="2000"/>
          </a:p>
          <a:p>
            <a:pPr indent="-355600" lvl="1" marL="914400" rtl="0" algn="l">
              <a:lnSpc>
                <a:spcPct val="115000"/>
              </a:lnSpc>
              <a:spcBef>
                <a:spcPts val="0"/>
              </a:spcBef>
              <a:spcAft>
                <a:spcPts val="0"/>
              </a:spcAft>
              <a:buSzPts val="2000"/>
              <a:buChar char="•"/>
            </a:pPr>
            <a:r>
              <a:rPr lang="en-US" sz="2000"/>
              <a:t>Try all possible O(M</a:t>
            </a:r>
            <a:r>
              <a:rPr baseline="30000" lang="en-US" sz="2000"/>
              <a:t>2</a:t>
            </a:r>
            <a:r>
              <a:rPr lang="en-US" sz="2000"/>
              <a:t>) pairs of integers and insert their sums into a hash table (O(1) per insertion)</a:t>
            </a:r>
            <a:endParaRPr sz="2000"/>
          </a:p>
          <a:p>
            <a:pPr indent="-355600" lvl="1" marL="914400" rtl="0" algn="l">
              <a:lnSpc>
                <a:spcPct val="115000"/>
              </a:lnSpc>
              <a:spcBef>
                <a:spcPts val="0"/>
              </a:spcBef>
              <a:spcAft>
                <a:spcPts val="0"/>
              </a:spcAft>
              <a:buSzPts val="2000"/>
              <a:buChar char="•"/>
            </a:pPr>
            <a:r>
              <a:rPr lang="en-US" sz="2000"/>
              <a:t>Get TLE as M = 100K integers (100’000</a:t>
            </a:r>
            <a:r>
              <a:rPr baseline="30000" lang="en-US" sz="2000"/>
              <a:t>2</a:t>
            </a:r>
            <a:r>
              <a:rPr lang="en-US" sz="2000"/>
              <a:t> = 1 Trillion operations)</a:t>
            </a:r>
            <a:endParaRPr sz="2000"/>
          </a:p>
          <a:p>
            <a:pPr indent="-355600" lvl="0" marL="457200" rtl="0" algn="l">
              <a:spcBef>
                <a:spcPts val="0"/>
              </a:spcBef>
              <a:spcAft>
                <a:spcPts val="0"/>
              </a:spcAft>
              <a:buSzPts val="2000"/>
              <a:buChar char="•"/>
            </a:pPr>
            <a:r>
              <a:rPr lang="en-US" sz="2000"/>
              <a:t>Key Observation:</a:t>
            </a:r>
            <a:endParaRPr sz="2000"/>
          </a:p>
          <a:p>
            <a:pPr indent="-355600" lvl="1" marL="914400" rtl="0" algn="l">
              <a:lnSpc>
                <a:spcPct val="115000"/>
              </a:lnSpc>
              <a:spcBef>
                <a:spcPts val="0"/>
              </a:spcBef>
              <a:spcAft>
                <a:spcPts val="0"/>
              </a:spcAft>
              <a:buSzPts val="2000"/>
              <a:buChar char="•"/>
            </a:pPr>
            <a:r>
              <a:rPr lang="en-US" sz="2000"/>
              <a:t>S contains only prime numbers under 20K.</a:t>
            </a:r>
            <a:endParaRPr sz="2000"/>
          </a:p>
          <a:p>
            <a:pPr indent="-355600" lvl="1" marL="914400" rtl="0" algn="l">
              <a:lnSpc>
                <a:spcPct val="115000"/>
              </a:lnSpc>
              <a:spcBef>
                <a:spcPts val="0"/>
              </a:spcBef>
              <a:spcAft>
                <a:spcPts val="0"/>
              </a:spcAft>
              <a:buSzPts val="2000"/>
              <a:buChar char="•"/>
            </a:pPr>
            <a:r>
              <a:rPr lang="en-US" sz="2000"/>
              <a:t>In Book 2 of the textbook we find that π(20’000) = 2262 (prime counting function)</a:t>
            </a:r>
            <a:endParaRPr sz="2000"/>
          </a:p>
          <a:p>
            <a:pPr indent="-355600" lvl="0" marL="457200" rtl="0" algn="l">
              <a:spcBef>
                <a:spcPts val="0"/>
              </a:spcBef>
              <a:spcAft>
                <a:spcPts val="0"/>
              </a:spcAft>
              <a:buSzPts val="2000"/>
              <a:buChar char="•"/>
            </a:pPr>
            <a:r>
              <a:rPr lang="en-US" sz="2000"/>
              <a:t>Optimized Ap</a:t>
            </a:r>
            <a:r>
              <a:rPr lang="en-US" sz="2000"/>
              <a:t>proach</a:t>
            </a:r>
            <a:endParaRPr sz="2000"/>
          </a:p>
          <a:p>
            <a:pPr indent="-355600" lvl="1" marL="914400" rtl="0" algn="l">
              <a:spcBef>
                <a:spcPts val="0"/>
              </a:spcBef>
              <a:spcAft>
                <a:spcPts val="0"/>
              </a:spcAft>
              <a:buSzPts val="2000"/>
              <a:buChar char="•"/>
            </a:pPr>
            <a:r>
              <a:rPr lang="en-US" sz="2000"/>
              <a:t>There are only 2262 distinct prime numbers under 20K.</a:t>
            </a:r>
            <a:endParaRPr sz="2000"/>
          </a:p>
          <a:p>
            <a:pPr indent="-355600" lvl="1" marL="914400" rtl="0" algn="l">
              <a:spcBef>
                <a:spcPts val="0"/>
              </a:spcBef>
              <a:spcAft>
                <a:spcPts val="0"/>
              </a:spcAft>
              <a:buSzPts val="2000"/>
              <a:buChar char="•"/>
            </a:pPr>
            <a:r>
              <a:rPr lang="en-US" sz="2000"/>
              <a:t>Do one O(M) data compression pass to ensure that each integer only has at most 2 copies</a:t>
            </a:r>
            <a:endParaRPr sz="2000"/>
          </a:p>
          <a:p>
            <a:pPr indent="-355600" lvl="2" marL="1371600" rtl="0" algn="l">
              <a:spcBef>
                <a:spcPts val="0"/>
              </a:spcBef>
              <a:spcAft>
                <a:spcPts val="0"/>
              </a:spcAft>
              <a:buSzPts val="2000"/>
              <a:buChar char="•"/>
            </a:pPr>
            <a:r>
              <a:rPr lang="en-US" sz="2000"/>
              <a:t>i.e. N ≤ 2x2262</a:t>
            </a:r>
            <a:endParaRPr sz="2000"/>
          </a:p>
          <a:p>
            <a:pPr indent="-355600" lvl="1" marL="914400" rtl="0" algn="l">
              <a:spcBef>
                <a:spcPts val="0"/>
              </a:spcBef>
              <a:spcAft>
                <a:spcPts val="0"/>
              </a:spcAft>
              <a:buSzPts val="2000"/>
              <a:buChar char="•"/>
            </a:pPr>
            <a:r>
              <a:rPr lang="en-US" sz="2000"/>
              <a:t>Do O(N</a:t>
            </a:r>
            <a:r>
              <a:rPr baseline="30000" lang="en-US" sz="2000"/>
              <a:t>2</a:t>
            </a:r>
            <a:r>
              <a:rPr lang="en-US" sz="2000"/>
              <a:t>) complete search as before but now is ~ 20.5M operations</a:t>
            </a:r>
            <a:endParaRPr sz="2000"/>
          </a:p>
        </p:txBody>
      </p:sp>
      <p:sp>
        <p:nvSpPr>
          <p:cNvPr id="416" name="Google Shape;416;g38a82980c7b_2_225"/>
          <p:cNvSpPr txBox="1"/>
          <p:nvPr/>
        </p:nvSpPr>
        <p:spPr>
          <a:xfrm>
            <a:off x="480300" y="5809275"/>
            <a:ext cx="11231400" cy="989700"/>
          </a:xfrm>
          <a:prstGeom prst="rect">
            <a:avLst/>
          </a:prstGeom>
          <a:noFill/>
          <a:ln>
            <a:noFill/>
          </a:ln>
        </p:spPr>
        <p:txBody>
          <a:bodyPr anchorCtr="0" anchor="t" bIns="45700" lIns="91425" spcFirstLastPara="1" rIns="91425" wrap="square" tIns="45700">
            <a:normAutofit lnSpcReduction="10000"/>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u="sng">
                <a:solidFill>
                  <a:schemeClr val="hlink"/>
                </a:solidFill>
                <a:latin typeface="Gill Sans"/>
                <a:ea typeface="Gill Sans"/>
                <a:cs typeface="Gill Sans"/>
                <a:sym typeface="Gill Sans"/>
                <a:hlinkClick r:id="rId3"/>
              </a:rPr>
              <a:t>https://en.wikipedia.org/wiki/Prime-counting_function</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15" st="1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g38a82980c7b_2_302"/>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7</a:t>
            </a:r>
            <a:endParaRPr/>
          </a:p>
          <a:p>
            <a:pPr indent="0" lvl="0" marL="0" rtl="0" algn="ctr">
              <a:lnSpc>
                <a:spcPct val="90000"/>
              </a:lnSpc>
              <a:spcBef>
                <a:spcPts val="0"/>
              </a:spcBef>
              <a:spcAft>
                <a:spcPts val="0"/>
              </a:spcAft>
              <a:buClr>
                <a:srgbClr val="262626"/>
              </a:buClr>
              <a:buSzPct val="100000"/>
              <a:buFont typeface="Gill Sans"/>
              <a:buNone/>
            </a:pPr>
            <a:r>
              <a:rPr lang="en-US"/>
              <a:t>Optimizing Your Source Code Pt 1</a:t>
            </a:r>
            <a:endParaRPr/>
          </a:p>
        </p:txBody>
      </p:sp>
      <p:sp>
        <p:nvSpPr>
          <p:cNvPr id="423" name="Google Shape;423;g38a82980c7b_2_302"/>
          <p:cNvSpPr txBox="1"/>
          <p:nvPr>
            <p:ph idx="1" type="body"/>
          </p:nvPr>
        </p:nvSpPr>
        <p:spPr>
          <a:xfrm>
            <a:off x="480325" y="1345025"/>
            <a:ext cx="11231400" cy="44643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By understanding your hardware and how it is organized, especially the I/O, memory, and cache behaviour, you can design better code</a:t>
            </a:r>
            <a:endParaRPr sz="2000"/>
          </a:p>
          <a:p>
            <a:pPr indent="-355600" lvl="0" marL="457200" rtl="0" algn="l">
              <a:lnSpc>
                <a:spcPct val="100000"/>
              </a:lnSpc>
              <a:spcBef>
                <a:spcPts val="0"/>
              </a:spcBef>
              <a:spcAft>
                <a:spcPts val="0"/>
              </a:spcAft>
              <a:buSzPts val="2000"/>
              <a:buAutoNum type="arabicPeriod"/>
            </a:pPr>
            <a:r>
              <a:rPr lang="en-US" sz="2000"/>
              <a:t>Book is biased towards C++ because C++ &gt; Java &gt; Python in terms of speed</a:t>
            </a:r>
            <a:endParaRPr sz="2000"/>
          </a:p>
          <a:p>
            <a:pPr indent="-355600" lvl="1" marL="914400" rtl="0" algn="l">
              <a:lnSpc>
                <a:spcPct val="100000"/>
              </a:lnSpc>
              <a:spcBef>
                <a:spcPts val="0"/>
              </a:spcBef>
              <a:spcAft>
                <a:spcPts val="0"/>
              </a:spcAft>
              <a:buSzPts val="2000"/>
              <a:buAutoNum type="alphaLcPeriod"/>
            </a:pPr>
            <a:r>
              <a:rPr lang="en-US" sz="2000"/>
              <a:t>Some contests give Java/Python extra time to account for this but it is never 100% fair</a:t>
            </a:r>
            <a:endParaRPr sz="2000"/>
          </a:p>
          <a:p>
            <a:pPr indent="-355600" lvl="0" marL="457200" rtl="0" algn="l">
              <a:lnSpc>
                <a:spcPct val="100000"/>
              </a:lnSpc>
              <a:spcBef>
                <a:spcPts val="0"/>
              </a:spcBef>
              <a:spcAft>
                <a:spcPts val="0"/>
              </a:spcAft>
              <a:buSzPts val="2000"/>
              <a:buAutoNum type="arabicPeriod"/>
            </a:pPr>
            <a:r>
              <a:rPr lang="en-US" sz="2000"/>
              <a:t>Use bit manipulation!</a:t>
            </a:r>
            <a:endParaRPr sz="2000"/>
          </a:p>
          <a:p>
            <a:pPr indent="-355600" lvl="1" marL="914400" rtl="0" algn="l">
              <a:lnSpc>
                <a:spcPct val="100000"/>
              </a:lnSpc>
              <a:spcBef>
                <a:spcPts val="0"/>
              </a:spcBef>
              <a:spcAft>
                <a:spcPts val="0"/>
              </a:spcAft>
              <a:buSzPts val="2000"/>
              <a:buAutoNum type="alphaLcPeriod"/>
            </a:pPr>
            <a:r>
              <a:rPr lang="en-US" sz="2000"/>
              <a:t>Much more efficient than index manipulation in an array of booleans</a:t>
            </a:r>
            <a:endParaRPr sz="2000"/>
          </a:p>
          <a:p>
            <a:pPr indent="-355600" lvl="0" marL="457200" rtl="0" algn="l">
              <a:lnSpc>
                <a:spcPct val="100000"/>
              </a:lnSpc>
              <a:spcBef>
                <a:spcPts val="0"/>
              </a:spcBef>
              <a:spcAft>
                <a:spcPts val="0"/>
              </a:spcAft>
              <a:buSzPts val="2000"/>
              <a:buAutoNum type="arabicPeriod"/>
            </a:pPr>
            <a:r>
              <a:rPr lang="en-US" sz="2000"/>
              <a:t>For C/C++ use scanf/printf rather than cin/cout (or at least set ios::sync with stdio(false)</a:t>
            </a:r>
            <a:r>
              <a:rPr lang="en-US" sz="2000"/>
              <a:t>; </a:t>
            </a:r>
            <a:r>
              <a:rPr lang="en-US" sz="2000"/>
              <a:t>cin.tie(NULL); albeit still slower than scanf/printf).</a:t>
            </a:r>
            <a:endParaRPr sz="2000"/>
          </a:p>
          <a:p>
            <a:pPr indent="-355600" lvl="0" marL="457200" rtl="0" algn="l">
              <a:lnSpc>
                <a:spcPct val="115000"/>
              </a:lnSpc>
              <a:spcBef>
                <a:spcPts val="0"/>
              </a:spcBef>
              <a:spcAft>
                <a:spcPts val="0"/>
              </a:spcAft>
              <a:buSzPts val="2000"/>
              <a:buAutoNum type="arabicPeriod"/>
            </a:pPr>
            <a:r>
              <a:rPr lang="en-US" sz="2000"/>
              <a:t>For Java users, use the faster BufferedReader/BufferedWriter classes as follows:</a:t>
            </a:r>
            <a:endParaRPr sz="2000"/>
          </a:p>
          <a:p>
            <a:pPr indent="-355600" lvl="1" marL="914400" rtl="0" algn="l">
              <a:lnSpc>
                <a:spcPct val="100000"/>
              </a:lnSpc>
              <a:spcBef>
                <a:spcPts val="0"/>
              </a:spcBef>
              <a:spcAft>
                <a:spcPts val="0"/>
              </a:spcAft>
              <a:buSzPts val="2000"/>
              <a:buAutoNum type="alphaLcPeriod"/>
            </a:pPr>
            <a:r>
              <a:t/>
            </a:r>
            <a:endParaRPr sz="2000"/>
          </a:p>
        </p:txBody>
      </p:sp>
      <p:sp>
        <p:nvSpPr>
          <p:cNvPr id="424" name="Google Shape;424;g38a82980c7b_2_302"/>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pic>
        <p:nvPicPr>
          <p:cNvPr id="425" name="Google Shape;425;g38a82980c7b_2_302"/>
          <p:cNvPicPr preferRelativeResize="0"/>
          <p:nvPr/>
        </p:nvPicPr>
        <p:blipFill>
          <a:blip r:embed="rId3">
            <a:alphaModFix/>
          </a:blip>
          <a:stretch>
            <a:fillRect/>
          </a:stretch>
        </p:blipFill>
        <p:spPr>
          <a:xfrm>
            <a:off x="1392913" y="4183325"/>
            <a:ext cx="6257925" cy="167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3816e0e644b_0_81"/>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7</a:t>
            </a:r>
            <a:endParaRPr/>
          </a:p>
          <a:p>
            <a:pPr indent="0" lvl="0" marL="0" rtl="0" algn="ctr">
              <a:lnSpc>
                <a:spcPct val="90000"/>
              </a:lnSpc>
              <a:spcBef>
                <a:spcPts val="0"/>
              </a:spcBef>
              <a:spcAft>
                <a:spcPts val="0"/>
              </a:spcAft>
              <a:buClr>
                <a:srgbClr val="262626"/>
              </a:buClr>
              <a:buSzPct val="100000"/>
              <a:buFont typeface="Gill Sans"/>
              <a:buNone/>
            </a:pPr>
            <a:r>
              <a:rPr lang="en-US"/>
              <a:t>Optimizing Your Source Code Pt 2</a:t>
            </a:r>
            <a:endParaRPr/>
          </a:p>
        </p:txBody>
      </p:sp>
      <p:sp>
        <p:nvSpPr>
          <p:cNvPr id="432" name="Google Shape;432;g3816e0e644b_0_81"/>
          <p:cNvSpPr txBox="1"/>
          <p:nvPr>
            <p:ph idx="1" type="body"/>
          </p:nvPr>
        </p:nvSpPr>
        <p:spPr>
          <a:xfrm>
            <a:off x="480325" y="1345025"/>
            <a:ext cx="11231400" cy="44643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AutoNum type="arabicPeriod" startAt="5"/>
            </a:pPr>
            <a:r>
              <a:rPr lang="en-US" sz="2000"/>
              <a:t>For Python users, read all input first upfront before processing them in-memory and buffer output first before writing them out in one go, especially if the I/O is big.</a:t>
            </a:r>
            <a:endParaRPr sz="2000"/>
          </a:p>
          <a:p>
            <a:pPr indent="-355600" lvl="0" marL="457200" rtl="0" algn="l">
              <a:lnSpc>
                <a:spcPct val="100000"/>
              </a:lnSpc>
              <a:spcBef>
                <a:spcPts val="0"/>
              </a:spcBef>
              <a:spcAft>
                <a:spcPts val="0"/>
              </a:spcAft>
              <a:buSzPts val="2000"/>
              <a:buAutoNum type="arabicPeriod" startAt="5"/>
            </a:pPr>
            <a:r>
              <a:rPr lang="en-US" sz="2000"/>
              <a:t>For C++, use the expected O(n log n) but cache-friendly quicksort in C++ STL algorithm::sort (part of ‘introsort’) rather than the true O(n log n) but non cache-friendly heapsort (its root-to-leaf/leaf-to-root operations span a wide range of indices—lots of cache misses).</a:t>
            </a:r>
            <a:endParaRPr sz="2000"/>
          </a:p>
          <a:p>
            <a:pPr indent="-355600" lvl="0" marL="457200" rtl="0" algn="l">
              <a:lnSpc>
                <a:spcPct val="100000"/>
              </a:lnSpc>
              <a:spcBef>
                <a:spcPts val="0"/>
              </a:spcBef>
              <a:spcAft>
                <a:spcPts val="0"/>
              </a:spcAft>
              <a:buSzPts val="2000"/>
              <a:buAutoNum type="arabicPeriod" startAt="5"/>
            </a:pPr>
            <a:r>
              <a:rPr lang="en-US" sz="2000"/>
              <a:t>Access a 2D array in a row-major fashion (row by row) rather than in a column-major fashion as multidimensional arrays are stored in a row-major order in memory. This will increase the probability of cache hit.</a:t>
            </a:r>
            <a:endParaRPr sz="2000"/>
          </a:p>
          <a:p>
            <a:pPr indent="0" lvl="0" marL="0" rtl="0" algn="l">
              <a:lnSpc>
                <a:spcPct val="100000"/>
              </a:lnSpc>
              <a:spcBef>
                <a:spcPts val="0"/>
              </a:spcBef>
              <a:spcAft>
                <a:spcPts val="0"/>
              </a:spcAft>
              <a:buNone/>
            </a:pPr>
            <a:r>
              <a:t/>
            </a:r>
            <a:endParaRPr sz="2000"/>
          </a:p>
        </p:txBody>
      </p:sp>
      <p:sp>
        <p:nvSpPr>
          <p:cNvPr id="433" name="Google Shape;433;g3816e0e644b_0_8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pic>
        <p:nvPicPr>
          <p:cNvPr id="434" name="Google Shape;434;g3816e0e644b_0_81"/>
          <p:cNvPicPr preferRelativeResize="0"/>
          <p:nvPr/>
        </p:nvPicPr>
        <p:blipFill>
          <a:blip r:embed="rId3">
            <a:alphaModFix/>
          </a:blip>
          <a:stretch>
            <a:fillRect/>
          </a:stretch>
        </p:blipFill>
        <p:spPr>
          <a:xfrm>
            <a:off x="5832350" y="3688275"/>
            <a:ext cx="6077249" cy="2203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3816e0e644b_0_96"/>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7</a:t>
            </a:r>
            <a:endParaRPr/>
          </a:p>
          <a:p>
            <a:pPr indent="0" lvl="0" marL="0" rtl="0" algn="ctr">
              <a:lnSpc>
                <a:spcPct val="90000"/>
              </a:lnSpc>
              <a:spcBef>
                <a:spcPts val="0"/>
              </a:spcBef>
              <a:spcAft>
                <a:spcPts val="0"/>
              </a:spcAft>
              <a:buClr>
                <a:srgbClr val="262626"/>
              </a:buClr>
              <a:buSzPct val="100000"/>
              <a:buFont typeface="Gill Sans"/>
              <a:buNone/>
            </a:pPr>
            <a:r>
              <a:rPr lang="en-US"/>
              <a:t>Optimizing Your Source Code Pt 3</a:t>
            </a:r>
            <a:endParaRPr/>
          </a:p>
        </p:txBody>
      </p:sp>
      <p:sp>
        <p:nvSpPr>
          <p:cNvPr id="441" name="Google Shape;441;g3816e0e644b_0_96"/>
          <p:cNvSpPr txBox="1"/>
          <p:nvPr>
            <p:ph idx="1" type="body"/>
          </p:nvPr>
        </p:nvSpPr>
        <p:spPr>
          <a:xfrm>
            <a:off x="480325" y="1345025"/>
            <a:ext cx="11231400" cy="4464300"/>
          </a:xfrm>
          <a:prstGeom prst="rect">
            <a:avLst/>
          </a:prstGeom>
          <a:noFill/>
          <a:ln>
            <a:noFill/>
          </a:ln>
        </p:spPr>
        <p:txBody>
          <a:bodyPr anchorCtr="0" anchor="t" bIns="45700" lIns="91425" spcFirstLastPara="1" rIns="91425" wrap="square" tIns="45700">
            <a:normAutofit/>
          </a:bodyPr>
          <a:lstStyle/>
          <a:p>
            <a:pPr indent="-355600" lvl="0" marL="457200" rtl="0" algn="l">
              <a:lnSpc>
                <a:spcPct val="115000"/>
              </a:lnSpc>
              <a:spcBef>
                <a:spcPts val="0"/>
              </a:spcBef>
              <a:spcAft>
                <a:spcPts val="0"/>
              </a:spcAft>
              <a:buSzPts val="2000"/>
              <a:buAutoNum type="arabicPeriod" startAt="8"/>
            </a:pPr>
            <a:r>
              <a:rPr lang="en-US" sz="2000"/>
              <a:t>Use lower level data structures/types at all times if you do not need the extra functionality in the higher level (or larger) ones.</a:t>
            </a:r>
            <a:endParaRPr sz="2000"/>
          </a:p>
          <a:p>
            <a:pPr indent="-355600" lvl="1" marL="914400" rtl="0" algn="l">
              <a:lnSpc>
                <a:spcPct val="115000"/>
              </a:lnSpc>
              <a:spcBef>
                <a:spcPts val="0"/>
              </a:spcBef>
              <a:spcAft>
                <a:spcPts val="0"/>
              </a:spcAft>
              <a:buSzPts val="2000"/>
              <a:buAutoNum type="alphaLcPeriod"/>
            </a:pPr>
            <a:r>
              <a:rPr lang="en-US" sz="2000"/>
              <a:t>ex. use an array with a slightly larger size than the maximum size of input instead of using resizable vectors</a:t>
            </a:r>
            <a:endParaRPr sz="2000"/>
          </a:p>
          <a:p>
            <a:pPr indent="-355600" lvl="1" marL="914400" rtl="0" algn="l">
              <a:lnSpc>
                <a:spcPct val="115000"/>
              </a:lnSpc>
              <a:spcBef>
                <a:spcPts val="0"/>
              </a:spcBef>
              <a:spcAft>
                <a:spcPts val="0"/>
              </a:spcAft>
              <a:buSzPts val="2000"/>
              <a:buAutoNum type="alphaLcPeriod"/>
            </a:pPr>
            <a:r>
              <a:rPr lang="en-US" sz="2000"/>
              <a:t>use 32-bit ints instead of 64-bit long longs as the 32-bit int is faster in most 32-bit online judge systems</a:t>
            </a:r>
            <a:endParaRPr sz="2000"/>
          </a:p>
          <a:p>
            <a:pPr indent="-355600" lvl="0" marL="457200" rtl="0" algn="l">
              <a:lnSpc>
                <a:spcPct val="115000"/>
              </a:lnSpc>
              <a:spcBef>
                <a:spcPts val="0"/>
              </a:spcBef>
              <a:spcAft>
                <a:spcPts val="0"/>
              </a:spcAft>
              <a:buSzPts val="2000"/>
              <a:buAutoNum type="arabicPeriod" startAt="8"/>
            </a:pPr>
            <a:r>
              <a:rPr lang="en-US" sz="2000"/>
              <a:t>For Java, use the faster ArrayList (and StringBuilder) rather than Vector (and StringBuffer). </a:t>
            </a:r>
            <a:endParaRPr sz="2000"/>
          </a:p>
          <a:p>
            <a:pPr indent="-355600" lvl="1" marL="914400" rtl="0" algn="l">
              <a:lnSpc>
                <a:spcPct val="115000"/>
              </a:lnSpc>
              <a:spcBef>
                <a:spcPts val="0"/>
              </a:spcBef>
              <a:spcAft>
                <a:spcPts val="0"/>
              </a:spcAft>
              <a:buSzPts val="2000"/>
              <a:buAutoNum type="alphaLcPeriod"/>
            </a:pPr>
            <a:r>
              <a:rPr lang="en-US" sz="2000"/>
              <a:t>Java Vectors and StringBuffers are thread safe but this feature is not needed in competitive programming.</a:t>
            </a:r>
            <a:endParaRPr sz="2000"/>
          </a:p>
          <a:p>
            <a:pPr indent="0" lvl="0" marL="0" rtl="0" algn="l">
              <a:lnSpc>
                <a:spcPct val="115000"/>
              </a:lnSpc>
              <a:spcBef>
                <a:spcPts val="0"/>
              </a:spcBef>
              <a:spcAft>
                <a:spcPts val="0"/>
              </a:spcAft>
              <a:buNone/>
            </a:pPr>
            <a:r>
              <a:rPr lang="en-US" sz="2000"/>
              <a:t>	</a:t>
            </a:r>
            <a:endParaRPr sz="2000"/>
          </a:p>
          <a:p>
            <a:pPr indent="0" lvl="0" marL="0" rtl="0" algn="l">
              <a:lnSpc>
                <a:spcPct val="100000"/>
              </a:lnSpc>
              <a:spcBef>
                <a:spcPts val="0"/>
              </a:spcBef>
              <a:spcAft>
                <a:spcPts val="0"/>
              </a:spcAft>
              <a:buNone/>
            </a:pPr>
            <a:r>
              <a:t/>
            </a:r>
            <a:endParaRPr sz="2000"/>
          </a:p>
        </p:txBody>
      </p:sp>
      <p:sp>
        <p:nvSpPr>
          <p:cNvPr id="442" name="Google Shape;442;g3816e0e644b_0_96"/>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g3816e0e644b_0_108"/>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7</a:t>
            </a:r>
            <a:endParaRPr/>
          </a:p>
          <a:p>
            <a:pPr indent="0" lvl="0" marL="0" rtl="0" algn="ctr">
              <a:lnSpc>
                <a:spcPct val="90000"/>
              </a:lnSpc>
              <a:spcBef>
                <a:spcPts val="0"/>
              </a:spcBef>
              <a:spcAft>
                <a:spcPts val="0"/>
              </a:spcAft>
              <a:buClr>
                <a:srgbClr val="262626"/>
              </a:buClr>
              <a:buSzPct val="100000"/>
              <a:buFont typeface="Gill Sans"/>
              <a:buNone/>
            </a:pPr>
            <a:r>
              <a:rPr lang="en-US"/>
              <a:t>Optimizing Your Source Code Pt 5</a:t>
            </a:r>
            <a:endParaRPr/>
          </a:p>
        </p:txBody>
      </p:sp>
      <p:sp>
        <p:nvSpPr>
          <p:cNvPr id="449" name="Google Shape;449;g3816e0e644b_0_108"/>
          <p:cNvSpPr txBox="1"/>
          <p:nvPr>
            <p:ph idx="1" type="body"/>
          </p:nvPr>
        </p:nvSpPr>
        <p:spPr>
          <a:xfrm>
            <a:off x="480325" y="1345025"/>
            <a:ext cx="11231400" cy="4464300"/>
          </a:xfrm>
          <a:prstGeom prst="rect">
            <a:avLst/>
          </a:prstGeom>
          <a:noFill/>
          <a:ln>
            <a:noFill/>
          </a:ln>
        </p:spPr>
        <p:txBody>
          <a:bodyPr anchorCtr="0" anchor="t" bIns="45700" lIns="91425" spcFirstLastPara="1" rIns="91425" wrap="square" tIns="45700">
            <a:normAutofit lnSpcReduction="10000"/>
          </a:bodyPr>
          <a:lstStyle/>
          <a:p>
            <a:pPr indent="-355600" lvl="0" marL="457200" rtl="0" algn="l">
              <a:lnSpc>
                <a:spcPct val="115000"/>
              </a:lnSpc>
              <a:spcBef>
                <a:spcPts val="0"/>
              </a:spcBef>
              <a:spcAft>
                <a:spcPts val="0"/>
              </a:spcAft>
              <a:buSzPts val="2000"/>
              <a:buAutoNum type="arabicPeriod" startAt="10"/>
            </a:pPr>
            <a:r>
              <a:rPr lang="en-US" sz="2000"/>
              <a:t>Declare most data structures (especially the bulky ones, e.g., large arrays) once by placing them in global scope</a:t>
            </a:r>
            <a:endParaRPr sz="2000"/>
          </a:p>
          <a:p>
            <a:pPr indent="-355600" lvl="1" marL="914400" rtl="0" algn="l">
              <a:lnSpc>
                <a:spcPct val="115000"/>
              </a:lnSpc>
              <a:spcBef>
                <a:spcPts val="0"/>
              </a:spcBef>
              <a:spcAft>
                <a:spcPts val="0"/>
              </a:spcAft>
              <a:buSzPts val="2000"/>
              <a:buAutoNum type="alphaLcPeriod"/>
            </a:pPr>
            <a:r>
              <a:rPr lang="en-US" sz="2000"/>
              <a:t>Allocate enough memory to deal with the largest input of the problem</a:t>
            </a:r>
            <a:endParaRPr sz="2000"/>
          </a:p>
          <a:p>
            <a:pPr indent="-355600" lvl="1" marL="914400" rtl="0" algn="l">
              <a:lnSpc>
                <a:spcPct val="115000"/>
              </a:lnSpc>
              <a:spcBef>
                <a:spcPts val="0"/>
              </a:spcBef>
              <a:spcAft>
                <a:spcPts val="0"/>
              </a:spcAft>
              <a:buSzPts val="2000"/>
              <a:buAutoNum type="alphaLcPeriod"/>
            </a:pPr>
            <a:r>
              <a:rPr lang="en-US" sz="2000"/>
              <a:t>This way, we do not have to pass (or worse, copy) the data structures around as function arguments</a:t>
            </a:r>
            <a:endParaRPr sz="2000"/>
          </a:p>
          <a:p>
            <a:pPr indent="-355600" lvl="1" marL="914400" rtl="0" algn="l">
              <a:lnSpc>
                <a:spcPct val="115000"/>
              </a:lnSpc>
              <a:spcBef>
                <a:spcPts val="0"/>
              </a:spcBef>
              <a:spcAft>
                <a:spcPts val="0"/>
              </a:spcAft>
              <a:buSzPts val="2000"/>
              <a:buAutoNum type="alphaLcPeriod"/>
            </a:pPr>
            <a:r>
              <a:rPr lang="en-US" sz="2000"/>
              <a:t>For problems with multiple test cases, simply clear/reset the contents of the data structure before dealing with each test case</a:t>
            </a:r>
            <a:endParaRPr sz="2000"/>
          </a:p>
          <a:p>
            <a:pPr indent="-355600" lvl="0" marL="457200" rtl="0" algn="l">
              <a:lnSpc>
                <a:spcPct val="115000"/>
              </a:lnSpc>
              <a:spcBef>
                <a:spcPts val="0"/>
              </a:spcBef>
              <a:spcAft>
                <a:spcPts val="0"/>
              </a:spcAft>
              <a:buSzPts val="2000"/>
              <a:buAutoNum type="arabicPeriod" startAt="10"/>
            </a:pPr>
            <a:r>
              <a:rPr lang="en-US" sz="2000"/>
              <a:t>When you have the option to write your code either iteratively or recursively, choose the iterative version</a:t>
            </a:r>
            <a:endParaRPr sz="2000"/>
          </a:p>
          <a:p>
            <a:pPr indent="-355600" lvl="1" marL="914400" rtl="0" algn="l">
              <a:lnSpc>
                <a:spcPct val="115000"/>
              </a:lnSpc>
              <a:spcBef>
                <a:spcPts val="0"/>
              </a:spcBef>
              <a:spcAft>
                <a:spcPts val="0"/>
              </a:spcAft>
              <a:buSzPts val="2000"/>
              <a:buAutoNum type="alphaLcPeriod"/>
            </a:pPr>
            <a:r>
              <a:rPr lang="en-US" sz="2000"/>
              <a:t>Ex: (check on your own time) the iterative C++ STL next permutation and iterative subset generation techniques using bitmask shown in Section 3.2.1 are (far) faster than if you write similar routines recursively and when early pruning is not possible.</a:t>
            </a:r>
            <a:r>
              <a:rPr lang="en-US" sz="2000"/>
              <a:t>	</a:t>
            </a:r>
            <a:endParaRPr sz="2000"/>
          </a:p>
          <a:p>
            <a:pPr indent="0" lvl="0" marL="0" rtl="0" algn="l">
              <a:lnSpc>
                <a:spcPct val="100000"/>
              </a:lnSpc>
              <a:spcBef>
                <a:spcPts val="0"/>
              </a:spcBef>
              <a:spcAft>
                <a:spcPts val="0"/>
              </a:spcAft>
              <a:buNone/>
            </a:pPr>
            <a:r>
              <a:t/>
            </a:r>
            <a:endParaRPr sz="2000"/>
          </a:p>
        </p:txBody>
      </p:sp>
      <p:sp>
        <p:nvSpPr>
          <p:cNvPr id="450" name="Google Shape;450;g3816e0e644b_0_108"/>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g3816e0e644b_0_121"/>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7</a:t>
            </a:r>
            <a:endParaRPr/>
          </a:p>
          <a:p>
            <a:pPr indent="0" lvl="0" marL="0" rtl="0" algn="ctr">
              <a:lnSpc>
                <a:spcPct val="90000"/>
              </a:lnSpc>
              <a:spcBef>
                <a:spcPts val="0"/>
              </a:spcBef>
              <a:spcAft>
                <a:spcPts val="0"/>
              </a:spcAft>
              <a:buClr>
                <a:srgbClr val="262626"/>
              </a:buClr>
              <a:buSzPct val="100000"/>
              <a:buFont typeface="Gill Sans"/>
              <a:buNone/>
            </a:pPr>
            <a:r>
              <a:rPr lang="en-US"/>
              <a:t>Optimizing Your Source Code Pt 6</a:t>
            </a:r>
            <a:endParaRPr/>
          </a:p>
        </p:txBody>
      </p:sp>
      <p:sp>
        <p:nvSpPr>
          <p:cNvPr id="457" name="Google Shape;457;g3816e0e644b_0_121"/>
          <p:cNvSpPr txBox="1"/>
          <p:nvPr>
            <p:ph idx="1" type="body"/>
          </p:nvPr>
        </p:nvSpPr>
        <p:spPr>
          <a:xfrm>
            <a:off x="480325" y="1345025"/>
            <a:ext cx="11231400" cy="4464300"/>
          </a:xfrm>
          <a:prstGeom prst="rect">
            <a:avLst/>
          </a:prstGeom>
          <a:noFill/>
          <a:ln>
            <a:noFill/>
          </a:ln>
        </p:spPr>
        <p:txBody>
          <a:bodyPr anchorCtr="0" anchor="t" bIns="45700" lIns="91425" spcFirstLastPara="1" rIns="91425" wrap="square" tIns="45700">
            <a:normAutofit lnSpcReduction="10000"/>
          </a:bodyPr>
          <a:lstStyle/>
          <a:p>
            <a:pPr indent="-355600" lvl="0" marL="457200" rtl="0" algn="l">
              <a:lnSpc>
                <a:spcPct val="115000"/>
              </a:lnSpc>
              <a:spcBef>
                <a:spcPts val="0"/>
              </a:spcBef>
              <a:spcAft>
                <a:spcPts val="0"/>
              </a:spcAft>
              <a:buSzPts val="2000"/>
              <a:buAutoNum type="arabicPeriod" startAt="12"/>
            </a:pPr>
            <a:r>
              <a:rPr lang="en-US" sz="2000"/>
              <a:t>Array access in (nested) loops can be slow</a:t>
            </a:r>
            <a:endParaRPr sz="2000"/>
          </a:p>
          <a:p>
            <a:pPr indent="-355600" lvl="1" marL="914400" rtl="0" algn="l">
              <a:lnSpc>
                <a:spcPct val="115000"/>
              </a:lnSpc>
              <a:spcBef>
                <a:spcPts val="0"/>
              </a:spcBef>
              <a:spcAft>
                <a:spcPts val="0"/>
              </a:spcAft>
              <a:buSzPts val="2000"/>
              <a:buAutoNum type="alphaLcPeriod"/>
            </a:pPr>
            <a:r>
              <a:rPr lang="en-US" sz="2000"/>
              <a:t>If you frequently need A[i] (without changing it) in (nested) loops, you can use a local variable temp = A[i] and work with temp instead</a:t>
            </a:r>
            <a:endParaRPr sz="2000"/>
          </a:p>
          <a:p>
            <a:pPr indent="-355600" lvl="0" marL="457200" rtl="0" algn="l">
              <a:lnSpc>
                <a:spcPct val="115000"/>
              </a:lnSpc>
              <a:spcBef>
                <a:spcPts val="0"/>
              </a:spcBef>
              <a:spcAft>
                <a:spcPts val="0"/>
              </a:spcAft>
              <a:buSzPts val="2000"/>
              <a:buAutoNum type="arabicPeriod" startAt="12"/>
            </a:pPr>
            <a:r>
              <a:rPr lang="en-US" sz="2000"/>
              <a:t>For C++, using C-style character arrays will yield faster execution than when using the C++ STL string</a:t>
            </a:r>
            <a:endParaRPr sz="2000"/>
          </a:p>
          <a:p>
            <a:pPr indent="-355600" lvl="1" marL="914400" rtl="0" algn="l">
              <a:lnSpc>
                <a:spcPct val="115000"/>
              </a:lnSpc>
              <a:spcBef>
                <a:spcPts val="0"/>
              </a:spcBef>
              <a:spcAft>
                <a:spcPts val="0"/>
              </a:spcAft>
              <a:buSzPts val="2000"/>
              <a:buAutoNum type="alphaLcPeriod"/>
            </a:pPr>
            <a:r>
              <a:rPr lang="en-US" sz="2000"/>
              <a:t>For Java/Python/OCaml users</a:t>
            </a:r>
            <a:endParaRPr sz="2000"/>
          </a:p>
          <a:p>
            <a:pPr indent="-355600" lvl="2" marL="1371600" rtl="0" algn="l">
              <a:lnSpc>
                <a:spcPct val="115000"/>
              </a:lnSpc>
              <a:spcBef>
                <a:spcPts val="0"/>
              </a:spcBef>
              <a:spcAft>
                <a:spcPts val="0"/>
              </a:spcAft>
              <a:buSzPts val="2000"/>
              <a:buAutoNum type="romanLcPeriod"/>
            </a:pPr>
            <a:r>
              <a:rPr lang="en-US" sz="2000"/>
              <a:t>Careful with String manipulation as they are immutable (For a new string, it has to be recreated from scratch)</a:t>
            </a:r>
            <a:endParaRPr sz="2000"/>
          </a:p>
          <a:p>
            <a:pPr indent="-355600" lvl="2" marL="1371600" rtl="0" algn="l">
              <a:lnSpc>
                <a:spcPct val="115000"/>
              </a:lnSpc>
              <a:spcBef>
                <a:spcPts val="0"/>
              </a:spcBef>
              <a:spcAft>
                <a:spcPts val="0"/>
              </a:spcAft>
              <a:buSzPts val="2000"/>
              <a:buAutoNum type="romanLcPeriod"/>
            </a:pPr>
            <a:r>
              <a:rPr lang="en-US" sz="2000"/>
              <a:t>Better to use Java StringBuilder or Python list (and join the list afterwards)</a:t>
            </a:r>
            <a:endParaRPr sz="2000"/>
          </a:p>
          <a:p>
            <a:pPr indent="-355600" lvl="0" marL="457200" rtl="0" algn="l">
              <a:lnSpc>
                <a:spcPct val="115000"/>
              </a:lnSpc>
              <a:spcBef>
                <a:spcPts val="0"/>
              </a:spcBef>
              <a:spcAft>
                <a:spcPts val="0"/>
              </a:spcAft>
              <a:buSzPts val="2000"/>
              <a:buAutoNum type="arabicPeriod" startAt="12"/>
            </a:pPr>
            <a:r>
              <a:rPr lang="en-US" sz="2000"/>
              <a:t>Browse the Internet or relevant books to find more information on how to speed up your code!</a:t>
            </a:r>
            <a:endParaRPr sz="2000"/>
          </a:p>
          <a:p>
            <a:pPr indent="-355600" lvl="1" marL="914400" rtl="0" algn="l">
              <a:lnSpc>
                <a:spcPct val="115000"/>
              </a:lnSpc>
              <a:spcBef>
                <a:spcPts val="0"/>
              </a:spcBef>
              <a:spcAft>
                <a:spcPts val="0"/>
              </a:spcAft>
              <a:buSzPts val="2000"/>
              <a:buAutoNum type="alphaLcPeriod"/>
            </a:pPr>
            <a:r>
              <a:rPr lang="en-US" sz="2000"/>
              <a:t>Practice by choosing harder problems in UVa or Kattis where the best solution is not 0.000s. Submit variants and check runtime differences</a:t>
            </a:r>
            <a:endParaRPr sz="2000"/>
          </a:p>
          <a:p>
            <a:pPr indent="-355600" lvl="1" marL="914400" rtl="0" algn="l">
              <a:lnSpc>
                <a:spcPct val="115000"/>
              </a:lnSpc>
              <a:spcBef>
                <a:spcPts val="0"/>
              </a:spcBef>
              <a:spcAft>
                <a:spcPts val="0"/>
              </a:spcAft>
              <a:buSzPts val="2000"/>
              <a:buAutoNum type="alphaLcPeriod"/>
            </a:pPr>
            <a:r>
              <a:rPr lang="en-US" sz="2000"/>
              <a:t>Adopt hacking modifications that consistently give you faster runtime.</a:t>
            </a:r>
            <a:endParaRPr sz="2000"/>
          </a:p>
          <a:p>
            <a:pPr indent="0" lvl="0" marL="0" rtl="0" algn="l">
              <a:lnSpc>
                <a:spcPct val="100000"/>
              </a:lnSpc>
              <a:spcBef>
                <a:spcPts val="0"/>
              </a:spcBef>
              <a:spcAft>
                <a:spcPts val="0"/>
              </a:spcAft>
              <a:buNone/>
            </a:pPr>
            <a:r>
              <a:t/>
            </a:r>
            <a:endParaRPr sz="2000"/>
          </a:p>
        </p:txBody>
      </p:sp>
      <p:sp>
        <p:nvSpPr>
          <p:cNvPr id="458" name="Google Shape;458;g3816e0e644b_0_12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g38a82980c7b_2_239"/>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8</a:t>
            </a:r>
            <a:endParaRPr/>
          </a:p>
          <a:p>
            <a:pPr indent="0" lvl="0" marL="0" rtl="0" algn="ctr">
              <a:lnSpc>
                <a:spcPct val="90000"/>
              </a:lnSpc>
              <a:spcBef>
                <a:spcPts val="0"/>
              </a:spcBef>
              <a:spcAft>
                <a:spcPts val="0"/>
              </a:spcAft>
              <a:buClr>
                <a:srgbClr val="262626"/>
              </a:buClr>
              <a:buSzPct val="100000"/>
              <a:buFont typeface="Gill Sans"/>
              <a:buNone/>
            </a:pPr>
            <a:r>
              <a:rPr lang="en-US"/>
              <a:t>Use Better Data Structures &amp; Algorithms</a:t>
            </a:r>
            <a:endParaRPr/>
          </a:p>
        </p:txBody>
      </p:sp>
      <p:sp>
        <p:nvSpPr>
          <p:cNvPr id="465" name="Google Shape;465;g38a82980c7b_2_239"/>
          <p:cNvSpPr txBox="1"/>
          <p:nvPr>
            <p:ph idx="1" type="body"/>
          </p:nvPr>
        </p:nvSpPr>
        <p:spPr>
          <a:xfrm>
            <a:off x="480325" y="1170125"/>
            <a:ext cx="11231400" cy="33102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Use better data structures and algorithms!</a:t>
            </a:r>
            <a:endParaRPr sz="2000"/>
          </a:p>
          <a:p>
            <a:pPr indent="-355600" lvl="1" marL="914400" rtl="0" algn="l">
              <a:lnSpc>
                <a:spcPct val="100000"/>
              </a:lnSpc>
              <a:spcBef>
                <a:spcPts val="0"/>
              </a:spcBef>
              <a:spcAft>
                <a:spcPts val="0"/>
              </a:spcAft>
              <a:buSzPts val="2000"/>
              <a:buChar char="•"/>
            </a:pPr>
            <a:r>
              <a:rPr lang="en-US" sz="2000"/>
              <a:t>They will always outperform any micro optimizations.</a:t>
            </a:r>
            <a:endParaRPr sz="2000"/>
          </a:p>
          <a:p>
            <a:pPr indent="-355600" lvl="0" marL="457200" rtl="0" algn="l">
              <a:lnSpc>
                <a:spcPct val="100000"/>
              </a:lnSpc>
              <a:spcBef>
                <a:spcPts val="0"/>
              </a:spcBef>
              <a:spcAft>
                <a:spcPts val="0"/>
              </a:spcAft>
              <a:buSzPts val="2000"/>
              <a:buChar char="•"/>
            </a:pPr>
            <a:r>
              <a:rPr lang="en-US" sz="2000"/>
              <a:t>If you are sure that you have </a:t>
            </a:r>
            <a:r>
              <a:rPr lang="en-US" sz="2000"/>
              <a:t>written</a:t>
            </a:r>
            <a:r>
              <a:rPr lang="en-US" sz="2000"/>
              <a:t> your fastest Complete Search code, but it is still judged as TLE, perhaps explore other non-Complete search solutions. </a:t>
            </a:r>
            <a:endParaRPr sz="2000"/>
          </a:p>
        </p:txBody>
      </p:sp>
      <p:sp>
        <p:nvSpPr>
          <p:cNvPr id="466" name="Google Shape;466;g38a82980c7b_2_239"/>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g3816e0e644b_0_173"/>
          <p:cNvSpPr txBox="1"/>
          <p:nvPr>
            <p:ph type="ctrTitle"/>
          </p:nvPr>
        </p:nvSpPr>
        <p:spPr>
          <a:xfrm>
            <a:off x="1600200" y="1124869"/>
            <a:ext cx="8991600" cy="164580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a:t>Suggested Homework</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g37c4946a550_0_55"/>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Suggested Homework</a:t>
            </a:r>
            <a:endParaRPr/>
          </a:p>
        </p:txBody>
      </p:sp>
      <p:sp>
        <p:nvSpPr>
          <p:cNvPr id="479" name="Google Shape;479;g37c4946a550_0_55"/>
          <p:cNvSpPr txBox="1"/>
          <p:nvPr>
            <p:ph idx="1" type="body"/>
          </p:nvPr>
        </p:nvSpPr>
        <p:spPr>
          <a:xfrm>
            <a:off x="282125" y="1147625"/>
            <a:ext cx="11766300" cy="53559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a:t>Implement YOUR Union-Find Disjoint Set!</a:t>
            </a:r>
            <a:endParaRPr/>
          </a:p>
          <a:p>
            <a:pPr indent="-342900" lvl="0" marL="457200" rtl="0" algn="l">
              <a:lnSpc>
                <a:spcPct val="100000"/>
              </a:lnSpc>
              <a:spcBef>
                <a:spcPts val="0"/>
              </a:spcBef>
              <a:spcAft>
                <a:spcPts val="0"/>
              </a:spcAft>
              <a:buSzPts val="1800"/>
              <a:buChar char="•"/>
            </a:pPr>
            <a:r>
              <a:rPr lang="en-US" u="sng">
                <a:solidFill>
                  <a:schemeClr val="hlink"/>
                </a:solidFill>
                <a:hlinkClick r:id="rId3"/>
              </a:rPr>
              <a:t>https://open.kattis.com/problems/unionfind</a:t>
            </a:r>
            <a:r>
              <a:rPr lang="en-US"/>
              <a:t> </a:t>
            </a:r>
            <a:endParaRPr/>
          </a:p>
          <a:p>
            <a:pPr indent="-342900" lvl="0" marL="457200" rtl="0" algn="l">
              <a:lnSpc>
                <a:spcPct val="100000"/>
              </a:lnSpc>
              <a:spcBef>
                <a:spcPts val="0"/>
              </a:spcBef>
              <a:spcAft>
                <a:spcPts val="0"/>
              </a:spcAft>
              <a:buSzPts val="1800"/>
              <a:buChar char="•"/>
            </a:pPr>
            <a:r>
              <a:rPr lang="en-US" u="sng">
                <a:solidFill>
                  <a:schemeClr val="hlink"/>
                </a:solidFill>
                <a:hlinkClick r:id="rId4"/>
              </a:rPr>
              <a:t>https://open.kattis.com/problems/almostunionfind</a:t>
            </a:r>
            <a:r>
              <a:rPr lang="en-US"/>
              <a:t> </a:t>
            </a:r>
            <a:endParaRPr/>
          </a:p>
          <a:p>
            <a:pPr indent="-342900" lvl="0" marL="457200" rtl="0" algn="l">
              <a:lnSpc>
                <a:spcPct val="100000"/>
              </a:lnSpc>
              <a:spcBef>
                <a:spcPts val="0"/>
              </a:spcBef>
              <a:spcAft>
                <a:spcPts val="0"/>
              </a:spcAft>
              <a:buSzPts val="1800"/>
              <a:buChar char="•"/>
            </a:pPr>
            <a:r>
              <a:rPr lang="en-US" u="sng">
                <a:solidFill>
                  <a:schemeClr val="hlink"/>
                </a:solidFill>
                <a:hlinkClick r:id="rId5"/>
              </a:rPr>
              <a:t>https://open.kattis.com/problems/blackfriday</a:t>
            </a:r>
            <a:r>
              <a:rPr lang="en-US"/>
              <a:t> </a:t>
            </a:r>
            <a:endParaRPr/>
          </a:p>
          <a:p>
            <a:pPr indent="-342900" lvl="0" marL="457200" rtl="0" algn="l">
              <a:lnSpc>
                <a:spcPct val="100000"/>
              </a:lnSpc>
              <a:spcBef>
                <a:spcPts val="0"/>
              </a:spcBef>
              <a:spcAft>
                <a:spcPts val="0"/>
              </a:spcAft>
              <a:buSzPts val="1800"/>
              <a:buChar char="•"/>
            </a:pPr>
            <a:r>
              <a:rPr lang="en-US" u="sng">
                <a:solidFill>
                  <a:schemeClr val="hlink"/>
                </a:solidFill>
                <a:hlinkClick r:id="rId6"/>
              </a:rPr>
              <a:t>https://open.kattis.com/problems/veci</a:t>
            </a:r>
            <a:r>
              <a:rPr lang="en-US"/>
              <a:t> </a:t>
            </a:r>
            <a:endParaRPr/>
          </a:p>
          <a:p>
            <a:pPr indent="-342900" lvl="0" marL="457200" rtl="0" algn="l">
              <a:lnSpc>
                <a:spcPct val="100000"/>
              </a:lnSpc>
              <a:spcBef>
                <a:spcPts val="0"/>
              </a:spcBef>
              <a:spcAft>
                <a:spcPts val="0"/>
              </a:spcAft>
              <a:buSzPts val="1800"/>
              <a:buChar char="•"/>
            </a:pPr>
            <a:r>
              <a:rPr lang="en-US" u="sng">
                <a:solidFill>
                  <a:schemeClr val="hlink"/>
                </a:solidFill>
                <a:hlinkClick r:id="rId7"/>
              </a:rPr>
              <a:t>https://open.kattis.com/problems/tautology</a:t>
            </a:r>
            <a:r>
              <a:rPr lang="en-US"/>
              <a:t> </a:t>
            </a:r>
            <a:endParaRPr/>
          </a:p>
          <a:p>
            <a:pPr indent="-342900" lvl="0" marL="457200" rtl="0" algn="l">
              <a:lnSpc>
                <a:spcPct val="100000"/>
              </a:lnSpc>
              <a:spcBef>
                <a:spcPts val="0"/>
              </a:spcBef>
              <a:spcAft>
                <a:spcPts val="0"/>
              </a:spcAft>
              <a:buSzPts val="1800"/>
              <a:buChar char="•"/>
            </a:pPr>
            <a:r>
              <a:rPr lang="en-US" u="sng">
                <a:solidFill>
                  <a:schemeClr val="hlink"/>
                </a:solidFill>
                <a:hlinkClick r:id="rId8"/>
              </a:rPr>
              <a:t>https://open.kattis.com/problems/geppetto</a:t>
            </a:r>
            <a:r>
              <a:rPr lang="en-US"/>
              <a:t> </a:t>
            </a:r>
            <a:endParaRPr/>
          </a:p>
          <a:p>
            <a:pPr indent="-342900" lvl="0" marL="457200" rtl="0" algn="l">
              <a:lnSpc>
                <a:spcPct val="100000"/>
              </a:lnSpc>
              <a:spcBef>
                <a:spcPts val="0"/>
              </a:spcBef>
              <a:spcAft>
                <a:spcPts val="0"/>
              </a:spcAft>
              <a:buSzPts val="1800"/>
              <a:buChar char="•"/>
            </a:pPr>
            <a:r>
              <a:rPr lang="en-US" u="sng">
                <a:solidFill>
                  <a:schemeClr val="hlink"/>
                </a:solidFill>
                <a:hlinkClick r:id="rId9"/>
              </a:rPr>
              <a:t>https://open.kattis.com/problems/thanosthehero</a:t>
            </a:r>
            <a:r>
              <a:rPr lang="en-US"/>
              <a:t> </a:t>
            </a:r>
            <a:endParaRPr/>
          </a:p>
          <a:p>
            <a:pPr indent="-342900" lvl="0" marL="457200" rtl="0" algn="l">
              <a:lnSpc>
                <a:spcPct val="100000"/>
              </a:lnSpc>
              <a:spcBef>
                <a:spcPts val="0"/>
              </a:spcBef>
              <a:spcAft>
                <a:spcPts val="0"/>
              </a:spcAft>
              <a:buSzPts val="1800"/>
              <a:buChar char="•"/>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g37e6225694e_0_2"/>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Template</a:t>
            </a:r>
            <a:endParaRPr/>
          </a:p>
        </p:txBody>
      </p:sp>
      <p:sp>
        <p:nvSpPr>
          <p:cNvPr id="486" name="Google Shape;486;g37e6225694e_0_2"/>
          <p:cNvSpPr txBox="1"/>
          <p:nvPr>
            <p:ph idx="1" type="body"/>
          </p:nvPr>
        </p:nvSpPr>
        <p:spPr>
          <a:xfrm>
            <a:off x="494675" y="1096825"/>
            <a:ext cx="11231400" cy="33102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Template</a:t>
            </a:r>
            <a:endParaRPr sz="2000"/>
          </a:p>
        </p:txBody>
      </p:sp>
      <p:sp>
        <p:nvSpPr>
          <p:cNvPr id="487" name="Google Shape;487;g37e6225694e_0_2"/>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2025-09-06T15:13:09Z</dcterms:created>
  <dc:creator>Ryan Pelchat</dc:creator>
</cp:coreProperties>
</file>