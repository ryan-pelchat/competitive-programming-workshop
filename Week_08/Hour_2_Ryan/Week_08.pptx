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12192000"/>
  <p:notesSz cx="6858000" cy="9144000"/>
  <p:embeddedFontLst>
    <p:embeddedFont>
      <p:font typeface="Gill Sans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gAvFYVXqDj2HT0vQN+/dEVTSyD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GillSans-bold.fntdata"/><Relationship Id="rId14" Type="http://schemas.openxmlformats.org/officeDocument/2006/relationships/slide" Target="slides/slide9.xml"/><Relationship Id="rId36" Type="http://schemas.openxmlformats.org/officeDocument/2006/relationships/font" Target="fonts/GillSans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45568222e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845568222e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g3845568222e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45568222e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845568222e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3845568222e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ce74de10f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9ce74de10f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 input information to the board</a:t>
            </a:r>
            <a:endParaRPr/>
          </a:p>
        </p:txBody>
      </p:sp>
      <p:sp>
        <p:nvSpPr>
          <p:cNvPr id="123" name="Google Shape;123;g39ce74de10f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ce74de10f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9ce74de10f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 these 2 examples to the board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Ex: 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Test case M=20, C=3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Price of the 3 models of garment g = 0 → 6 4 8 // the prices are not sorted in the input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Price of the 2 models of garment g = 1 → 5 10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Price of the 4 models of garment g = 2 → 1 5 3 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For this test case, the answer is 19, which may result from buying the underlined items (8+10+1).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This is not unique, as solutions (6+10+3) and (4+10+5) are also optimal.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Ex: 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Test case M=9, C=3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Price of the 3 models of garment g = 0 → 6 4 8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Price of the 2 models of garment g = 1 → 5 10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Price of the 4 models of garment g = 2 → 1 5 3 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 answer is then “no solution” because even if we buy all the cheapest models for each garment,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total price (4+5+1) = 10 still exceeds our given budget M = 9.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9ce74de10f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ce74de10f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9ce74de10f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Work through example 1 and 2 using greedy method and copy example 3 to the board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(one optimal is 4+5+3=12)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Ex: 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Test case M=12, C=3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Price of the 3 models of garment g = 0 → 6 4 8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Price of the 2 models of garment g = 1 → 5 10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Price of the 4 models of garment g = 2 → 1 5 3 5</a:t>
            </a:r>
            <a:endParaRPr/>
          </a:p>
        </p:txBody>
      </p:sp>
      <p:sp>
        <p:nvSpPr>
          <p:cNvPr id="139" name="Google Shape;139;g39ce74de10f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ce74de10f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9ce74de10f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We can try.. but we will soon realise that it does not work why is that?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This is because divide and conquer shines when each sub-problem are independent from each other i.e.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9ce74de10f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ce74de10f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9ce74de10f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g39ce74de10f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ce74de10f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9ce74de10f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39ce74de10f_0_1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ce74de10f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9ce74de10f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2 on the board</a:t>
            </a:r>
            <a:endParaRPr/>
          </a:p>
        </p:txBody>
      </p:sp>
      <p:sp>
        <p:nvSpPr>
          <p:cNvPr id="171" name="Google Shape;171;g39ce74de10f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ce74de10f_0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9ce74de10f_0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2 rules on the board</a:t>
            </a:r>
            <a:endParaRPr/>
          </a:p>
        </p:txBody>
      </p:sp>
      <p:sp>
        <p:nvSpPr>
          <p:cNvPr id="179" name="Google Shape;179;g39ce74de10f_0_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ce74de10f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9ce74de10f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@functools.lru_cache(</a:t>
            </a:r>
            <a:r>
              <a:rPr i="1" lang="en-US" sz="1100"/>
              <a:t>maxsize=128</a:t>
            </a:r>
            <a:r>
              <a:rPr lang="en-US" sz="1100"/>
              <a:t>, </a:t>
            </a:r>
            <a:r>
              <a:rPr i="1" lang="en-US" sz="1100"/>
              <a:t>typed=False</a:t>
            </a:r>
            <a:r>
              <a:rPr lang="en-US" sz="1100"/>
              <a:t>)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/>
              <a:t>Decorator to wrap a function with a memoizing callable that saves up to the </a:t>
            </a:r>
            <a:r>
              <a:rPr i="1" lang="en-US" sz="1100"/>
              <a:t>maxsize</a:t>
            </a:r>
            <a:r>
              <a:rPr lang="en-US" sz="1100"/>
              <a:t> most recent calls. It can save time when an expensive or I/O bound function is periodically called with the same arguments.</a:t>
            </a:r>
            <a:endParaRPr/>
          </a:p>
        </p:txBody>
      </p:sp>
      <p:sp>
        <p:nvSpPr>
          <p:cNvPr id="187" name="Google Shape;187;g39ce74de10f_0_1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ce74de10f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9ce74de10f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3 rules down on the board</a:t>
            </a:r>
            <a:endParaRPr/>
          </a:p>
        </p:txBody>
      </p:sp>
      <p:sp>
        <p:nvSpPr>
          <p:cNvPr id="195" name="Google Shape;195;g39ce74de10f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ce74de10f_0_1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9ce74de10f_0_1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Work it out on </a:t>
            </a:r>
            <a:r>
              <a:rPr lang="en-US"/>
              <a:t>the IPad</a:t>
            </a:r>
            <a:endParaRPr/>
          </a:p>
        </p:txBody>
      </p:sp>
      <p:sp>
        <p:nvSpPr>
          <p:cNvPr id="203" name="Google Shape;203;g39ce74de10f_0_1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e86a3ee1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9e86a3ee1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3 rules down on the board</a:t>
            </a:r>
            <a:endParaRPr/>
          </a:p>
        </p:txBody>
      </p:sp>
      <p:sp>
        <p:nvSpPr>
          <p:cNvPr id="211" name="Google Shape;211;g39e86a3ee1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e86a3ee18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9e86a3ee18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3 rules down on the board</a:t>
            </a:r>
            <a:endParaRPr/>
          </a:p>
        </p:txBody>
      </p:sp>
      <p:sp>
        <p:nvSpPr>
          <p:cNvPr id="219" name="Google Shape;219;g39e86a3ee18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e86a3ee18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9e86a3ee18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3 rules down on the board</a:t>
            </a:r>
            <a:endParaRPr/>
          </a:p>
        </p:txBody>
      </p:sp>
      <p:sp>
        <p:nvSpPr>
          <p:cNvPr id="228" name="Google Shape;228;g39e86a3ee18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9e86a3ee18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9e86a3ee18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3 rules down on the board</a:t>
            </a:r>
            <a:endParaRPr/>
          </a:p>
        </p:txBody>
      </p:sp>
      <p:sp>
        <p:nvSpPr>
          <p:cNvPr id="237" name="Google Shape;237;g39e86a3ee18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e86a3ee18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9e86a3ee18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3 rules down on the board</a:t>
            </a:r>
            <a:endParaRPr/>
          </a:p>
        </p:txBody>
      </p:sp>
      <p:sp>
        <p:nvSpPr>
          <p:cNvPr id="245" name="Google Shape;245;g39e86a3ee18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9e86a3ee18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9e86a3ee18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3 rules down on the board</a:t>
            </a:r>
            <a:endParaRPr/>
          </a:p>
        </p:txBody>
      </p:sp>
      <p:sp>
        <p:nvSpPr>
          <p:cNvPr id="253" name="Google Shape;253;g39e86a3ee18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9ce74de10f_0_2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9ce74de10f_0_2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3 rules down on the board</a:t>
            </a:r>
            <a:endParaRPr/>
          </a:p>
        </p:txBody>
      </p:sp>
      <p:sp>
        <p:nvSpPr>
          <p:cNvPr id="262" name="Google Shape;262;g39ce74de10f_0_2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e86a3ee18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9e86a3ee18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3 rules down on the board</a:t>
            </a:r>
            <a:endParaRPr/>
          </a:p>
        </p:txBody>
      </p:sp>
      <p:sp>
        <p:nvSpPr>
          <p:cNvPr id="270" name="Google Shape;270;g39e86a3ee18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ce74de10f_0_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9ce74de10f_0_1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3 rules down on the board</a:t>
            </a:r>
            <a:endParaRPr/>
          </a:p>
        </p:txBody>
      </p:sp>
      <p:sp>
        <p:nvSpPr>
          <p:cNvPr id="281" name="Google Shape;281;g39ce74de10f_0_1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9ce74de10f_0_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9ce74de10f_0_1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Write these 3 rules down on the board</a:t>
            </a:r>
            <a:endParaRPr/>
          </a:p>
        </p:txBody>
      </p:sp>
      <p:sp>
        <p:nvSpPr>
          <p:cNvPr id="290" name="Google Shape;290;g39ce74de10f_0_1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9ce74de10f_0_1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9ce74de10f_0_1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a1. Max 1D Range Sum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a2. Max 2D Range Sum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b. Longest Increasing Subsequence (LIS)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c. 0-1 Knapsack (Subset-Sum)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d. Coin-Change (CC) - The General Version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e. Traveling-Salesman-Problem (TSP)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DP level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UVa 10003 - Cutting Sticks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g39ce74de10f_0_1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9ce74de10f_0_1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9ce74de10f_0_1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308" name="Google Shape;308;g39ce74de10f_0_1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9ffe1b9b02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g39ffe1b9b02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1: what is the </a:t>
            </a:r>
            <a:endParaRPr/>
          </a:p>
        </p:txBody>
      </p:sp>
      <p:sp>
        <p:nvSpPr>
          <p:cNvPr id="316" name="Google Shape;316;g39ffe1b9b02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816e0e644b_0_1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3816e0e644b_0_1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g3816e0e644b_0_1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7c4946a550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37c4946a550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g37c4946a550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836faffe8e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3836faffe8e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337" name="Google Shape;337;g3836faffe8e_0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784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784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subTitle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6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784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2695194" y="4352465"/>
            <a:ext cx="6801612" cy="1265082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784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1581912" y="2638044"/>
            <a:ext cx="4271771" cy="3101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2" type="body"/>
          </p:nvPr>
        </p:nvSpPr>
        <p:spPr>
          <a:xfrm>
            <a:off x="6338315" y="2638044"/>
            <a:ext cx="4270247" cy="3101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784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158343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0" sz="1900" cap="none">
                <a:solidFill>
                  <a:srgbClr val="6B889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1"/>
          <p:cNvSpPr txBox="1"/>
          <p:nvPr>
            <p:ph idx="2" type="body"/>
          </p:nvPr>
        </p:nvSpPr>
        <p:spPr>
          <a:xfrm>
            <a:off x="1583436" y="3143250"/>
            <a:ext cx="4270248" cy="259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3" type="body"/>
          </p:nvPr>
        </p:nvSpPr>
        <p:spPr>
          <a:xfrm>
            <a:off x="6338316" y="3143250"/>
            <a:ext cx="4253484" cy="259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302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4" type="body"/>
          </p:nvPr>
        </p:nvSpPr>
        <p:spPr>
          <a:xfrm>
            <a:off x="633831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0" sz="1900" cap="none">
                <a:solidFill>
                  <a:srgbClr val="6B889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11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784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1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2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784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784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 txBox="1"/>
          <p:nvPr>
            <p:ph type="title"/>
          </p:nvPr>
        </p:nvSpPr>
        <p:spPr>
          <a:xfrm>
            <a:off x="804672" y="2243828"/>
            <a:ext cx="4486656" cy="114149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6736080" y="804672"/>
            <a:ext cx="4815840" cy="5248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  <a:defRPr sz="1900"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indent="-3302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74" name="Google Shape;74;p14"/>
          <p:cNvSpPr txBox="1"/>
          <p:nvPr>
            <p:ph idx="2" type="body"/>
          </p:nvPr>
        </p:nvSpPr>
        <p:spPr>
          <a:xfrm>
            <a:off x="1115568" y="3549918"/>
            <a:ext cx="3794760" cy="219403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784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5"/>
          <p:cNvSpPr txBox="1"/>
          <p:nvPr>
            <p:ph type="title"/>
          </p:nvPr>
        </p:nvSpPr>
        <p:spPr>
          <a:xfrm>
            <a:off x="808523" y="2243828"/>
            <a:ext cx="4494998" cy="1134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182875" spcFirstLastPara="1" rIns="182875" wrap="square" tIns="1828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5"/>
          <p:cNvSpPr/>
          <p:nvPr>
            <p:ph idx="2" type="pic"/>
          </p:nvPr>
        </p:nvSpPr>
        <p:spPr>
          <a:xfrm>
            <a:off x="6095999" y="0"/>
            <a:ext cx="6102097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1115568" y="3549918"/>
            <a:ext cx="3794760" cy="2194037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15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1" type="ftr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5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784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 rot="5400000">
            <a:off x="4545009" y="324172"/>
            <a:ext cx="3101983" cy="772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6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784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 rot="5400000">
            <a:off x="6810676" y="2779696"/>
            <a:ext cx="4983480" cy="1298608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 rot="5400000">
            <a:off x="2838641" y="329756"/>
            <a:ext cx="4983480" cy="6198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7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784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b="0" i="0" sz="2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5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784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b="0" i="0" sz="2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6" name="Google Shape;26;p4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784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onlinejudge.org/index.php?option=com_onlinejudge&amp;Itemid=8&amp;page=show_problem&amp;problem=2445" TargetMode="External"/><Relationship Id="rId4" Type="http://schemas.openxmlformats.org/officeDocument/2006/relationships/hyperlink" Target="https://onlinejudge.org/external/114/11450.pdf" TargetMode="External"/><Relationship Id="rId5" Type="http://schemas.openxmlformats.org/officeDocument/2006/relationships/hyperlink" Target="https://github.com/stevenhalim/cpbook-code/tree/master/ch3/dp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stevenhalim/cpbook-code/blob/master/ch3/dp/UVa11450_td.py" TargetMode="External"/><Relationship Id="rId4" Type="http://schemas.openxmlformats.org/officeDocument/2006/relationships/hyperlink" Target="https://docs.python.org/3/library/functools.html#functools.lru_cache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jpg"/><Relationship Id="rId4" Type="http://schemas.openxmlformats.org/officeDocument/2006/relationships/image" Target="../media/image10.jpg"/><Relationship Id="rId5" Type="http://schemas.openxmlformats.org/officeDocument/2006/relationships/image" Target="../media/image1.jpg"/><Relationship Id="rId6" Type="http://schemas.openxmlformats.org/officeDocument/2006/relationships/image" Target="../media/image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onlinejudge.org/index.php?option=com_onlinejudge&amp;Itemid=8&amp;page=show_problem&amp;category=0&amp;problem=615&amp;mosmsg=Submission+received+with+ID+30777735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onlinejudge.org/index.php?option=com_onlinejudge&amp;Itemid=8&amp;page=show_problem&amp;problem=448" TargetMode="External"/><Relationship Id="rId4" Type="http://schemas.openxmlformats.org/officeDocument/2006/relationships/hyperlink" Target="https://onlinejudge.org/index.php?option=onlinejudge&amp;page=show_problem&amp;problem=44" TargetMode="External"/><Relationship Id="rId9" Type="http://schemas.openxmlformats.org/officeDocument/2006/relationships/hyperlink" Target="https://onlinejudge.org/index.php?option=com_onlinejudge&amp;Itemid=8&amp;page=show_problem&amp;problem=944" TargetMode="External"/><Relationship Id="rId5" Type="http://schemas.openxmlformats.org/officeDocument/2006/relationships/hyperlink" Target="https://onlinejudge.org/index.php?option=com_onlinejudge&amp;Itemid=8&amp;page=show_problem&amp;problem=422" TargetMode="External"/><Relationship Id="rId6" Type="http://schemas.openxmlformats.org/officeDocument/2006/relationships/hyperlink" Target="https://onlinejudge.org/index.php?option=onlinejudge&amp;page=show_problem&amp;problem=1071" TargetMode="External"/><Relationship Id="rId7" Type="http://schemas.openxmlformats.org/officeDocument/2006/relationships/hyperlink" Target="https://onlinejudge.org/index.php?option=com_onlinejudge&amp;Itemid=8&amp;page=show_problem&amp;problem=615" TargetMode="External"/><Relationship Id="rId8" Type="http://schemas.openxmlformats.org/officeDocument/2006/relationships/hyperlink" Target="https://open.kattis.com/problems/beepers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type="ctrTitle"/>
          </p:nvPr>
        </p:nvSpPr>
        <p:spPr>
          <a:xfrm>
            <a:off x="1600200" y="1124869"/>
            <a:ext cx="8991600" cy="16458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lang="en-US"/>
              <a:t>WORKSHOP 8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3242390" y="3399885"/>
            <a:ext cx="5707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4.3 Minimum Spanning Tree (MST)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4.3.4 Other Applications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4.3.5 MST in Programming Contests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Suggested Homework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5" name="Google Shape;105;p1"/>
          <p:cNvSpPr txBox="1"/>
          <p:nvPr>
            <p:ph type="ctrTitle"/>
          </p:nvPr>
        </p:nvSpPr>
        <p:spPr>
          <a:xfrm>
            <a:off x="2665725" y="3177275"/>
            <a:ext cx="7185000" cy="16458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 3.5 Dynamic Programming Part 2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45568222e_0_7"/>
          <p:cNvSpPr txBox="1"/>
          <p:nvPr>
            <p:ph type="ctrTitle"/>
          </p:nvPr>
        </p:nvSpPr>
        <p:spPr>
          <a:xfrm>
            <a:off x="1600200" y="1124869"/>
            <a:ext cx="8991600" cy="16458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lang="en-US"/>
              <a:t>3.5 Dynamic Programming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45568222e_0_13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Introduction</a:t>
            </a:r>
            <a:endParaRPr/>
          </a:p>
        </p:txBody>
      </p:sp>
      <p:sp>
        <p:nvSpPr>
          <p:cNvPr id="118" name="Google Shape;118;g3845568222e_0_13"/>
          <p:cNvSpPr txBox="1"/>
          <p:nvPr>
            <p:ph idx="1" type="body"/>
          </p:nvPr>
        </p:nvSpPr>
        <p:spPr>
          <a:xfrm>
            <a:off x="0" y="1096825"/>
            <a:ext cx="12192000" cy="3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Skills to be good at DP: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Familiar with recursions and recurrence relations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Ability to track the problem </a:t>
            </a:r>
            <a:r>
              <a:rPr b="1" lang="en-US" sz="2000"/>
              <a:t>states</a:t>
            </a:r>
            <a:r>
              <a:rPr lang="en-US" sz="2000"/>
              <a:t> and to determine the relationships or </a:t>
            </a:r>
            <a:r>
              <a:rPr b="1" lang="en-US" sz="2000"/>
              <a:t>transitions</a:t>
            </a:r>
            <a:r>
              <a:rPr lang="en-US" sz="2000"/>
              <a:t> between the current problem and its sub-problems</a:t>
            </a:r>
            <a:endParaRPr sz="20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Primarily used in optimization problems and counting problems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If you encounter a problem that says “minimize this” or “maximize that” or “count the ways to do that”, then there is a (high) chance that it is a DP problem</a:t>
            </a:r>
            <a:endParaRPr sz="2000"/>
          </a:p>
        </p:txBody>
      </p:sp>
      <p:sp>
        <p:nvSpPr>
          <p:cNvPr id="119" name="Google Shape;119;g3845568222e_0_13"/>
          <p:cNvSpPr txBox="1"/>
          <p:nvPr/>
        </p:nvSpPr>
        <p:spPr>
          <a:xfrm>
            <a:off x="0" y="5499850"/>
            <a:ext cx="11231400" cy="12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ce74de10f_0_8"/>
          <p:cNvSpPr txBox="1"/>
          <p:nvPr>
            <p:ph type="title"/>
          </p:nvPr>
        </p:nvSpPr>
        <p:spPr>
          <a:xfrm>
            <a:off x="1603800" y="228425"/>
            <a:ext cx="89844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Problem Study Wedding Shopping</a:t>
            </a:r>
            <a:endParaRPr/>
          </a:p>
        </p:txBody>
      </p:sp>
      <p:sp>
        <p:nvSpPr>
          <p:cNvPr id="126" name="Google Shape;126;g39ce74de10f_0_8"/>
          <p:cNvSpPr txBox="1"/>
          <p:nvPr>
            <p:ph idx="1" type="body"/>
          </p:nvPr>
        </p:nvSpPr>
        <p:spPr>
          <a:xfrm>
            <a:off x="0" y="1096825"/>
            <a:ext cx="12192000" cy="52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Variation on the Knapsack problem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Given different options for each garment (e.g., 3 shirt models, 2 belt models, 4 shoe models, . . . )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Given a limited budget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Task: buy one model of each garment and spend the maximum possible amount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Input: 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Let M be the budget where 1 ≤ M ≤ 200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Let C be the number of garment types where 1 ≤ C ≤ 20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Let g be the set of garments i.e. g ∈ [0..C-1]</a:t>
            </a:r>
            <a:endParaRPr sz="2000"/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Each garment in g has possible 1 to 20 (inclusive) models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Output: Integer of maximum amount of money we can spend, else print “no solution”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UVa 11450 - Wedding Shopping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3"/>
              </a:rPr>
              <a:t>https://onlinejudge.org/index.php?option=com_onlinejudge&amp;Itemid=8&amp;page=show_problem&amp;problem=2445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4"/>
              </a:rPr>
              <a:t>https://onlinejudge.org/external/114/11450.pdf</a:t>
            </a:r>
            <a:r>
              <a:rPr lang="en-US" sz="2000"/>
              <a:t> 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5"/>
              </a:rPr>
              <a:t>https://github.com/stevenhalim/cpbook-code/tree/master/ch3/dp</a:t>
            </a:r>
            <a:r>
              <a:rPr lang="en-US" sz="2000"/>
              <a:t> </a:t>
            </a:r>
            <a:endParaRPr sz="2000"/>
          </a:p>
        </p:txBody>
      </p:sp>
      <p:sp>
        <p:nvSpPr>
          <p:cNvPr id="127" name="Google Shape;127;g39ce74de10f_0_8"/>
          <p:cNvSpPr txBox="1"/>
          <p:nvPr/>
        </p:nvSpPr>
        <p:spPr>
          <a:xfrm>
            <a:off x="0" y="6314875"/>
            <a:ext cx="112314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ct val="100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ce74de10f_0_32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Example Test Cases</a:t>
            </a:r>
            <a:endParaRPr/>
          </a:p>
        </p:txBody>
      </p:sp>
      <p:sp>
        <p:nvSpPr>
          <p:cNvPr id="134" name="Google Shape;134;g39ce74de10f_0_32"/>
          <p:cNvSpPr txBox="1"/>
          <p:nvPr>
            <p:ph idx="1" type="body"/>
          </p:nvPr>
        </p:nvSpPr>
        <p:spPr>
          <a:xfrm>
            <a:off x="0" y="1096825"/>
            <a:ext cx="12192000" cy="52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Ex: l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Test case M=20, C=3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Price of the 3 models of garment g = 0 → 6 4 </a:t>
            </a:r>
            <a:r>
              <a:rPr lang="en-US" sz="2000" u="sng"/>
              <a:t>8</a:t>
            </a:r>
            <a:r>
              <a:rPr lang="en-US" sz="2000"/>
              <a:t> // the prices are not sorted in the input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Price of the 2 models of garment g = 1 → 5 </a:t>
            </a:r>
            <a:r>
              <a:rPr lang="en-US" sz="2000" u="sng"/>
              <a:t>10</a:t>
            </a:r>
            <a:endParaRPr sz="2000" u="sng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Price of the 4 models of garment g = 2 → </a:t>
            </a:r>
            <a:r>
              <a:rPr lang="en-US" sz="2000" u="sng"/>
              <a:t>1</a:t>
            </a:r>
            <a:r>
              <a:rPr lang="en-US" sz="2000"/>
              <a:t> 5 3 5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For this test case, the answer is 19, which may result from buying the underlined items (8+10+1). This is not unique, as solutions (6+10+3) and (4+10+5) are also optimal.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Ex: 2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Test case M=9, C=3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Price of the 3 models of garment g = 0 → 6 4 8 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Price of the 2 models of garment g = 1 → 5 10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Price of the 4 models of garment g = 2 → 1 5 3 5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The answer is then “no solution” because even if we buy all the cheapest models for each garment, the total price (4+5+1) = 10 still exceeds our given budget M = 9.</a:t>
            </a:r>
            <a:endParaRPr sz="2000"/>
          </a:p>
        </p:txBody>
      </p:sp>
      <p:sp>
        <p:nvSpPr>
          <p:cNvPr id="135" name="Google Shape;135;g39ce74de10f_0_32"/>
          <p:cNvSpPr txBox="1"/>
          <p:nvPr/>
        </p:nvSpPr>
        <p:spPr>
          <a:xfrm>
            <a:off x="0" y="6300500"/>
            <a:ext cx="112314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ct val="100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ce74de10f_0_18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Greedy</a:t>
            </a:r>
            <a:endParaRPr/>
          </a:p>
        </p:txBody>
      </p:sp>
      <p:sp>
        <p:nvSpPr>
          <p:cNvPr id="142" name="Google Shape;142;g39ce74de10f_0_18"/>
          <p:cNvSpPr txBox="1"/>
          <p:nvPr>
            <p:ph idx="1" type="body"/>
          </p:nvPr>
        </p:nvSpPr>
        <p:spPr>
          <a:xfrm>
            <a:off x="0" y="1096825"/>
            <a:ext cx="12192000" cy="51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One idea to maximize the budget is the take the most expensive model for each garment g which still fits in out budget!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This seems to work with example 1 and 2 but does not work with the following example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Ex: 3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Test case M=12, C=3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Price of the 3 models of garment g = 0 → 6 </a:t>
            </a:r>
            <a:r>
              <a:rPr lang="en-US" sz="2000" u="sng"/>
              <a:t>4</a:t>
            </a:r>
            <a:r>
              <a:rPr lang="en-US" sz="2000"/>
              <a:t> </a:t>
            </a:r>
            <a:r>
              <a:rPr b="1" lang="en-US" sz="2000"/>
              <a:t>8</a:t>
            </a:r>
            <a:endParaRPr b="1"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Price of the 2 models of garment g = 1 → </a:t>
            </a:r>
            <a:r>
              <a:rPr lang="en-US" sz="2000" u="sng"/>
              <a:t>5</a:t>
            </a:r>
            <a:r>
              <a:rPr lang="en-US" sz="2000"/>
              <a:t> 10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Price of the 4 models of garment g = 2 → 1 5 </a:t>
            </a:r>
            <a:r>
              <a:rPr lang="en-US" sz="2000" u="sng"/>
              <a:t>3</a:t>
            </a:r>
            <a:r>
              <a:rPr lang="en-US" sz="2000"/>
              <a:t> 5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Greedy strategy selects model 3 of garment g = 0 with price 8 (b = 12-8 = 4), causing us to not have enough budget to buy any model in garment g = 1, thus incorrectly reporting “no solution”. 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One optimal solution is 4+5+3 = 12, which uses up all of our budget. 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The optimal solution is not unique as 6+5+1 = 12 also depletes the budget.</a:t>
            </a:r>
            <a:endParaRPr sz="2000"/>
          </a:p>
        </p:txBody>
      </p:sp>
      <p:sp>
        <p:nvSpPr>
          <p:cNvPr id="143" name="Google Shape;143;g39ce74de10f_0_18"/>
          <p:cNvSpPr txBox="1"/>
          <p:nvPr/>
        </p:nvSpPr>
        <p:spPr>
          <a:xfrm>
            <a:off x="0" y="6222600"/>
            <a:ext cx="112314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ct val="100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ce74de10f_0_25"/>
          <p:cNvSpPr txBox="1"/>
          <p:nvPr>
            <p:ph type="title"/>
          </p:nvPr>
        </p:nvSpPr>
        <p:spPr>
          <a:xfrm>
            <a:off x="1469848" y="262775"/>
            <a:ext cx="92523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Divide and Conquer</a:t>
            </a:r>
            <a:endParaRPr/>
          </a:p>
        </p:txBody>
      </p:sp>
      <p:sp>
        <p:nvSpPr>
          <p:cNvPr id="150" name="Google Shape;150;g39ce74de10f_0_25"/>
          <p:cNvSpPr txBox="1"/>
          <p:nvPr>
            <p:ph idx="1" type="body"/>
          </p:nvPr>
        </p:nvSpPr>
        <p:spPr>
          <a:xfrm>
            <a:off x="0" y="1096825"/>
            <a:ext cx="12192000" cy="3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We can try.. but we will soon realise that it does not work why is that?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This is because divide and conquer shines when each sub-problem are independent from each other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This problem has sub-problems that are dependent on each other</a:t>
            </a:r>
            <a:endParaRPr sz="2000"/>
          </a:p>
        </p:txBody>
      </p:sp>
      <p:sp>
        <p:nvSpPr>
          <p:cNvPr id="151" name="Google Shape;151;g39ce74de10f_0_25"/>
          <p:cNvSpPr txBox="1"/>
          <p:nvPr/>
        </p:nvSpPr>
        <p:spPr>
          <a:xfrm>
            <a:off x="0" y="5499850"/>
            <a:ext cx="11231400" cy="12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ce74de10f_0_44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Complete Search</a:t>
            </a:r>
            <a:endParaRPr/>
          </a:p>
        </p:txBody>
      </p:sp>
      <p:sp>
        <p:nvSpPr>
          <p:cNvPr id="158" name="Google Shape;158;g39ce74de10f_0_44"/>
          <p:cNvSpPr txBox="1"/>
          <p:nvPr>
            <p:ph idx="1" type="body"/>
          </p:nvPr>
        </p:nvSpPr>
        <p:spPr>
          <a:xfrm>
            <a:off x="0" y="1096825"/>
            <a:ext cx="12192000" cy="51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Recursive backtracking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Write a recursive function dp(g, b) 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 is the current garment g that we are dealing with 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b is the current (remaining) budget b that we have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returns the required answer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Note that the pair (g, b) is the state of this problem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Idea: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Start with g=0 (first garment) and b=M (initial budget) then try all possible models in garment g=0 and recurse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Stop when we tried all the garments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Prune when a solution is infeasible (b &lt; 0)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Pick solution with result that is the smallest non-negative b</a:t>
            </a:r>
            <a:endParaRPr sz="2100"/>
          </a:p>
        </p:txBody>
      </p:sp>
      <p:sp>
        <p:nvSpPr>
          <p:cNvPr id="159" name="Google Shape;159;g39ce74de10f_0_44"/>
          <p:cNvSpPr txBox="1"/>
          <p:nvPr/>
        </p:nvSpPr>
        <p:spPr>
          <a:xfrm>
            <a:off x="0" y="6216850"/>
            <a:ext cx="112314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ct val="100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ce74de10f_0_118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Complete Search</a:t>
            </a:r>
            <a:endParaRPr/>
          </a:p>
        </p:txBody>
      </p:sp>
      <p:sp>
        <p:nvSpPr>
          <p:cNvPr id="166" name="Google Shape;166;g39ce74de10f_0_118"/>
          <p:cNvSpPr txBox="1"/>
          <p:nvPr>
            <p:ph idx="1" type="body"/>
          </p:nvPr>
        </p:nvSpPr>
        <p:spPr>
          <a:xfrm>
            <a:off x="0" y="1096825"/>
            <a:ext cx="12192000" cy="51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Formally define Complete Search recurrences (transitions)</a:t>
            </a:r>
            <a:endParaRPr sz="2000"/>
          </a:p>
          <a:p>
            <a:pPr indent="-3556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if b &lt; 0 (i.e., the remaining budget goes negative), </a:t>
            </a:r>
            <a:endParaRPr sz="2000"/>
          </a:p>
          <a:p>
            <a:pPr indent="-3556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dp(g, b) = - </a:t>
            </a:r>
            <a:r>
              <a:rPr lang="en-US" sz="2300"/>
              <a:t>∞</a:t>
            </a:r>
            <a:r>
              <a:rPr lang="en-US" sz="2000"/>
              <a:t>(in practice, we can just return a large negative value)</a:t>
            </a:r>
            <a:endParaRPr sz="2000"/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If a model from the last garment has been bought, that is, g = C, </a:t>
            </a:r>
            <a:endParaRPr sz="2000"/>
          </a:p>
          <a:p>
            <a:pPr indent="-3556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dp(g, b) = M-b (this is the actual budget that we spent)</a:t>
            </a:r>
            <a:endParaRPr sz="2000"/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 In general case, ∀ model 2 [1..k] of current garment g, </a:t>
            </a:r>
            <a:endParaRPr sz="2000"/>
          </a:p>
          <a:p>
            <a:pPr indent="-3556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dp(g, b) = max(dp(g+1, b-price[g][model]))</a:t>
            </a:r>
            <a:endParaRPr sz="2000"/>
          </a:p>
          <a:p>
            <a:pPr indent="-3556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We want to maximize this value (Recall that the invalid ones have large negative value)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Issue: Very very slow!!!!!!!  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There can be up to 20 garments each with up to 20 models, therefore there are 20</a:t>
            </a:r>
            <a:r>
              <a:rPr baseline="30000" lang="en-US" sz="2100"/>
              <a:t>20</a:t>
            </a:r>
            <a:r>
              <a:rPr lang="en-US" sz="2100"/>
              <a:t> solutions that it could possible check in the worst case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/>
          </a:p>
        </p:txBody>
      </p:sp>
      <p:sp>
        <p:nvSpPr>
          <p:cNvPr id="167" name="Google Shape;167;g39ce74de10f_0_118"/>
          <p:cNvSpPr txBox="1"/>
          <p:nvPr/>
        </p:nvSpPr>
        <p:spPr>
          <a:xfrm>
            <a:off x="0" y="6216850"/>
            <a:ext cx="112314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ct val="100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ce74de10f_0_68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Top-Down</a:t>
            </a:r>
            <a:endParaRPr/>
          </a:p>
        </p:txBody>
      </p:sp>
      <p:sp>
        <p:nvSpPr>
          <p:cNvPr id="174" name="Google Shape;174;g39ce74de10f_0_68"/>
          <p:cNvSpPr txBox="1"/>
          <p:nvPr>
            <p:ph idx="1" type="body"/>
          </p:nvPr>
        </p:nvSpPr>
        <p:spPr>
          <a:xfrm>
            <a:off x="0" y="1096825"/>
            <a:ext cx="12192000" cy="4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Prerequisites: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This problem has optimal sub-structures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It means the best overall solution is built from best solutions to its parts (i.e. best solution at every level)</a:t>
            </a:r>
            <a:endParaRPr sz="2000"/>
          </a:p>
          <a:p>
            <a:pPr indent="-3556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if we select model i for garment g = 0, for our final selection to be optimal, our choice for garments g = 1 and above must also be the optimal choice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Problem has overlapping sub-problems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 startAt="2"/>
            </a:pPr>
            <a:r>
              <a:rPr lang="en-US" sz="2000"/>
              <a:t>Key characteristic of DP, the search space is smaller than it appears because many of the sub-problems are overlapping</a:t>
            </a:r>
            <a:endParaRPr sz="2000"/>
          </a:p>
          <a:p>
            <a:pPr indent="-3556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ex:  Suppose that there are 2 models in a certain garment g with the same price p. Then, a Complete Search will move to the same sub-problem dp(g+1, b-p) after picking either model!</a:t>
            </a:r>
            <a:endParaRPr sz="2000"/>
          </a:p>
        </p:txBody>
      </p:sp>
      <p:sp>
        <p:nvSpPr>
          <p:cNvPr id="175" name="Google Shape;175;g39ce74de10f_0_68"/>
          <p:cNvSpPr txBox="1"/>
          <p:nvPr/>
        </p:nvSpPr>
        <p:spPr>
          <a:xfrm>
            <a:off x="0" y="5499850"/>
            <a:ext cx="11231400" cy="12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ce74de10f_0_93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Top-Down</a:t>
            </a:r>
            <a:endParaRPr/>
          </a:p>
        </p:txBody>
      </p:sp>
      <p:sp>
        <p:nvSpPr>
          <p:cNvPr id="182" name="Google Shape;182;g39ce74de10f_0_93"/>
          <p:cNvSpPr txBox="1"/>
          <p:nvPr>
            <p:ph idx="1" type="body"/>
          </p:nvPr>
        </p:nvSpPr>
        <p:spPr>
          <a:xfrm>
            <a:off x="0" y="1096825"/>
            <a:ext cx="12192000" cy="4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How many distinct problems?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20 possible garments and 201 (0 to 200 inclusive) possible budget values therefore there are only 201x20 = 4020 distinct sub-problems! DP allows you to calculate each just once!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We can adapt our recursive backtracking complete search algorithm into a top-down DP by adding the following:</a:t>
            </a:r>
            <a:endParaRPr sz="2000"/>
          </a:p>
          <a:p>
            <a:pPr indent="-3556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DP memo table so that we can access in O(1) past calculations</a:t>
            </a:r>
            <a:endParaRPr sz="2000"/>
          </a:p>
          <a:p>
            <a:pPr indent="-3556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Fill DP memo table with a dummy value that signifies that the calculation has not been made yet</a:t>
            </a:r>
            <a:endParaRPr sz="2000"/>
          </a:p>
          <a:p>
            <a:pPr indent="-3556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At the start of recursive function, check if this state has been computed before</a:t>
            </a:r>
            <a:endParaRPr sz="2000"/>
          </a:p>
          <a:p>
            <a:pPr indent="-3556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If it has, return value from DP memo table (origin of word memoization)</a:t>
            </a:r>
            <a:endParaRPr sz="2000"/>
          </a:p>
          <a:p>
            <a:pPr indent="-3556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If it has not been computed before, perform computation and store in DP memo table</a:t>
            </a:r>
            <a:endParaRPr sz="2000"/>
          </a:p>
        </p:txBody>
      </p:sp>
      <p:sp>
        <p:nvSpPr>
          <p:cNvPr id="183" name="Google Shape;183;g39ce74de10f_0_93"/>
          <p:cNvSpPr txBox="1"/>
          <p:nvPr/>
        </p:nvSpPr>
        <p:spPr>
          <a:xfrm>
            <a:off x="0" y="5499850"/>
            <a:ext cx="11231400" cy="12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ce74de10f_0_100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Top-Down</a:t>
            </a:r>
            <a:endParaRPr/>
          </a:p>
        </p:txBody>
      </p:sp>
      <p:sp>
        <p:nvSpPr>
          <p:cNvPr id="190" name="Google Shape;190;g39ce74de10f_0_100"/>
          <p:cNvSpPr txBox="1"/>
          <p:nvPr>
            <p:ph idx="1" type="body"/>
          </p:nvPr>
        </p:nvSpPr>
        <p:spPr>
          <a:xfrm>
            <a:off x="0" y="1096825"/>
            <a:ext cx="12192000" cy="4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Runtime analysis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If it has M distinct states, then it requires O(M) memory space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If computing one state (complexity of DP transition) requires O(k) step, then overall time complexity is O(Mk) as DP guarantees that each state is just computed once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This UVa 11450 problem has M = 20 x 201 = 4020 and k = 20 (as we have to iterate through at most 20 models for each garment g). 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Thus, the time complexity is at most 4020 x 20 = 80 400 operations per test case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We will look at the code now: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3"/>
              </a:rPr>
              <a:t>https://github.com/stevenhalim/cpbook-code/blob/master/ch3/dp/UVa11450_td.py</a:t>
            </a:r>
            <a:r>
              <a:rPr lang="en-US" sz="2000"/>
              <a:t> 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4"/>
              </a:rPr>
              <a:t>https://docs.python.org/3/library/functools.html#functools.lru_cache</a:t>
            </a:r>
            <a:endParaRPr sz="2000"/>
          </a:p>
        </p:txBody>
      </p:sp>
      <p:sp>
        <p:nvSpPr>
          <p:cNvPr id="191" name="Google Shape;191;g39ce74de10f_0_100"/>
          <p:cNvSpPr txBox="1"/>
          <p:nvPr/>
        </p:nvSpPr>
        <p:spPr>
          <a:xfrm>
            <a:off x="0" y="5499850"/>
            <a:ext cx="11231400" cy="12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ce74de10f_0_51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Bottom-Up</a:t>
            </a:r>
            <a:endParaRPr/>
          </a:p>
        </p:txBody>
      </p:sp>
      <p:sp>
        <p:nvSpPr>
          <p:cNvPr id="198" name="Google Shape;198;g39ce74de10f_0_51"/>
          <p:cNvSpPr txBox="1"/>
          <p:nvPr>
            <p:ph idx="1" type="body"/>
          </p:nvPr>
        </p:nvSpPr>
        <p:spPr>
          <a:xfrm>
            <a:off x="0" y="1096825"/>
            <a:ext cx="12192000" cy="50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Determine the required set of parameters that uniquely describe the problem (the state)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Similar to recursive backtracking and top-down DP as shown earlier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If there are N parameters required to represent the states, create an N dimensional array (DP table), with one entry per state. 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Similar to the memo table in top-down DP; however, in bottom-up DP, we only need to initialize some cells of the DP table with known initial values (the base cases) rather than dummy values as in top-down DP.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With the base-case cells/states in the DP table already filled, determine the cells/states that can be filled next (the transitions)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Repeat this process until the DP table is complete 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Usually accomplished through iterations, using loops</a:t>
            </a:r>
            <a:endParaRPr sz="2000"/>
          </a:p>
        </p:txBody>
      </p:sp>
      <p:sp>
        <p:nvSpPr>
          <p:cNvPr id="199" name="Google Shape;199;g39ce74de10f_0_51"/>
          <p:cNvSpPr txBox="1"/>
          <p:nvPr/>
        </p:nvSpPr>
        <p:spPr>
          <a:xfrm>
            <a:off x="0" y="6148150"/>
            <a:ext cx="11231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ce74de10f_0_148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Bottom-Up</a:t>
            </a:r>
            <a:endParaRPr/>
          </a:p>
        </p:txBody>
      </p:sp>
      <p:sp>
        <p:nvSpPr>
          <p:cNvPr id="206" name="Google Shape;206;g39ce74de10f_0_148"/>
          <p:cNvSpPr txBox="1"/>
          <p:nvPr>
            <p:ph idx="1" type="body"/>
          </p:nvPr>
        </p:nvSpPr>
        <p:spPr>
          <a:xfrm>
            <a:off x="0" y="1096825"/>
            <a:ext cx="12192000" cy="50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We will use example A 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Determine the required set of parameters that uniquely describe the problem (the state)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Two parameters: the current garment g and the current budget left b (same as top-down)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Let g be the row indices 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Init 2D table (Boolean matrix) reachable[g][b] of size 20 x 201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Fill in the table row by row using previous rows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Row 0: 12 (from 20-8), 14 (from 20-6), and 16 (from 20-4)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Let p be the price of a model of current garment g. Loop through rest of the rows where if reachable[g-1][b] is true, then the next state reachable[g][b-p] is also reachable as long as b-p is not negative.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Answer is the the reachable state that is closest to 0 (as we want to have the least amount of money left)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US" sz="2000"/>
              <a:t>If there are no reachable states in the last row then there are no solutions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Let’s work it out! </a:t>
            </a:r>
            <a:endParaRPr sz="2000"/>
          </a:p>
        </p:txBody>
      </p:sp>
      <p:sp>
        <p:nvSpPr>
          <p:cNvPr id="207" name="Google Shape;207;g39ce74de10f_0_148"/>
          <p:cNvSpPr txBox="1"/>
          <p:nvPr/>
        </p:nvSpPr>
        <p:spPr>
          <a:xfrm>
            <a:off x="0" y="6148150"/>
            <a:ext cx="11231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e86a3ee18_0_0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Bottom-Up Ex: 1, Step 1</a:t>
            </a:r>
            <a:endParaRPr/>
          </a:p>
        </p:txBody>
      </p:sp>
      <p:sp>
        <p:nvSpPr>
          <p:cNvPr id="214" name="Google Shape;214;g39e86a3ee18_0_0"/>
          <p:cNvSpPr txBox="1"/>
          <p:nvPr>
            <p:ph idx="1" type="body"/>
          </p:nvPr>
        </p:nvSpPr>
        <p:spPr>
          <a:xfrm>
            <a:off x="0" y="1096825"/>
            <a:ext cx="12192000" cy="50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Determine the required set of parameters that uniquely describe the problem (the state)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Two parameters: the current garment g and the current budget left b (same as top-down)</a:t>
            </a:r>
            <a:endParaRPr sz="2000"/>
          </a:p>
        </p:txBody>
      </p:sp>
      <p:sp>
        <p:nvSpPr>
          <p:cNvPr id="215" name="Google Shape;215;g39e86a3ee18_0_0"/>
          <p:cNvSpPr txBox="1"/>
          <p:nvPr/>
        </p:nvSpPr>
        <p:spPr>
          <a:xfrm>
            <a:off x="0" y="6148150"/>
            <a:ext cx="11231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e86a3ee18_0_14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Bottom-Up Ex: 1, Step 2</a:t>
            </a:r>
            <a:endParaRPr/>
          </a:p>
        </p:txBody>
      </p:sp>
      <p:sp>
        <p:nvSpPr>
          <p:cNvPr id="222" name="Google Shape;222;g39e86a3ee18_0_14"/>
          <p:cNvSpPr txBox="1"/>
          <p:nvPr>
            <p:ph idx="1" type="body"/>
          </p:nvPr>
        </p:nvSpPr>
        <p:spPr>
          <a:xfrm>
            <a:off x="0" y="1096825"/>
            <a:ext cx="12192000" cy="50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Let g be the row indices 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Init 2D table (Boolean matrix) reachable[g][b] of size 20 x 201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t/>
            </a:r>
            <a:endParaRPr sz="2000"/>
          </a:p>
        </p:txBody>
      </p:sp>
      <p:sp>
        <p:nvSpPr>
          <p:cNvPr id="223" name="Google Shape;223;g39e86a3ee18_0_14"/>
          <p:cNvSpPr txBox="1"/>
          <p:nvPr/>
        </p:nvSpPr>
        <p:spPr>
          <a:xfrm>
            <a:off x="0" y="6148150"/>
            <a:ext cx="11231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24" name="Google Shape;224;g39e86a3ee18_0_14" title="IMG_DF7592FB2942-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175" y="2490175"/>
            <a:ext cx="11628851" cy="2833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9e86a3ee18_0_22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Bottom-Up Ex: 1, Step 3</a:t>
            </a:r>
            <a:endParaRPr/>
          </a:p>
        </p:txBody>
      </p:sp>
      <p:sp>
        <p:nvSpPr>
          <p:cNvPr id="231" name="Google Shape;231;g39e86a3ee18_0_22"/>
          <p:cNvSpPr txBox="1"/>
          <p:nvPr>
            <p:ph idx="1" type="body"/>
          </p:nvPr>
        </p:nvSpPr>
        <p:spPr>
          <a:xfrm>
            <a:off x="0" y="1096825"/>
            <a:ext cx="12192000" cy="50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Fill in the table row by row using previous rows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Row 0: 12 (from 20-8), 14 (from 20-6), and 16 (from 20-4)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Let p be the price of a model of current garment g. Loop through rest of the rows where if reachable[g-1][b] is true, then the next state reachable[g][b-p] is also reachable as long as b-p is not negative.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t/>
            </a:r>
            <a:endParaRPr sz="2000"/>
          </a:p>
        </p:txBody>
      </p:sp>
      <p:sp>
        <p:nvSpPr>
          <p:cNvPr id="232" name="Google Shape;232;g39e86a3ee18_0_22"/>
          <p:cNvSpPr txBox="1"/>
          <p:nvPr/>
        </p:nvSpPr>
        <p:spPr>
          <a:xfrm>
            <a:off x="0" y="6148150"/>
            <a:ext cx="11231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33" name="Google Shape;233;g39e86a3ee18_0_22" title="IMG_91FEB433994F-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275" y="2967350"/>
            <a:ext cx="11117076" cy="2790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9e86a3ee18_0_32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Bottom-Up Ex: 1, Step 3</a:t>
            </a:r>
            <a:endParaRPr/>
          </a:p>
        </p:txBody>
      </p:sp>
      <p:sp>
        <p:nvSpPr>
          <p:cNvPr id="240" name="Google Shape;240;g39e86a3ee18_0_32"/>
          <p:cNvSpPr txBox="1"/>
          <p:nvPr/>
        </p:nvSpPr>
        <p:spPr>
          <a:xfrm>
            <a:off x="0" y="6148150"/>
            <a:ext cx="11231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41" name="Google Shape;241;g39e86a3ee18_0_32" title="IMG_9C67FEBE8E73-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25" y="1807646"/>
            <a:ext cx="11887201" cy="2960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9e86a3ee18_0_41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Bottom-Up Ex: 1, Step 3</a:t>
            </a:r>
            <a:endParaRPr/>
          </a:p>
        </p:txBody>
      </p:sp>
      <p:sp>
        <p:nvSpPr>
          <p:cNvPr id="248" name="Google Shape;248;g39e86a3ee18_0_41"/>
          <p:cNvSpPr txBox="1"/>
          <p:nvPr/>
        </p:nvSpPr>
        <p:spPr>
          <a:xfrm>
            <a:off x="0" y="6148150"/>
            <a:ext cx="11231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49" name="Google Shape;249;g39e86a3ee18_0_41" title="IMG_76062F2CBDE0-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25046"/>
            <a:ext cx="11887201" cy="293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e86a3ee18_0_57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Bottom-Up Ex: 1, Step 4</a:t>
            </a:r>
            <a:endParaRPr/>
          </a:p>
        </p:txBody>
      </p:sp>
      <p:sp>
        <p:nvSpPr>
          <p:cNvPr id="256" name="Google Shape;256;g39e86a3ee18_0_57"/>
          <p:cNvSpPr txBox="1"/>
          <p:nvPr>
            <p:ph idx="1" type="body"/>
          </p:nvPr>
        </p:nvSpPr>
        <p:spPr>
          <a:xfrm>
            <a:off x="0" y="1096825"/>
            <a:ext cx="12192000" cy="50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Answer is the the reachable state that is closest to 0 (as we want to have the least amount of money left)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If there are no reachable states in the last row then there are no solutions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Here, the answer is 19! (20-1)</a:t>
            </a:r>
            <a:endParaRPr sz="2000"/>
          </a:p>
        </p:txBody>
      </p:sp>
      <p:sp>
        <p:nvSpPr>
          <p:cNvPr id="257" name="Google Shape;257;g39e86a3ee18_0_57"/>
          <p:cNvSpPr txBox="1"/>
          <p:nvPr/>
        </p:nvSpPr>
        <p:spPr>
          <a:xfrm>
            <a:off x="0" y="6148150"/>
            <a:ext cx="11231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58" name="Google Shape;258;g39e86a3ee18_0_57" title="IMG_76062F2CBDE0-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98334"/>
            <a:ext cx="11887201" cy="293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9ce74de10f_0_210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Bottom-Up</a:t>
            </a:r>
            <a:endParaRPr/>
          </a:p>
        </p:txBody>
      </p:sp>
      <p:sp>
        <p:nvSpPr>
          <p:cNvPr id="265" name="Google Shape;265;g39ce74de10f_0_210"/>
          <p:cNvSpPr txBox="1"/>
          <p:nvPr>
            <p:ph idx="1" type="body"/>
          </p:nvPr>
        </p:nvSpPr>
        <p:spPr>
          <a:xfrm>
            <a:off x="0" y="1096825"/>
            <a:ext cx="12192000" cy="50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For problems where we only need the last row of the DP table (the optimal answer and not the whole solution) you can optimize memory usage!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Note that we only need to store two rows, the current row we are processing and the previous row we have processed.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To compute row 1, we only need to know the columns in row 0 that are set to true in reachable. 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To compute row 2, we only need to know the columns in row 1 that are set to true in reachable.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Instead of having a whole table, we can just init 2 rows, have one be a curr, the other be a prev and then swap the two rows as we compute!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For this problem it doesn’t save that much space, but for more complicated problems and larger datasets, it can be useful!</a:t>
            </a:r>
            <a:endParaRPr sz="2000"/>
          </a:p>
        </p:txBody>
      </p:sp>
      <p:sp>
        <p:nvSpPr>
          <p:cNvPr id="266" name="Google Shape;266;g39ce74de10f_0_210"/>
          <p:cNvSpPr txBox="1"/>
          <p:nvPr/>
        </p:nvSpPr>
        <p:spPr>
          <a:xfrm>
            <a:off x="0" y="6148150"/>
            <a:ext cx="11231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9e86a3ee18_0_7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Bottom-Up</a:t>
            </a:r>
            <a:endParaRPr/>
          </a:p>
        </p:txBody>
      </p:sp>
      <p:sp>
        <p:nvSpPr>
          <p:cNvPr id="273" name="Google Shape;273;g39e86a3ee18_0_7"/>
          <p:cNvSpPr txBox="1"/>
          <p:nvPr/>
        </p:nvSpPr>
        <p:spPr>
          <a:xfrm>
            <a:off x="0" y="6148150"/>
            <a:ext cx="11231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74" name="Google Shape;274;g39e86a3ee18_0_7" title="IMG_283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1675" y="4850617"/>
            <a:ext cx="9628631" cy="122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g39e86a3ee18_0_7" title="IMG_2837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1675" y="3570638"/>
            <a:ext cx="9628631" cy="1206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g39e86a3ee18_0_7" title="IMG_2836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1686" y="2313951"/>
            <a:ext cx="9628631" cy="1184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g39e86a3ee18_0_7" title="IMG_CC7CA83BADB5-1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81675" y="1033997"/>
            <a:ext cx="9628631" cy="1210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9ce74de10f_0_155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Top-Down vs Bottom-UP DP</a:t>
            </a:r>
            <a:endParaRPr/>
          </a:p>
        </p:txBody>
      </p:sp>
      <p:sp>
        <p:nvSpPr>
          <p:cNvPr id="284" name="Google Shape;284;g39ce74de10f_0_155"/>
          <p:cNvSpPr txBox="1"/>
          <p:nvPr>
            <p:ph idx="1" type="body"/>
          </p:nvPr>
        </p:nvSpPr>
        <p:spPr>
          <a:xfrm>
            <a:off x="0" y="1096825"/>
            <a:ext cx="12192000" cy="50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 the top-down DP, the memo table entries are filled ‘as needed’ through the recursion itself.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 the bottom-up DP, we use a correct ‘DP table filling order’ to compute the values such that the previous values needed to process the current cell have already been obtained.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For most DP problems, these two styles are equally good and the decision to use a particular DP style is a matter of preference. However, for harder DP problems, one of the styles can be better than the other.</a:t>
            </a:r>
            <a:endParaRPr sz="2000"/>
          </a:p>
        </p:txBody>
      </p:sp>
      <p:sp>
        <p:nvSpPr>
          <p:cNvPr id="285" name="Google Shape;285;g39ce74de10f_0_155"/>
          <p:cNvSpPr txBox="1"/>
          <p:nvPr/>
        </p:nvSpPr>
        <p:spPr>
          <a:xfrm>
            <a:off x="0" y="6148150"/>
            <a:ext cx="11231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86" name="Google Shape;286;g39ce74de10f_0_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1125" y="2793700"/>
            <a:ext cx="6949574" cy="341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9ce74de10f_0_166"/>
          <p:cNvSpPr txBox="1"/>
          <p:nvPr>
            <p:ph type="title"/>
          </p:nvPr>
        </p:nvSpPr>
        <p:spPr>
          <a:xfrm>
            <a:off x="1538550" y="148275"/>
            <a:ext cx="91149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Displaying the Optimal Solution</a:t>
            </a:r>
            <a:endParaRPr/>
          </a:p>
        </p:txBody>
      </p:sp>
      <p:sp>
        <p:nvSpPr>
          <p:cNvPr id="293" name="Google Shape;293;g39ce74de10f_0_166"/>
          <p:cNvSpPr txBox="1"/>
          <p:nvPr>
            <p:ph idx="1" type="body"/>
          </p:nvPr>
        </p:nvSpPr>
        <p:spPr>
          <a:xfrm>
            <a:off x="0" y="1096825"/>
            <a:ext cx="12192000" cy="50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What if you have to print the optimal solution? All optimal solutions???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Approach 1, TD and BU DP: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Store the predecessor information at each state, if more than 1 optimal, save them in a list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Once final state is found, follow optimal transition at each </a:t>
            </a:r>
            <a:r>
              <a:rPr lang="en-US" sz="2000"/>
              <a:t>state</a:t>
            </a:r>
            <a:r>
              <a:rPr lang="en-US" sz="2000"/>
              <a:t> and print them all </a:t>
            </a:r>
            <a:endParaRPr sz="2000"/>
          </a:p>
          <a:p>
            <a:pPr indent="-355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If problem asks for all solutions, use backtracking (unusual for problems)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Approach 2, TD DP: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use recursion + memoization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Add another recursive function </a:t>
            </a:r>
            <a:r>
              <a:rPr lang="en-US" sz="2000" u="sng"/>
              <a:t>void print dp(int g, int b)</a:t>
            </a:r>
            <a:r>
              <a:rPr lang="en-US" sz="2000"/>
              <a:t> that uses values stored in memo table to reconstruct the solution</a:t>
            </a:r>
            <a:endParaRPr sz="2000"/>
          </a:p>
        </p:txBody>
      </p:sp>
      <p:sp>
        <p:nvSpPr>
          <p:cNvPr id="294" name="Google Shape;294;g39ce74de10f_0_166"/>
          <p:cNvSpPr txBox="1"/>
          <p:nvPr/>
        </p:nvSpPr>
        <p:spPr>
          <a:xfrm>
            <a:off x="0" y="6148150"/>
            <a:ext cx="11231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3.5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95" name="Google Shape;295;g39ce74de10f_0_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3199" y="3761177"/>
            <a:ext cx="7098198" cy="2178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9ce74de10f_0_190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Classic Examples</a:t>
            </a:r>
            <a:endParaRPr/>
          </a:p>
        </p:txBody>
      </p:sp>
      <p:sp>
        <p:nvSpPr>
          <p:cNvPr id="302" name="Google Shape;302;g39ce74de10f_0_190"/>
          <p:cNvSpPr txBox="1"/>
          <p:nvPr>
            <p:ph idx="1" type="body"/>
          </p:nvPr>
        </p:nvSpPr>
        <p:spPr>
          <a:xfrm>
            <a:off x="494675" y="1096825"/>
            <a:ext cx="11231400" cy="47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There are 6 “classical” examples of DP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 the textbook section 3.5.2 Classical Examples goes through each one in depth providing multiple algorithms in increasing effectiveness (in terms of runtime)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Highly suggest you read over this section!!!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The one problem of each of the 6 types are suggested as homework</a:t>
            </a:r>
            <a:endParaRPr sz="2000"/>
          </a:p>
        </p:txBody>
      </p:sp>
      <p:sp>
        <p:nvSpPr>
          <p:cNvPr id="303" name="Google Shape;303;g39ce74de10f_0_190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04" name="Google Shape;304;g39ce74de10f_0_1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638" y="3388926"/>
            <a:ext cx="10494727" cy="23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9ce74de10f_0_198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3.5 Dynamic Programming – Non-Classical Examples</a:t>
            </a:r>
            <a:endParaRPr/>
          </a:p>
        </p:txBody>
      </p:sp>
      <p:sp>
        <p:nvSpPr>
          <p:cNvPr id="311" name="Google Shape;311;g39ce74de10f_0_198"/>
          <p:cNvSpPr txBox="1"/>
          <p:nvPr>
            <p:ph idx="1" type="body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DP problems in competitions are very common, but it is uncommon that pure classical DP problems will appear in competitions.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 section 3.5.3 Non-Classical Examples, the textbook goes in depth into 2 different DP problems and I highly recommend to read and take a look</a:t>
            </a:r>
            <a:endParaRPr sz="2000"/>
          </a:p>
        </p:txBody>
      </p:sp>
      <p:sp>
        <p:nvSpPr>
          <p:cNvPr id="312" name="Google Shape;312;g39ce74de10f_0_198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9ffe1b9b02_0_8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Coin-Change (CC) - The General Version</a:t>
            </a:r>
            <a:endParaRPr/>
          </a:p>
        </p:txBody>
      </p:sp>
      <p:sp>
        <p:nvSpPr>
          <p:cNvPr id="319" name="Google Shape;319;g39ffe1b9b02_0_8"/>
          <p:cNvSpPr txBox="1"/>
          <p:nvPr>
            <p:ph idx="1" type="body"/>
          </p:nvPr>
        </p:nvSpPr>
        <p:spPr>
          <a:xfrm>
            <a:off x="494675" y="1096825"/>
            <a:ext cx="11231400" cy="49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Let’s work it out!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3"/>
              </a:rPr>
              <a:t>https://onlinejudge.org/index.php?option=com_onlinejudge&amp;Itemid=8&amp;page=show_problem&amp;category=0&amp;problem=615&amp;mosmsg=Submission+received+with+ID+30777735</a:t>
            </a:r>
            <a:r>
              <a:rPr lang="en-US" sz="2000"/>
              <a:t> 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Will update these slides with worked solution that we did in the workshop</a:t>
            </a:r>
            <a:endParaRPr sz="2000"/>
          </a:p>
        </p:txBody>
      </p:sp>
      <p:sp>
        <p:nvSpPr>
          <p:cNvPr id="320" name="Google Shape;320;g39ffe1b9b02_0_8"/>
          <p:cNvSpPr txBox="1"/>
          <p:nvPr/>
        </p:nvSpPr>
        <p:spPr>
          <a:xfrm>
            <a:off x="480300" y="6090900"/>
            <a:ext cx="11231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816e0e644b_0_173"/>
          <p:cNvSpPr txBox="1"/>
          <p:nvPr>
            <p:ph type="ctrTitle"/>
          </p:nvPr>
        </p:nvSpPr>
        <p:spPr>
          <a:xfrm>
            <a:off x="1600200" y="1124869"/>
            <a:ext cx="8991600" cy="16458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lang="en-US"/>
              <a:t>Suggested Homework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7c4946a550_0_55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Suggested Homework</a:t>
            </a:r>
            <a:endParaRPr/>
          </a:p>
        </p:txBody>
      </p:sp>
      <p:sp>
        <p:nvSpPr>
          <p:cNvPr id="333" name="Google Shape;333;g37c4946a550_0_55"/>
          <p:cNvSpPr txBox="1"/>
          <p:nvPr>
            <p:ph idx="1" type="body"/>
          </p:nvPr>
        </p:nvSpPr>
        <p:spPr>
          <a:xfrm>
            <a:off x="282125" y="890525"/>
            <a:ext cx="11766300" cy="59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a1. Max 1D Range Sum</a:t>
            </a:r>
            <a:endParaRPr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UVa 00507 - Jill Rides Again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https://onlinejudge.org/index.php?option=com_onlinejudge&amp;Itemid=8&amp;page=show_problem&amp;problem=448</a:t>
            </a:r>
            <a:r>
              <a:rPr lang="en-US"/>
              <a:t>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a2. Max 2D Range Sum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UVa 00108 - Maximum Sum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https://onlinejudge.org/index.php?option=onlinejudge&amp;page=show_problem&amp;problem=44</a:t>
            </a:r>
            <a:r>
              <a:rPr lang="en-US"/>
              <a:t>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b. Longest Increasing Subsequence (LIS)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UVa 00481 - What Goes Up?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https://onlinejudge.org/index.php?option=com_onlinejudge&amp;Itemid=8&amp;page=show_problem&amp;problem=422</a:t>
            </a:r>
            <a:r>
              <a:rPr lang="en-US"/>
              <a:t>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c. 0-1 Knapsack (Subset-Sum)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UVa 10130 - SuperSale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6"/>
              </a:rPr>
              <a:t>https://onlinejudge.org/index.php?option=onlinejudge&amp;page=show_problem&amp;problem=1071</a:t>
            </a:r>
            <a:r>
              <a:rPr lang="en-US"/>
              <a:t>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d. Coin-Change (CC) - The General Version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UVa 00674 - Coin Change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7"/>
              </a:rPr>
              <a:t>https://onlinejudge.org/index.php?option=com_onlinejudge&amp;Itemid=8&amp;page=show_problem&amp;problem=615</a:t>
            </a:r>
            <a:r>
              <a:rPr lang="en-US"/>
              <a:t>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e. Traveling-Salesman-Problem (TSP)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Kattis - beepers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8"/>
              </a:rPr>
              <a:t>https://open.kattis.com/problems/beepers</a:t>
            </a:r>
            <a:r>
              <a:rPr lang="en-US"/>
              <a:t>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DP level 1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UVa 10003 - Cutting Sticks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9"/>
              </a:rPr>
              <a:t>https://onlinejudge.org/index.php?option=com_onlinejudge&amp;Itemid=8&amp;page=show_problem&amp;problem=944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836faffe8e_0_58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Template</a:t>
            </a:r>
            <a:endParaRPr/>
          </a:p>
        </p:txBody>
      </p:sp>
      <p:sp>
        <p:nvSpPr>
          <p:cNvPr id="340" name="Google Shape;340;g3836faffe8e_0_58"/>
          <p:cNvSpPr txBox="1"/>
          <p:nvPr>
            <p:ph idx="1" type="body"/>
          </p:nvPr>
        </p:nvSpPr>
        <p:spPr>
          <a:xfrm>
            <a:off x="494675" y="1096825"/>
            <a:ext cx="11231400" cy="49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Template</a:t>
            </a:r>
            <a:endParaRPr sz="2000"/>
          </a:p>
        </p:txBody>
      </p:sp>
      <p:sp>
        <p:nvSpPr>
          <p:cNvPr id="341" name="Google Shape;341;g3836faffe8e_0_58"/>
          <p:cNvSpPr txBox="1"/>
          <p:nvPr/>
        </p:nvSpPr>
        <p:spPr>
          <a:xfrm>
            <a:off x="480300" y="6090900"/>
            <a:ext cx="11231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b="0" i="0" lang="en-US" sz="2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</a:t>
            </a:r>
            <a:endParaRPr b="0" i="0" sz="2000" u="none" cap="none" strike="noStrik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2025-09-06T15:13:09Z</dcterms:created>
  <dc:creator>Ryan Pelchat</dc:creator>
</cp:coreProperties>
</file>